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Platypi Light" panose="020B0604020202020204" charset="0"/>
      <p:regular r:id="rId18"/>
    </p:embeddedFont>
    <p:embeddedFont>
      <p:font typeface="Platypi Medium" panose="020B0604020202020204" charset="0"/>
      <p:regular r:id="rId19"/>
    </p:embeddedFont>
    <p:embeddedFont>
      <p:font typeface="Source Serif 4" panose="020B0604020202020204" charset="0"/>
      <p:regular r:id="rId20"/>
    </p:embeddedFont>
    <p:embeddedFont>
      <p:font typeface="Source Serif 4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" userId="0dfdf577-abd2-4267-93fe-1b178774e272" providerId="ADAL" clId="{26E41FBD-A856-477A-B280-770F18103933}"/>
    <pc:docChg chg="modSld">
      <pc:chgData name="Srinivas" userId="0dfdf577-abd2-4267-93fe-1b178774e272" providerId="ADAL" clId="{26E41FBD-A856-477A-B280-770F18103933}" dt="2026-07-21T06:56:30.238" v="0" actId="1076"/>
      <pc:docMkLst>
        <pc:docMk/>
      </pc:docMkLst>
      <pc:sldChg chg="modSp mod">
        <pc:chgData name="Srinivas" userId="0dfdf577-abd2-4267-93fe-1b178774e272" providerId="ADAL" clId="{26E41FBD-A856-477A-B280-770F18103933}" dt="2026-07-21T06:56:30.238" v="0" actId="1076"/>
        <pc:sldMkLst>
          <pc:docMk/>
          <pc:sldMk cId="0" sldId="260"/>
        </pc:sldMkLst>
        <pc:spChg chg="mod">
          <ac:chgData name="Srinivas" userId="0dfdf577-abd2-4267-93fe-1b178774e272" providerId="ADAL" clId="{26E41FBD-A856-477A-B280-770F18103933}" dt="2026-07-21T06:56:30.238" v="0" actId="1076"/>
          <ac:spMkLst>
            <pc:docMk/>
            <pc:sldMk cId="0" sldId="260"/>
            <ac:spMk id="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222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13346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 Pricing &amp; Discount Authorization &amp; Approval Framework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762027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standardized, system-enforced policy for how discounts are requested, approved, applied, and governed — across Salesforce sales operations and the Deal Desk (new proposal if feasible) operating model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25119" y="1082128"/>
            <a:ext cx="155361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 MED-EQUIP (USME)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147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Three Core Ideas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867049"/>
            <a:ext cx="2634555" cy="1508522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0092" y="1991023"/>
            <a:ext cx="17137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Approval by Exception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259285"/>
            <a:ext cx="238660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large majority of deals/sales fall within pre-set guardrails and cleared automatically by system. Only genuine exceptions escalate, keeping selling fast.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1867049"/>
            <a:ext cx="2634630" cy="1508522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78622" y="1991023"/>
            <a:ext cx="229381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Multi-Factor Authority 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8622" y="2259285"/>
            <a:ext cx="238668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Required approval level is driven by discount depth, deal size, resulting margin, term, and non-standard concessions — the most restrictive factor sets the tier.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1867049"/>
            <a:ext cx="2634555" cy="1508522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37225" y="1991023"/>
            <a:ext cx="22886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Policy Enforced by the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7225" y="2259285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matrix is configured into Salesforce so rules apply automatically and cannot be quietly bypassed.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51509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framework delivers one method everyone follows with fast local approval for standard deals, automatic escalation only when criteria are breached, and a full audit trail: who approved what, why, at what margin, and until when.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527"/>
            <a:ext cx="509639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 &amp; Design Principles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168309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79550"/>
            <a:ext cx="2634555" cy="14288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6119" y="1970112"/>
            <a:ext cx="20320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Protect List-Price Integrity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238375"/>
            <a:ext cx="26345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List prices are the anchor; discounting is the managed exception, never the default.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54648" y="168309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1879550"/>
            <a:ext cx="2634630" cy="14288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54648" y="1970112"/>
            <a:ext cx="1660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Approve by Exception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54648" y="2238375"/>
            <a:ext cx="2634630" cy="605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System-configured guardrails (price book) let standard deals clear automatically; only exceptions escalate.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13252" y="168309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1879550"/>
            <a:ext cx="2634555" cy="14288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13252" y="1970112"/>
            <a:ext cx="22457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Most-Restrictive-Factor Wins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13252" y="2238375"/>
            <a:ext cx="26345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Approval level is set by whichever risk dimension is highest — not by discount percent alone.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119" y="305075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247206"/>
            <a:ext cx="4013820" cy="14288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6119" y="3337768"/>
            <a:ext cx="29894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Never Below the Floor Without Finance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3606031"/>
            <a:ext cx="40138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 deal below its margin floor routes to Finance regardless of discount size.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33913" y="305075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33913" y="3247206"/>
            <a:ext cx="4013895" cy="14288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33913" y="3337768"/>
            <a:ext cx="36923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Every Discount Has a Reason, Approver &amp; Expiry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33913" y="3606031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standing, unexplained, or perpetual discounts. Thresholds reviewed quarterly against realized margin and cycle time.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538"/>
            <a:ext cx="6515770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Scope: What Counts as "Custom Pricing"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23417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every non-list price is an exception requiring per-deal approval. The framework separates three pricing lanes so approval effort is spent only where needed.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46324"/>
            <a:ext cx="8151763" cy="2383408"/>
          </a:xfrm>
          <a:prstGeom prst="roundRect">
            <a:avLst>
              <a:gd name="adj" fmla="val 76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1774" y="1551087"/>
            <a:ext cx="2713509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23813" y="1627956"/>
            <a:ext cx="292663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Pricing Lane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15283" y="1551087"/>
            <a:ext cx="2713509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337322" y="1627956"/>
            <a:ext cx="292663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What It Is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928792" y="1551087"/>
            <a:ext cx="2713509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50831" y="1627956"/>
            <a:ext cx="292663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Approval Treatment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23813" y="1980307"/>
            <a:ext cx="292663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Standard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37322" y="1980307"/>
            <a:ext cx="246943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List price and published rental-term rate cards (daily, monthly, 6-month, 12-month).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50831" y="1980307"/>
            <a:ext cx="246943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per-deal approval — already governed pricing.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3813" y="2526506"/>
            <a:ext cx="292663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Contracted / GPO-IDN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322" y="2526506"/>
            <a:ext cx="246943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Rates pre-negotiated in a GPO or health-system contract, held on an account/contract price book.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50831" y="2526506"/>
            <a:ext cx="246943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Governed at contract signing. Quotes honoring the contract need no per-deal discount approval.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3813" y="3266554"/>
            <a:ext cx="2262059" cy="417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Custom Discount </a:t>
            </a:r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(In Scope of this framework)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322" y="3266554"/>
            <a:ext cx="246943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 concession off applicable list/contract price — % or $ reduction, free periods, waived fees, price holds.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0831" y="3266554"/>
            <a:ext cx="246943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Governed by the Authority Matrix in this framework.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119" y="4064943"/>
            <a:ext cx="8151763" cy="677019"/>
          </a:xfrm>
          <a:prstGeom prst="roundRect">
            <a:avLst>
              <a:gd name="adj" fmla="val 2705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58" y="4239295"/>
            <a:ext cx="152623" cy="12203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92820" y="4215631"/>
            <a:ext cx="763302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discount may be expressed as a % off list or a fixed $ amount. Both are governed identically. A discount is never modeled as a separate product.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7887"/>
            <a:ext cx="5031656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Discount Types &amp; Reason Codes- </a:t>
            </a:r>
            <a:r>
              <a:rPr lang="en-US" sz="2400" dirty="0">
                <a:solidFill>
                  <a:srgbClr val="C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 be updated </a:t>
            </a:r>
          </a:p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C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post discussions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73336"/>
            <a:ext cx="8608963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custom discount must carry a reason code, making discounting analyzable and allowing policy to treat different motivations differently.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76201"/>
            <a:ext cx="8151763" cy="3475286"/>
          </a:xfrm>
          <a:prstGeom prst="roundRect">
            <a:avLst>
              <a:gd name="adj" fmla="val 50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0881" y="1280964"/>
            <a:ext cx="8141419" cy="3205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1774" y="1280964"/>
            <a:ext cx="2713509" cy="320576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8009" y="1351136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Reason Code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15283" y="1280964"/>
            <a:ext cx="2713509" cy="320576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3899" y="1351136"/>
            <a:ext cx="2933477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When Used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28792" y="1280964"/>
            <a:ext cx="2713509" cy="320576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47408" y="1351136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Notes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6463" y="1926876"/>
            <a:ext cx="8141419" cy="5008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3591" y="1997049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Volume / Fleet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9481" y="1997049"/>
            <a:ext cx="2476277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Larger equipment quantities or multi-unit fleet placement.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52990" y="1997049"/>
            <a:ext cx="247865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Prefer a standard volume schedule over a bespoke discount.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6463" y="2427683"/>
            <a:ext cx="8141419" cy="5008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591" y="2497856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Term Commitment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9481" y="2497856"/>
            <a:ext cx="2476277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Longer rental commitment beyond standard.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52990" y="2497856"/>
            <a:ext cx="247865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Often already priced into rate card; extra discount is the exception.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6463" y="2928490"/>
            <a:ext cx="8141419" cy="5008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3591" y="2998662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Competitive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9481" y="2998662"/>
            <a:ext cx="2933477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Documented competitor pricing pressure.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2990" y="2998662"/>
            <a:ext cx="247865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Requires competitive justification in the request.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6463" y="3429296"/>
            <a:ext cx="8141419" cy="5008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591" y="3499469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Strategic / Reference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9481" y="3499469"/>
            <a:ext cx="2476277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Marquee IDN, reference account, or market entry.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52990" y="3499469"/>
            <a:ext cx="247865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Higher-tier approval; watch precedent / MFC risk.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6463" y="3930103"/>
            <a:ext cx="8141419" cy="3205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3591" y="4000275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Retention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39481" y="4000275"/>
            <a:ext cx="2933477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Renewal or churn-risk concession.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92467" y="3640143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Tie to renewal; time-boxed.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6463" y="4250679"/>
            <a:ext cx="8141419" cy="3205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3591" y="4320851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Promotional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9481" y="4320851"/>
            <a:ext cx="2933477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Approved, time-boxed campaign.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47408" y="3995514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Pre-authorized within campaign limits.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6463" y="4571255"/>
            <a:ext cx="8141419" cy="5008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3591" y="4641427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One-Time Concession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39481" y="4641427"/>
            <a:ext cx="2933477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Service recovery or goodwill.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52990" y="4641427"/>
            <a:ext cx="247865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Non-recurring; must expire; cannot roll into renewal automatically.</a:t>
            </a:r>
            <a:endParaRPr lang="en-US" sz="900" dirty="0"/>
          </a:p>
        </p:txBody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6206EF82-8026-07D3-1851-4CA8E75ADDDF}"/>
              </a:ext>
            </a:extLst>
          </p:cNvPr>
          <p:cNvSpPr/>
          <p:nvPr/>
        </p:nvSpPr>
        <p:spPr>
          <a:xfrm>
            <a:off x="658863" y="4403079"/>
            <a:ext cx="8141419" cy="3205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0">
            <a:extLst>
              <a:ext uri="{FF2B5EF4-FFF2-40B4-BE49-F238E27FC236}">
                <a16:creationId xmlns:a16="http://schemas.microsoft.com/office/drawing/2014/main" id="{E7203812-70F4-7438-56E1-7F821539F70E}"/>
              </a:ext>
            </a:extLst>
          </p:cNvPr>
          <p:cNvSpPr/>
          <p:nvPr/>
        </p:nvSpPr>
        <p:spPr>
          <a:xfrm>
            <a:off x="495300" y="1578008"/>
            <a:ext cx="8141419" cy="3205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r>
              <a:rPr lang="en-US" dirty="0"/>
              <a:t>	</a:t>
            </a: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C5AEFFFD-AC1E-96C9-FD8A-F35B5215095B}"/>
              </a:ext>
            </a:extLst>
          </p:cNvPr>
          <p:cNvSpPr/>
          <p:nvPr/>
        </p:nvSpPr>
        <p:spPr>
          <a:xfrm>
            <a:off x="612428" y="1648180"/>
            <a:ext cx="293585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Net-new account</a:t>
            </a:r>
            <a:endParaRPr lang="en-US" sz="900" dirty="0"/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5D22F44E-EFED-AE18-A7A8-FC72A26D9C21}"/>
              </a:ext>
            </a:extLst>
          </p:cNvPr>
          <p:cNvSpPr/>
          <p:nvPr/>
        </p:nvSpPr>
        <p:spPr>
          <a:xfrm>
            <a:off x="3328318" y="1648180"/>
            <a:ext cx="2933477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Customer acquisition</a:t>
            </a:r>
            <a:endParaRPr lang="en-US" sz="9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07277C41-F9C7-A2F6-1332-8F881E70CF58}"/>
              </a:ext>
            </a:extLst>
          </p:cNvPr>
          <p:cNvSpPr/>
          <p:nvPr/>
        </p:nvSpPr>
        <p:spPr>
          <a:xfrm>
            <a:off x="6066280" y="1583939"/>
            <a:ext cx="247865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Selectively offered to net-new customers to support long-term relationship building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3687812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Authority Matrix- </a:t>
            </a:r>
            <a:r>
              <a:rPr lang="en-US" sz="2200" dirty="0">
                <a:solidFill>
                  <a:srgbClr val="C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 be customized post discussions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962992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Each quote is evaluated on five dimensions. The deal's required tier is the highest tier triggered by any single dimension —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most-restrictive-factor wins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485900"/>
            <a:ext cx="8151763" cy="2506563"/>
          </a:xfrm>
          <a:prstGeom prst="roundRect">
            <a:avLst>
              <a:gd name="adj" fmla="val 73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1253" y="1490663"/>
            <a:ext cx="1357238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3292" y="1567532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Dimension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858491" y="1490663"/>
            <a:ext cx="1357238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82912" y="1567532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 1 — BDR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15729" y="1490663"/>
            <a:ext cx="1357238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40150" y="1567532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 2 — RVP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967" y="1490663"/>
            <a:ext cx="1357238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97388" y="1567532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 3 — Sales-VP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30205" y="1490663"/>
            <a:ext cx="1357238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54626" y="1567532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 4 — CRO+FP&amp;A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87444" y="1490663"/>
            <a:ext cx="1357238" cy="349969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11864" y="1567532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 5 — CFO &amp; CEO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3292" y="1919883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Discount Depth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82912" y="1919883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5%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40150" y="1919883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&gt; 5–10%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7388" y="1919883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&gt; 10–20%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4626" y="1919883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&gt; 20–30%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11864" y="1919883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&gt; 30%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292" y="2272233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Deal Size (ACV)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82912" y="2272233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$25k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40150" y="2272233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$100k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97388" y="2272233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$250k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54626" y="2272233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$500k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11864" y="2272233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&gt; $500k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292" y="2624584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82912" y="2624584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≥ Target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40150" y="2624584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≥ Floor +5 pts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97388" y="2624584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≥ Floor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54626" y="2624584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&lt; Floor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11864" y="2624584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&lt;&lt; Floor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3292" y="2976935"/>
            <a:ext cx="111077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Term / Commitment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82912" y="2976935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40150" y="2976935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97388" y="2976935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24 mo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54626" y="2976935"/>
            <a:ext cx="110839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&gt; 24 mo / evergreen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11864" y="2976935"/>
            <a:ext cx="15679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Atypical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3292" y="3523134"/>
            <a:ext cx="111077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Non-Standard Concessions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982912" y="3523134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40150" y="3523134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None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97388" y="3523134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Minor (defined)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54626" y="3523134"/>
            <a:ext cx="15655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 material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11864" y="3523134"/>
            <a:ext cx="111077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Precedent-setting / MFN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6119" y="4127674"/>
            <a:ext cx="8151763" cy="677019"/>
          </a:xfrm>
          <a:prstGeom prst="roundRect">
            <a:avLst>
              <a:gd name="adj" fmla="val 2705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58" y="4302026"/>
            <a:ext cx="152623" cy="122039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92820" y="4278362"/>
            <a:ext cx="763302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Override rule:</a:t>
            </a: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Any deal priced below its family margin floor routes to at least Tier 4 (Deal Desk + Finance), regardless of how small the discount percentage appears.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0162"/>
            <a:ext cx="386447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Approver SLAs by Tier- </a:t>
            </a:r>
            <a:r>
              <a:rPr lang="en-US" sz="2200" dirty="0">
                <a:solidFill>
                  <a:srgbClr val="C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 be customized post discussions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33573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Each tier has a defined approver, scope, and target turnaround time to keep deals moving without sacrificing governance.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73721"/>
            <a:ext cx="8151763" cy="2769617"/>
          </a:xfrm>
          <a:prstGeom prst="roundRect">
            <a:avLst>
              <a:gd name="adj" fmla="val 67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1030" y="1678484"/>
            <a:ext cx="651346" cy="35919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25004" y="1757660"/>
            <a:ext cx="85821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152376" y="1678484"/>
            <a:ext cx="1791221" cy="35919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78731" y="1757660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Approver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943597" y="1678484"/>
            <a:ext cx="3664000" cy="35919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069952" y="1757660"/>
            <a:ext cx="386848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May Approve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07597" y="1678484"/>
            <a:ext cx="2035522" cy="35919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33952" y="1757660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SLA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5004" y="2119238"/>
            <a:ext cx="85821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78731" y="2119238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Sales Rep (self-serve)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69952" y="2119238"/>
            <a:ext cx="386848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Shallow discounts, standard terms, above target margin.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33952" y="2119238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Instant / at quote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04" y="2480816"/>
            <a:ext cx="85821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78731" y="2480816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Regional VP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69952" y="2480816"/>
            <a:ext cx="386848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Moderate discounts, standard terms, healthy margin.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33952" y="2480816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4 business hours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5004" y="2842394"/>
            <a:ext cx="85821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78731" y="2842394"/>
            <a:ext cx="153851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Sales Director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69952" y="2842394"/>
            <a:ext cx="386848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Larger deals, deeper discounts to the floor, terms ≤ 24 mo.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33952" y="2842394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1 business day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5004" y="3402434"/>
            <a:ext cx="85821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78731" y="3402434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Deal Desk + FP&amp;A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9952" y="3402434"/>
            <a:ext cx="341128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Below-floor pricing, material concessions, large ACV, long terms.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33952" y="3402434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2 business days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004" y="3962474"/>
            <a:ext cx="85821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78731" y="3962474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CFO / CEO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069952" y="3962474"/>
            <a:ext cx="341128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Strategic, precedent-setting, deeply below-floor or very large deals.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33952" y="3962474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Executive cadence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1080"/>
            <a:ext cx="54232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Margin Floors by Product Family-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(Illustrative/Best-guess)- To be customized post discussions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34763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margin test relies on a floor set per product family, because economics differ sharply across the fleet. FP&amp;A owns these values. Thresholds below are illustrative and calibrated before go-live.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84090"/>
            <a:ext cx="8151763" cy="2547342"/>
          </a:xfrm>
          <a:prstGeom prst="roundRect">
            <a:avLst>
              <a:gd name="adj" fmla="val 73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0881" y="1888852"/>
            <a:ext cx="8141419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01774" y="1888852"/>
            <a:ext cx="2713509" cy="356815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25748" y="1968029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Product Family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15283" y="1888852"/>
            <a:ext cx="2713509" cy="356815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341638" y="1968029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Target Margin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28792" y="1888852"/>
            <a:ext cx="2713509" cy="356815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55147" y="1968029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Floor (Finance Gate)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0881" y="2245668"/>
            <a:ext cx="8141419" cy="5552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5748" y="2324844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Respiratory (ventilators, oxygen)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41638" y="2324844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Higher band </a:t>
            </a:r>
            <a:r>
              <a:rPr lang="en-US" sz="950" dirty="0">
                <a:solidFill>
                  <a:srgbClr val="FF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(DEFINE MARGIN FLOOR)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55147" y="2324844"/>
            <a:ext cx="246318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Higher floor — protect scarce, high-demand fleet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0881" y="2800945"/>
            <a:ext cx="8141419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5748" y="2880122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Infusion (pumps)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41638" y="2880122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Higher band </a:t>
            </a:r>
            <a:r>
              <a:rPr lang="en-US" sz="950" dirty="0">
                <a:solidFill>
                  <a:srgbClr val="FF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(DEFINE MARGIN FLOOR)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55147" y="2880122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Higher floor — high utilization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0881" y="3157761"/>
            <a:ext cx="8141419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5748" y="3236937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41638" y="3236937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Mid band </a:t>
            </a:r>
            <a:r>
              <a:rPr lang="en-US" sz="950" dirty="0">
                <a:solidFill>
                  <a:srgbClr val="FF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(DEFINE MARGIN FLOOR)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55147" y="3236937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Mid floor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0881" y="3514576"/>
            <a:ext cx="8141419" cy="5552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5748" y="3593753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Beds &amp; Therapeutic Surfaces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1638" y="3593753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Mid band </a:t>
            </a:r>
            <a:r>
              <a:rPr lang="en-US" sz="950" dirty="0">
                <a:solidFill>
                  <a:srgbClr val="FF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(DEFINE MARGIN FLOOR)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55147" y="3593753"/>
            <a:ext cx="246318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Mid floor — watch slow-turning specialty items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0881" y="4069854"/>
            <a:ext cx="8141419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5748" y="4149030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Furnishings / Ancillary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1638" y="4149030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band </a:t>
            </a:r>
            <a:r>
              <a:rPr lang="en-US" sz="950" dirty="0">
                <a:solidFill>
                  <a:srgbClr val="FF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(DEFINE MARGIN FLOOR)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55147" y="4149030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floor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6220"/>
            <a:ext cx="3769519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Approval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11275"/>
            <a:ext cx="8151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custom discount follows the same end-to-end path. Steps 3–5 are automated by Salesforce; the rep and approvers act only where judgment is required.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368772"/>
            <a:ext cx="7890644" cy="296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496280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Approver Decision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299" y="361091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Route to Tier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40" y="349628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 Evaluate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18781" y="349628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Request Discount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4415" y="361091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Build Quote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44305"/>
            <a:ext cx="8151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Policy enforcement is absolute: no verbal or email approvals outside the system, no retroactive discounts after order, and no discount without a reason code. These are enforced by validation rules, not left to habit.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3" y="547748"/>
            <a:ext cx="463004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Deal Desk Operating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5873" y="1245305"/>
            <a:ext cx="23214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Mandate &amp; Composition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5873" y="1563128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lightweight Deal Desk owns the exception lane (Tier 4+) and overall policy health. At USME's scale it is a cross-functional responsibility — Sales Ops plus FP&amp;A, escalating to executives as the matrix requires.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85873" y="2468598"/>
            <a:ext cx="3924598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Mandate: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Review below-floor and material-concession deals, safeguard margin, and keep turnaround within SLA.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Composition: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Sales Ops (process + system), FP&amp;A (margin + economics), CFO/executive for Tier 5.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Authority: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Can approve within Tier 4 limits; must escalate Tier 5; cannot waive the below-floor Finance gate.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17800" y="124530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Controls &amp; Audit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800" y="1563128"/>
            <a:ext cx="3924598" cy="2158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Expiration &amp; Re-approval: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Every custom discount carries an expiry; at renewal it is re-approved, never auto-perpetuated.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Standing vs. One-Time: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One-time concessions are flagged so they cannot silently roll into future terms.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C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IF applicable-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MFC (Most Favored Customer)/ Precedent Risk):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Strategic discounts that could trigger MFC contract clauses are flagged to Finance/Legal at Tier 4–5. 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Concession Costing: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Free months and waived fees are margin-tested; under ASC 842 they affect straight-line revenue.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Override Log: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Any exception is logged with rationale and approver; no discount applied outside the system.</a:t>
            </a:r>
            <a:endParaRPr lang="en-US" sz="950" dirty="0"/>
          </a:p>
        </p:txBody>
      </p:sp>
      <p:sp>
        <p:nvSpPr>
          <p:cNvPr id="9" name="Shape 18">
            <a:extLst>
              <a:ext uri="{FF2B5EF4-FFF2-40B4-BE49-F238E27FC236}">
                <a16:creationId xmlns:a16="http://schemas.microsoft.com/office/drawing/2014/main" id="{C8AB62A0-D07B-C699-3478-73F1329C267B}"/>
              </a:ext>
            </a:extLst>
          </p:cNvPr>
          <p:cNvSpPr/>
          <p:nvPr/>
        </p:nvSpPr>
        <p:spPr>
          <a:xfrm>
            <a:off x="385872" y="3845259"/>
            <a:ext cx="8151763" cy="176639"/>
          </a:xfrm>
          <a:prstGeom prst="roundRect">
            <a:avLst>
              <a:gd name="adj" fmla="val 2705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46">
            <a:extLst>
              <a:ext uri="{FF2B5EF4-FFF2-40B4-BE49-F238E27FC236}">
                <a16:creationId xmlns:a16="http://schemas.microsoft.com/office/drawing/2014/main" id="{26C3F838-9DED-65E9-D3A1-D2E511F0543D}"/>
              </a:ext>
            </a:extLst>
          </p:cNvPr>
          <p:cNvSpPr/>
          <p:nvPr/>
        </p:nvSpPr>
        <p:spPr>
          <a:xfrm>
            <a:off x="640480" y="3845261"/>
            <a:ext cx="7633022" cy="176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Who will be part of Deal Desk - 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A designated member for FP&amp;A and Sales team</a:t>
            </a:r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E3C6AAD6-5BCA-34DF-8672-2BFD1030AC0E}"/>
              </a:ext>
            </a:extLst>
          </p:cNvPr>
          <p:cNvSpPr/>
          <p:nvPr/>
        </p:nvSpPr>
        <p:spPr>
          <a:xfrm>
            <a:off x="385872" y="4133969"/>
            <a:ext cx="8151763" cy="348664"/>
          </a:xfrm>
          <a:prstGeom prst="roundRect">
            <a:avLst>
              <a:gd name="adj" fmla="val 2705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46">
            <a:extLst>
              <a:ext uri="{FF2B5EF4-FFF2-40B4-BE49-F238E27FC236}">
                <a16:creationId xmlns:a16="http://schemas.microsoft.com/office/drawing/2014/main" id="{787F2188-914F-2674-694B-14D2D0F8CBE8}"/>
              </a:ext>
            </a:extLst>
          </p:cNvPr>
          <p:cNvSpPr/>
          <p:nvPr/>
        </p:nvSpPr>
        <p:spPr>
          <a:xfrm>
            <a:off x="651325" y="4114452"/>
            <a:ext cx="763302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32000"/>
              </a:lnSpc>
            </a:pPr>
            <a:r>
              <a:rPr lang="en-US" sz="9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MFC- 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contract clause where you promise a customer they'll get pricing at least as good as any other comparable customer receives. If you later give someone else a deeper discount, an MFC clause obligates you to extend that same price back to the protected customer.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6014"/>
            <a:ext cx="3219152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Illustrative Roles &amp; RACI-</a:t>
            </a:r>
            <a:r>
              <a:rPr lang="en-US" sz="2000" dirty="0">
                <a:solidFill>
                  <a:srgbClr val="C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 be customized post discussions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96119" y="918046"/>
            <a:ext cx="8151763" cy="3605064"/>
          </a:xfrm>
          <a:prstGeom prst="roundRect">
            <a:avLst>
              <a:gd name="adj" fmla="val 4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1253" y="922809"/>
            <a:ext cx="1163464" cy="29706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11684" y="986582"/>
            <a:ext cx="13974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Activity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664717" y="922809"/>
            <a:ext cx="1163464" cy="29706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777529" y="986582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Rep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828181" y="922809"/>
            <a:ext cx="1163464" cy="29706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940993" y="986582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RVP/VP of sales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91645" y="922809"/>
            <a:ext cx="1163464" cy="29706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104456" y="986582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Deal Desk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55109" y="922809"/>
            <a:ext cx="1163464" cy="29706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67920" y="986582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FP&amp;A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18572" y="922809"/>
            <a:ext cx="1163464" cy="29706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31384" y="986582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CFO/Exec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82036" y="922809"/>
            <a:ext cx="1163464" cy="29706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94848" y="986582"/>
            <a:ext cx="13974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Sales Ops/IT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1684" y="1286024"/>
            <a:ext cx="940222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Request discount (reason + justification)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77529" y="128602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40993" y="128602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04456" y="128602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67920" y="128602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31384" y="128602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94848" y="1286024"/>
            <a:ext cx="13974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1684" y="1919734"/>
            <a:ext cx="940222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Approve within tier limit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77529" y="191973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40993" y="191973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A/R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04456" y="191973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A/R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67920" y="191973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A/R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31384" y="1919734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A/R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94848" y="1919734"/>
            <a:ext cx="13974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1684" y="2386310"/>
            <a:ext cx="940222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Enforce margin floor / below-floor gate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77529" y="238631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40993" y="238631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04456" y="238631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67920" y="238631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31384" y="238631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94848" y="2386310"/>
            <a:ext cx="13974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1684" y="3020020"/>
            <a:ext cx="940222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Set &amp; calibrate thresholds/floors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77529" y="302002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940993" y="302002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04456" y="302002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67920" y="302002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A/R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31384" y="3020020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94848" y="3020020"/>
            <a:ext cx="13974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1684" y="3486596"/>
            <a:ext cx="940222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Configure &amp; maintain policy in Salesforce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777529" y="3486596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40993" y="3486596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04456" y="3486596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267920" y="3486596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31384" y="3486596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94848" y="3486596"/>
            <a:ext cx="13974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A/R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11684" y="4120307"/>
            <a:ext cx="940222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Audit, analytics &amp; quarterly review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777529" y="4120307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940993" y="4120307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104456" y="4120307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267920" y="4120307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A/R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31384" y="4120307"/>
            <a:ext cx="139504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594848" y="4120307"/>
            <a:ext cx="13974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6119" y="4633764"/>
            <a:ext cx="8608963" cy="133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6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 = Responsible · A = Accountable · C = Consulted · I = Informed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305"/>
            <a:ext cx="4168676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Metrics &amp; Governance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36141"/>
            <a:ext cx="18866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333351"/>
            <a:ext cx="3936429" cy="3276228"/>
          </a:xfrm>
          <a:prstGeom prst="roundRect">
            <a:avLst>
              <a:gd name="adj" fmla="val 52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5255" y="1406128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Metric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78671" y="1406128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What Good Looks Like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5255" y="1722760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 / local approval rate (Tier 1–2)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78671" y="1722760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 — most deals clear locally.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5255" y="2215232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Approval cycle time by tier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78671" y="2215232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Within SLA; trending down.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5255" y="2531864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Avg. discount depth by family / segment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8671" y="2531864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Stable and explainable; no unmanaged creep.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5255" y="3024336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Realized gross margin vs. floor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78671" y="3024336"/>
            <a:ext cx="1734815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At or above floor; below-floor deals rare and Finance-approved.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255" y="3692649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Exception / override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78671" y="3692649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Low; investigated when it rises.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255" y="4009281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Discount leakage / expired-discount usage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78671" y="4009281"/>
            <a:ext cx="1734815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Near zero — no discounts applied outside policy or past expiry.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16214" y="1036141"/>
            <a:ext cx="3504902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Pricing Council &amp; Continuous Improvement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6214" y="1320180"/>
            <a:ext cx="3936429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standing Pricing Council (Sales leadership, FP&amp;A, Sales Ops) owns the policy and tunes it over time.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16214" y="1766739"/>
            <a:ext cx="3936429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Quarterly threshold review: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Compare realized margin and approval cycle time against the matrix; adjust tiers and floors.</a:t>
            </a:r>
            <a:endParaRPr lang="en-US" sz="900" dirty="0"/>
          </a:p>
          <a:p>
            <a:pPr marL="182880" indent="-182880" algn="l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Discount analytics: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Monitor depth by family, segment, rep, and reason code to find leakage and coach.</a:t>
            </a:r>
            <a:endParaRPr lang="en-US" sz="900" dirty="0"/>
          </a:p>
          <a:p>
            <a:pPr marL="182880" indent="-182880" algn="l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Policy change control: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Matrix edits are versioned in the metadata table with an effective date.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483"/>
            <a:ext cx="4126929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Implementation Roadmap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57635"/>
            <a:ext cx="2717229" cy="457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0419" y="152035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1. Define Policy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10419" y="1762274"/>
            <a:ext cx="248862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CxO+FP&amp;A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+ Sales leadership set discount taxonomy, reason codes, authority matrix, and margin floors.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957635"/>
            <a:ext cx="2717229" cy="4573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27648" y="152035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2. Configure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327648" y="1762274"/>
            <a:ext cx="248862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Salesforce team build policy fields, metadata matrix, validation rules, and approval routing in sandbox.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957635"/>
            <a:ext cx="2717229" cy="4573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4878" y="152035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3. Pilot &amp; UAT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044878" y="1762274"/>
            <a:ext cx="248862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 real scenarios end-to-end — including below-floor and concession cases — to confirm routing and SLAs.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404095"/>
            <a:ext cx="2717229" cy="4573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0419" y="296681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4. Roll Out &amp; Enable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10419" y="3208734"/>
            <a:ext cx="248862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Train reps and approvers; publish the one-page authority matrix as the everyday reference.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2404095"/>
            <a:ext cx="2717229" cy="4573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327648" y="296681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5. Govern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3327648" y="3208734"/>
            <a:ext cx="260292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 up the Pricing Council (CFO, FP&amp;A, CRO, CEO); begin the semi-annual review cycle.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6353"/>
            <a:ext cx="682109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Examples: Most-Restrictive-Wins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101923"/>
            <a:ext cx="8151763" cy="3038773"/>
          </a:xfrm>
          <a:prstGeom prst="roundRect">
            <a:avLst>
              <a:gd name="adj" fmla="val 6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1030" y="1106686"/>
            <a:ext cx="2035522" cy="35919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25004" y="1185863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Example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536552" y="1106686"/>
            <a:ext cx="2035522" cy="35919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662907" y="1185863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Scenario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74" y="1106686"/>
            <a:ext cx="2035522" cy="35919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698429" y="1185863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Triggers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607597" y="1106686"/>
            <a:ext cx="2035522" cy="359197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733952" y="1185863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Result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5004" y="1547440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1 — Clears Locally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62907" y="1547440"/>
            <a:ext cx="178281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4% off $18k-ACV monthly ventilator rental, standard terms, margin above target.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8429" y="1547440"/>
            <a:ext cx="178281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Depth = T1, Size = T1, Margin = T1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33952" y="1547440"/>
            <a:ext cx="178519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 1 — Self-approved at quote.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004" y="2305943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2 — Escalates on Size &amp; Depth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62907" y="2305943"/>
            <a:ext cx="178281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12% off $120k-ACV bed-fleet deal, 18-month term, margin at floor.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98429" y="2305943"/>
            <a:ext cx="178281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Depth = T3, Size = T3, Margin = T3, Term = T3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33952" y="2305943"/>
            <a:ext cx="178519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 3 — Regional VP approves.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5004" y="3064446"/>
            <a:ext cx="178519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3 — Concessions &amp; Floor Dominate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62907" y="3064446"/>
            <a:ext cx="178281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Only 8% headline discount, but bundles two free months + 12-month price hold, $300k ACV, below family margin floor.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98429" y="3064446"/>
            <a:ext cx="178281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Concessions = T4, Size = T4, Below-floor = T4 (Finance gate), Precedent = T5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33952" y="3064446"/>
            <a:ext cx="17851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Tier 4–5 — Shallow headline % is irrelevant; hidden cost and below-floor margin govern.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6119" y="428022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These examples illustrate why discount percentage alone is never sufficient to determine approval level. The full multi-factor evaluation always applies.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6340"/>
            <a:ext cx="83962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Appendix B — Configuring the Policy into Salesforce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968429"/>
            <a:ext cx="20133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7.1 Foundation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1286251"/>
            <a:ext cx="3924598" cy="275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Policy fields on Quote/Opportunity line: Requested Discount %, Requested Discount $, Reason Code, Calculated Margin, Required Approval Tier, Approval Status, Discount Expiration.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Configurable Authority Matrix stored as a Custom Metadata Type so Sales Ops can adjust thresholds and floors without code or redeployment.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Validation rules enforce the guardrails: discount % between 0 and 100, discount $ below list, no activation above a role's limit without approval, reason code required.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Deal Desk queue plus email notifications and SLA timers for Tier 4+ routing.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Dashboards for approval cycle time, discount depth, and margin realization.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968429"/>
            <a:ext cx="271365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7.2 Standard Sales Cloud Path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1286251"/>
            <a:ext cx="3924598" cy="191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Native Approval Processes with multi-step routing; entry criteria read the Required Approval Tier field; approvers assigned by role hierarchy and the matrix.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flow / formula computes margin and sets the tier from the metadata matrix on save.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Approvals provides smart, multi-step approval chains with recall, delegation, and one-click approve by email.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Price Rules calculate margin, enforce floors, and set the approval tier before submission.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2263</Words>
  <Application>Microsoft Office PowerPoint</Application>
  <PresentationFormat>On-screen Show (16:9)</PresentationFormat>
  <Paragraphs>310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Source Serif 4 Bold</vt:lpstr>
      <vt:lpstr>Source Serif 4</vt:lpstr>
      <vt:lpstr>Platypi Light</vt:lpstr>
      <vt:lpstr>Platypi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Ponnam</dc:creator>
  <cp:lastModifiedBy>Srinivas</cp:lastModifiedBy>
  <cp:revision>3</cp:revision>
  <dcterms:created xsi:type="dcterms:W3CDTF">2026-07-02T00:15:08Z</dcterms:created>
  <dcterms:modified xsi:type="dcterms:W3CDTF">2026-07-21T06:56:41Z</dcterms:modified>
</cp:coreProperties>
</file>