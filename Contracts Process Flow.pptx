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8" r:id="rId6"/>
    <p:sldId id="260" r:id="rId7"/>
    <p:sldId id="269" r:id="rId8"/>
    <p:sldId id="261" r:id="rId9"/>
    <p:sldId id="267" r:id="rId10"/>
    <p:sldId id="263" r:id="rId11"/>
    <p:sldId id="270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nivas" userId="0dfdf577-abd2-4267-93fe-1b178774e272" providerId="ADAL" clId="{26E41FBD-A856-477A-B280-770F18103933}"/>
    <pc:docChg chg="undo custSel addSld delSld modSld">
      <pc:chgData name="Srinivas" userId="0dfdf577-abd2-4267-93fe-1b178774e272" providerId="ADAL" clId="{26E41FBD-A856-477A-B280-770F18103933}" dt="2026-10-26T18:43:55.404" v="581" actId="20577"/>
      <pc:docMkLst>
        <pc:docMk/>
      </pc:docMkLst>
      <pc:sldChg chg="del">
        <pc:chgData name="Srinivas" userId="0dfdf577-abd2-4267-93fe-1b178774e272" providerId="ADAL" clId="{26E41FBD-A856-477A-B280-770F18103933}" dt="2026-10-26T18:27:38.133" v="515" actId="47"/>
        <pc:sldMkLst>
          <pc:docMk/>
          <pc:sldMk cId="0" sldId="264"/>
        </pc:sldMkLst>
      </pc:sldChg>
      <pc:sldChg chg="addSp modSp new mod">
        <pc:chgData name="Srinivas" userId="0dfdf577-abd2-4267-93fe-1b178774e272" providerId="ADAL" clId="{26E41FBD-A856-477A-B280-770F18103933}" dt="2026-10-26T18:43:55.404" v="581" actId="20577"/>
        <pc:sldMkLst>
          <pc:docMk/>
          <pc:sldMk cId="4269301960" sldId="270"/>
        </pc:sldMkLst>
        <pc:spChg chg="add mod">
          <ac:chgData name="Srinivas" userId="0dfdf577-abd2-4267-93fe-1b178774e272" providerId="ADAL" clId="{26E41FBD-A856-477A-B280-770F18103933}" dt="2026-10-26T18:22:47.321" v="13" actId="1076"/>
          <ac:spMkLst>
            <pc:docMk/>
            <pc:sldMk cId="4269301960" sldId="270"/>
            <ac:spMk id="3" creationId="{5E0CDC6A-943F-5E8D-39F6-2D0D7F044DF9}"/>
          </ac:spMkLst>
        </pc:spChg>
        <pc:spChg chg="add mod">
          <ac:chgData name="Srinivas" userId="0dfdf577-abd2-4267-93fe-1b178774e272" providerId="ADAL" clId="{26E41FBD-A856-477A-B280-770F18103933}" dt="2026-10-26T18:43:55.404" v="581" actId="20577"/>
          <ac:spMkLst>
            <pc:docMk/>
            <pc:sldMk cId="4269301960" sldId="270"/>
            <ac:spMk id="5" creationId="{74E6F85C-BB26-7035-41B3-07E76A1E699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5427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Agenda: standard contract flow, then Ascent's custom Trade Agreement model, pricing/approval logic, and the live sandbox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Contract is the agreement record between your company and a customer account. It tracks terms and dates, not item-level pricing. Verify field availability in the sandbox before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the points relevant to the audience. The last strip leads into the Trade Agreement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Contract is the agreement record on an Account. Standard Salesforce has no item-level price list tied to it, which is why Ascent uses custom Trade Agreements.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 for the demo. Contract management stays in Salesforce.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6AF1E-AC36-17D2-2774-7006F6A7E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55EC99-24C9-19D4-4B42-ACDCBB25B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3D6375-AA6C-3103-6480-3A3059AE8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 for the demo. Contract management stays in Salesforce.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C3019-0C25-23F1-27C8-52AD4AB13B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1426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Contract management stays in Salesforce. Trade Agreement is a custom object shown as a related list on Contract, using Ascent's custom item master.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99AEC-F5EC-909E-9814-6BF3BA0C5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2C0924-4C7B-9E4D-70D6-23DD373A06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0D9ED3-D89A-E61E-1595-CE7D85845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Contract management stays in Salesforce. Trade Agreement is a custom object shown as a related list on Contract, using Ascent's custom item master.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9E6DF-6713-EA8F-673B-8589ADF163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6542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Expiry example: contract ending 31 Dec 2026 means no pricing can be pulled for quotes after that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Salesforce Contracts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BD7F2"/>
                </a:solidFill>
              </a:rPr>
              <a:t>Standard flow + Trade Agreements (custom pricing)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1280160" cy="54864"/>
          </a:xfrm>
          <a:prstGeom prst="rect">
            <a:avLst/>
          </a:prstGeom>
          <a:solidFill>
            <a:srgbClr val="0176D3"/>
          </a:solidFill>
          <a:ln w="12700">
            <a:solidFill>
              <a:srgbClr val="017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BD7F2"/>
                </a:solidFill>
              </a:rPr>
              <a:t>Demo </a:t>
            </a:r>
            <a:r>
              <a:rPr lang="en-US" sz="1400">
                <a:solidFill>
                  <a:srgbClr val="BBD7F2"/>
                </a:solidFill>
              </a:rPr>
              <a:t>walkthrough  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176D3"/>
          </a:solidFill>
          <a:ln w="12700">
            <a:solidFill>
              <a:srgbClr val="017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</a:rPr>
              <a:t>Standard Contract functionality in Salesforce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1188720"/>
            <a:ext cx="4023360" cy="457200"/>
          </a:xfrm>
          <a:prstGeom prst="rect">
            <a:avLst/>
          </a:prstGeom>
          <a:solidFill>
            <a:srgbClr val="1B2A49"/>
          </a:solidFill>
          <a:ln w="12700">
            <a:solidFill>
              <a:srgbClr val="1B2A49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What it does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65760" y="1645920"/>
            <a:ext cx="40233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502920" y="173736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49"/>
                </a:solidFill>
              </a:rPr>
              <a:t>Records the formal agreement with a customer Account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49"/>
                </a:solidFill>
              </a:rPr>
              <a:t>Status lifecycle: Draft, In Approval Process, Activated (and Expired / Terminated)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49"/>
                </a:solidFill>
              </a:rPr>
              <a:t>Optional approval process before activation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49"/>
                </a:solidFill>
              </a:rPr>
              <a:t>Activated contract is the live agreement; orders can be created against it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49"/>
                </a:solidFill>
              </a:rPr>
              <a:t>Reports, history tracking and related lists (Opportunities, Orders, Activities)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754880" y="1188720"/>
            <a:ext cx="4023360" cy="457200"/>
          </a:xfrm>
          <a:prstGeom prst="rect">
            <a:avLst/>
          </a:prstGeom>
          <a:solidFill>
            <a:srgbClr val="0176D3"/>
          </a:solidFill>
          <a:ln w="12700">
            <a:solidFill>
              <a:srgbClr val="0176D3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Key standard fields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54880" y="1645920"/>
            <a:ext cx="40233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17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4892040" y="173736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49"/>
                </a:solidFill>
              </a:rPr>
              <a:t>Account Name, Contract Number, Owner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49"/>
                </a:solidFill>
              </a:rPr>
              <a:t>Contract Start Date + Contract Term (months)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49"/>
                </a:solidFill>
              </a:rPr>
              <a:t>Contract End Date: calculated from start + term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49"/>
                </a:solidFill>
              </a:rPr>
              <a:t>Status and Special Terms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49"/>
                </a:solidFill>
              </a:rPr>
              <a:t>Owner Expiration Notice: reminds the owner before the end date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49"/>
                </a:solidFill>
              </a:rPr>
              <a:t>Signature and activation details (signed by / date)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176D3"/>
          </a:solidFill>
          <a:ln w="12700">
            <a:solidFill>
              <a:srgbClr val="017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</a:rPr>
              <a:t>More standard Contract capabilities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1051560"/>
            <a:ext cx="4114800" cy="365760"/>
          </a:xfrm>
          <a:prstGeom prst="rect">
            <a:avLst/>
          </a:prstGeom>
          <a:solidFill>
            <a:srgbClr val="1B2A49"/>
          </a:solidFill>
          <a:ln w="12700">
            <a:solidFill>
              <a:srgbClr val="1B2A49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Record &amp; dates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4173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475488" y="1472184"/>
            <a:ext cx="3895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A49"/>
                </a:solidFill>
              </a:rPr>
              <a:t>Linked to Account; auto Contract Number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A49"/>
                </a:solidFill>
              </a:rPr>
              <a:t>End Date = Start Date + Term (read-only)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A49"/>
                </a:solidFill>
              </a:rPr>
              <a:t>Owner Expiration Notice before end date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663440" y="1051560"/>
            <a:ext cx="4114800" cy="365760"/>
          </a:xfrm>
          <a:prstGeom prst="rect">
            <a:avLst/>
          </a:prstGeom>
          <a:solidFill>
            <a:srgbClr val="0176D3"/>
          </a:solidFill>
          <a:ln w="12700">
            <a:solidFill>
              <a:srgbClr val="0176D3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Status &amp; activation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4173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17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4773168" y="1472184"/>
            <a:ext cx="3895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A49"/>
                </a:solidFill>
              </a:rPr>
              <a:t>Draft &gt; In Approval Process &gt; Activated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A49"/>
                </a:solidFill>
              </a:rPr>
              <a:t>Activate permission protects signed contracts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A49"/>
                </a:solidFill>
              </a:rPr>
              <a:t>Optional approval process before activation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65760" y="2560320"/>
            <a:ext cx="4114800" cy="365760"/>
          </a:xfrm>
          <a:prstGeom prst="rect">
            <a:avLst/>
          </a:prstGeom>
          <a:solidFill>
            <a:srgbClr val="1B2A49"/>
          </a:solidFill>
          <a:ln w="12700">
            <a:solidFill>
              <a:srgbClr val="1B2A49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Commercial &amp; legal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5760" y="29260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475488" y="2980944"/>
            <a:ext cx="3895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A49"/>
                </a:solidFill>
              </a:rPr>
              <a:t>Special Terms and Description for clauses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A49"/>
                </a:solidFill>
              </a:rPr>
              <a:t>Billing address and Price Book field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A49"/>
                </a:solidFill>
              </a:rPr>
              <a:t>Customer / Company signature tracking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663440" y="2560320"/>
            <a:ext cx="4114800" cy="365760"/>
          </a:xfrm>
          <a:prstGeom prst="rect">
            <a:avLst/>
          </a:prstGeom>
          <a:solidFill>
            <a:srgbClr val="0176D3"/>
          </a:solidFill>
          <a:ln w="12700">
            <a:solidFill>
              <a:srgbClr val="0176D3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Collaboration &amp; control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663440" y="29260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17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 txBox="1"/>
          <p:nvPr/>
        </p:nvSpPr>
        <p:spPr>
          <a:xfrm>
            <a:off x="4773168" y="2980944"/>
            <a:ext cx="3895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A49"/>
                </a:solidFill>
              </a:rPr>
              <a:t>Notes, files, activities, Chatter, history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A49"/>
                </a:solidFill>
              </a:rPr>
              <a:t>Layouts, validation rules, sharing, reports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A49"/>
                </a:solidFill>
              </a:rPr>
              <a:t>Flows for alerts, tasks, status updates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176D3"/>
          </a:solidFill>
          <a:ln w="12700">
            <a:solidFill>
              <a:srgbClr val="017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</a:rPr>
              <a:t>Standard Salesforce Contract flow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1234440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1B2A49"/>
          </a:solidFill>
          <a:ln w="12700">
            <a:solidFill>
              <a:srgbClr val="1B2A49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Account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618488" y="1645920"/>
            <a:ext cx="164592" cy="0"/>
          </a:xfrm>
          <a:prstGeom prst="line">
            <a:avLst/>
          </a:prstGeom>
          <a:noFill/>
          <a:ln w="2540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365760" y="2194560"/>
            <a:ext cx="123444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2"/>
                </a:solidFill>
              </a:rPr>
              <a:t>Customer record; the contract is created under it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801368" y="1234440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1B2A49"/>
          </a:solidFill>
          <a:ln w="12700">
            <a:solidFill>
              <a:srgbClr val="1B2A49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Opportunity / Quote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054096" y="1645920"/>
            <a:ext cx="164592" cy="0"/>
          </a:xfrm>
          <a:prstGeom prst="line">
            <a:avLst/>
          </a:prstGeom>
          <a:noFill/>
          <a:ln w="2540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1801368" y="2194560"/>
            <a:ext cx="123444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2"/>
                </a:solidFill>
              </a:rPr>
              <a:t>Deal and commercial terms are agreed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236976" y="1234440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0176D3"/>
          </a:solidFill>
          <a:ln w="12700">
            <a:solidFill>
              <a:srgbClr val="0176D3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Contract (Draft)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489704" y="1645920"/>
            <a:ext cx="164592" cy="0"/>
          </a:xfrm>
          <a:prstGeom prst="line">
            <a:avLst/>
          </a:prstGeom>
          <a:noFill/>
          <a:ln w="2540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3236976" y="2194560"/>
            <a:ext cx="123444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2"/>
                </a:solidFill>
              </a:rPr>
              <a:t>Account, Start Date, Term (months), End Date, Owner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672584" y="1234440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1B2A49"/>
          </a:solidFill>
          <a:ln w="12700">
            <a:solidFill>
              <a:srgbClr val="1B2A49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Approval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925312" y="1645920"/>
            <a:ext cx="164592" cy="0"/>
          </a:xfrm>
          <a:prstGeom prst="line">
            <a:avLst/>
          </a:prstGeom>
          <a:noFill/>
          <a:ln w="2540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 txBox="1"/>
          <p:nvPr/>
        </p:nvSpPr>
        <p:spPr>
          <a:xfrm>
            <a:off x="4672584" y="2194560"/>
            <a:ext cx="123444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2"/>
                </a:solidFill>
              </a:rPr>
              <a:t>Optional approval process before activation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08192" y="1234440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0176D3"/>
          </a:solidFill>
          <a:ln w="12700">
            <a:solidFill>
              <a:srgbClr val="0176D3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Activated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360920" y="1645920"/>
            <a:ext cx="164592" cy="0"/>
          </a:xfrm>
          <a:prstGeom prst="line">
            <a:avLst/>
          </a:prstGeom>
          <a:noFill/>
          <a:ln w="2540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 txBox="1"/>
          <p:nvPr/>
        </p:nvSpPr>
        <p:spPr>
          <a:xfrm>
            <a:off x="6108192" y="2194560"/>
            <a:ext cx="123444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2"/>
                </a:solidFill>
              </a:rPr>
              <a:t>Status = Activated; the live agreement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543800" y="1234440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1B2A49"/>
          </a:solidFill>
          <a:ln w="12700">
            <a:solidFill>
              <a:srgbClr val="1B2A49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Renew / Expire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543800" y="2194560"/>
            <a:ext cx="123444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2"/>
                </a:solidFill>
              </a:rPr>
              <a:t>Tracked on End Date; renew with a new contract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D0A38919-0A45-5DC4-D7FE-A4490AD0A1F6}"/>
              </a:ext>
            </a:extLst>
          </p:cNvPr>
          <p:cNvSpPr txBox="1"/>
          <p:nvPr/>
        </p:nvSpPr>
        <p:spPr>
          <a:xfrm>
            <a:off x="457200" y="274320"/>
            <a:ext cx="3261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</a:rPr>
              <a:t>Define Contract Types</a:t>
            </a:r>
            <a:endParaRPr lang="en-US" sz="26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0292F59-7766-CE26-7ED7-A0D7F0292563}"/>
              </a:ext>
            </a:extLst>
          </p:cNvPr>
          <p:cNvSpPr/>
          <p:nvPr/>
        </p:nvSpPr>
        <p:spPr>
          <a:xfrm>
            <a:off x="1089932" y="1773011"/>
            <a:ext cx="2204357" cy="8082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GPO Contracts</a:t>
            </a: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76735D6-0E7B-ED90-327A-BD044AD9295C}"/>
              </a:ext>
            </a:extLst>
          </p:cNvPr>
          <p:cNvSpPr/>
          <p:nvPr/>
        </p:nvSpPr>
        <p:spPr>
          <a:xfrm>
            <a:off x="4075340" y="1773011"/>
            <a:ext cx="2204357" cy="8082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dirty="0"/>
              <a:t>Customer Contracts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1683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176D3"/>
          </a:solidFill>
          <a:ln w="12700">
            <a:solidFill>
              <a:srgbClr val="017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</a:rPr>
              <a:t>GPO Contract &amp; Trade Agreements: key points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9"/>
                </a:solidFill>
              </a:rPr>
              <a:t>Contract is the master record with Vizient or Premier, start date, end date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9"/>
                </a:solidFill>
              </a:rPr>
              <a:t>Trade Agreements sit as a related list under this Contract, holding item-level prices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9"/>
                </a:solidFill>
              </a:rPr>
              <a:t>Works with Ascent item master and Ascent Price book(Trade Agreement)  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9"/>
                </a:solidFill>
              </a:rPr>
              <a:t>Trade Agreement dates must fall within Quote dates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9"/>
                </a:solidFill>
              </a:rPr>
              <a:t>Quote or sales order price auto-populates from the linked Trade Agreement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9"/>
                </a:solidFill>
              </a:rPr>
              <a:t>Price different from the Trade Agreement price triggers approval (contract  100$, quoted  90$)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9"/>
                </a:solidFill>
              </a:rPr>
              <a:t>After contract expiry no price is pulled; a new contract is needed for later quotes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9"/>
                </a:solidFill>
              </a:rPr>
              <a:t>Expiry notification can be configured to the designated group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67231-BAE1-08FC-B5FB-325F5446F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503726-BE42-3673-F8F5-671F9CB2C53A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176D3"/>
          </a:solidFill>
          <a:ln w="12700">
            <a:solidFill>
              <a:srgbClr val="017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CE8A7F5-BE68-3260-8096-1D8CB81010DA}"/>
              </a:ext>
            </a:extLst>
          </p:cNvPr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</a:rPr>
              <a:t>Customer Contract &amp; Trade Agreements: key points</a:t>
            </a:r>
            <a:endParaRPr lang="en-US" sz="2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FA2FFFB-BE44-5F1D-18C3-E5641DD22266}"/>
              </a:ext>
            </a:extLst>
          </p:cNvPr>
          <p:cNvSpPr txBox="1"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9"/>
                </a:solidFill>
              </a:rPr>
              <a:t>Contract is the master record with Hospitals/Customers, start date, end date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9"/>
                </a:solidFill>
              </a:rPr>
              <a:t>Trade Agreements sit as a related list under this Contract, holding item-level prices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9"/>
                </a:solidFill>
              </a:rPr>
              <a:t>Works with Ascent item master and Ascent Price book(Trade Agreement)  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9"/>
                </a:solidFill>
              </a:rPr>
              <a:t>Trade Agreement dates must fall within Quote dates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9"/>
                </a:solidFill>
              </a:rPr>
              <a:t>Quote or sales order price auto-populates from the linked Trade Agreement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9"/>
                </a:solidFill>
              </a:rPr>
              <a:t>Price different from the Trade Agreement price triggers approval (contract  100$, quoted  90$)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9"/>
                </a:solidFill>
              </a:rPr>
              <a:t>After contract expiry no price is pulled; a new contract is needed for later quotes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9"/>
                </a:solidFill>
              </a:rPr>
              <a:t>Expiry notification can be configured to the designated group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52357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176D3"/>
          </a:solidFill>
          <a:ln w="12700">
            <a:solidFill>
              <a:srgbClr val="017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</a:rPr>
              <a:t>Custom model: Contract + Trade Agreements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1188720"/>
            <a:ext cx="3566160" cy="457200"/>
          </a:xfrm>
          <a:prstGeom prst="rect">
            <a:avLst/>
          </a:prstGeom>
          <a:solidFill>
            <a:srgbClr val="1B2A49"/>
          </a:solidFill>
          <a:ln w="12700">
            <a:solidFill>
              <a:srgbClr val="1B2A49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Contract (master)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1645920"/>
            <a:ext cx="35661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9"/>
            </a:solidFill>
          </a:ln>
        </p:spPr>
        <p:txBody>
          <a:bodyPr wrap="square" lIns="152400" tIns="152400" rIns="152400" bIns="15240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A49"/>
                </a:solidFill>
              </a:rPr>
              <a:t>Customer name (Account)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B2A49"/>
                </a:solidFill>
              </a:rPr>
              <a:t>Start date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B2A49"/>
                </a:solidFill>
              </a:rPr>
              <a:t>End date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B2A49"/>
                </a:solidFill>
              </a:rPr>
              <a:t>Status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0" y="1188720"/>
            <a:ext cx="3749040" cy="457200"/>
          </a:xfrm>
          <a:prstGeom prst="rect">
            <a:avLst/>
          </a:prstGeom>
          <a:solidFill>
            <a:srgbClr val="0176D3"/>
          </a:solidFill>
          <a:ln w="12700">
            <a:solidFill>
              <a:srgbClr val="0176D3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Trade Agreement (related list)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0" y="1645920"/>
            <a:ext cx="3749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176D3"/>
            </a:solidFill>
          </a:ln>
        </p:spPr>
        <p:txBody>
          <a:bodyPr wrap="square" lIns="152400" tIns="152400" rIns="152400" bIns="15240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A49"/>
                </a:solidFill>
              </a:rPr>
              <a:t>Item (custom item master)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B2A49"/>
                </a:solidFill>
              </a:rPr>
              <a:t>Contract price ($)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B2A49"/>
                </a:solidFill>
              </a:rPr>
              <a:t>Start date / End date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B2A49"/>
                </a:solidFill>
              </a:rPr>
              <a:t>Parent Contract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977640" y="2423160"/>
            <a:ext cx="1005840" cy="0"/>
          </a:xfrm>
          <a:prstGeom prst="line">
            <a:avLst/>
          </a:prstGeom>
          <a:noFill/>
          <a:ln w="2540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4023360" y="21488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82"/>
                </a:solidFill>
              </a:rPr>
              <a:t>1 : many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9"/>
                </a:solidFill>
              </a:rPr>
              <a:t>Example data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5760" y="374904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EAF3FC"/>
          </a:solidFill>
          <a:ln w="12700">
            <a:solidFill>
              <a:srgbClr val="0176D3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9"/>
                </a:solidFill>
              </a:rPr>
              <a:t>Item A =  100$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377440" y="374904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EAF3FC"/>
          </a:solidFill>
          <a:ln w="12700">
            <a:solidFill>
              <a:srgbClr val="0176D3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9"/>
                </a:solidFill>
              </a:rPr>
              <a:t>Item B =  200$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480560" y="3749040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D7A01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D7A01"/>
                </a:solidFill>
              </a:rPr>
              <a:t>Rule: Trade Agreement dates must fall within the parent Contract dates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BFA849-6E55-BDEF-AFD7-4E58884A3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BBAD034-022A-6E8A-E844-50D2AA65402E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176D3"/>
          </a:solidFill>
          <a:ln w="12700">
            <a:solidFill>
              <a:srgbClr val="017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63F78CE-6E38-A5AF-C28E-6E3F42820246}"/>
              </a:ext>
            </a:extLst>
          </p:cNvPr>
          <p:cNvSpPr txBox="1"/>
          <p:nvPr/>
        </p:nvSpPr>
        <p:spPr>
          <a:xfrm>
            <a:off x="457200" y="176417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B2A49"/>
                </a:solidFill>
              </a:rPr>
              <a:t>Pricing &amp; discount flow (Quote / Sales Order)</a:t>
            </a:r>
            <a:endParaRPr lang="en-US" sz="26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8C17BA-6F71-9CA0-1929-0F7AEB4150B9}"/>
              </a:ext>
            </a:extLst>
          </p:cNvPr>
          <p:cNvSpPr txBox="1"/>
          <p:nvPr/>
        </p:nvSpPr>
        <p:spPr>
          <a:xfrm>
            <a:off x="8346558" y="2707966"/>
            <a:ext cx="499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rgbClr val="FF0000"/>
                </a:solidFill>
              </a:rPr>
              <a:t>No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EE4817D-4604-31E9-4E9F-D29B6CB3BC64}"/>
              </a:ext>
            </a:extLst>
          </p:cNvPr>
          <p:cNvGrpSpPr/>
          <p:nvPr/>
        </p:nvGrpSpPr>
        <p:grpSpPr>
          <a:xfrm>
            <a:off x="318260" y="902115"/>
            <a:ext cx="8741385" cy="3428771"/>
            <a:chOff x="318260" y="639731"/>
            <a:chExt cx="8741385" cy="3428771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6D9D118-E4C4-3696-1ADC-C39C3B41E8AC}"/>
                </a:ext>
              </a:extLst>
            </p:cNvPr>
            <p:cNvSpPr txBox="1"/>
            <p:nvPr/>
          </p:nvSpPr>
          <p:spPr>
            <a:xfrm>
              <a:off x="3530012" y="2803099"/>
              <a:ext cx="4571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 dirty="0">
                  <a:solidFill>
                    <a:srgbClr val="FF0000"/>
                  </a:solidFill>
                </a:rPr>
                <a:t>No</a:t>
              </a: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5E2B8265-7603-7DDD-9916-8548002C2A36}"/>
                </a:ext>
              </a:extLst>
            </p:cNvPr>
            <p:cNvGrpSpPr/>
            <p:nvPr/>
          </p:nvGrpSpPr>
          <p:grpSpPr>
            <a:xfrm>
              <a:off x="318260" y="639731"/>
              <a:ext cx="8741385" cy="3428771"/>
              <a:chOff x="318260" y="639731"/>
              <a:chExt cx="8741385" cy="3428771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63DEBCC-072E-AB79-DA7C-4E1B628ACAB9}"/>
                  </a:ext>
                </a:extLst>
              </p:cNvPr>
              <p:cNvSpPr txBox="1"/>
              <p:nvPr/>
            </p:nvSpPr>
            <p:spPr>
              <a:xfrm>
                <a:off x="318260" y="1279627"/>
                <a:ext cx="2179674" cy="8280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381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IN" sz="1400" b="1" dirty="0">
                    <a:solidFill>
                      <a:schemeClr val="bg1">
                        <a:lumMod val="95000"/>
                      </a:schemeClr>
                    </a:solidFill>
                  </a:rPr>
                  <a:t>Quote / </a:t>
                </a:r>
                <a:r>
                  <a:rPr lang="en-IN" sz="1400" b="1" dirty="0" err="1">
                    <a:solidFill>
                      <a:schemeClr val="bg1">
                        <a:lumMod val="95000"/>
                      </a:schemeClr>
                    </a:solidFill>
                  </a:rPr>
                  <a:t>SalesOrder</a:t>
                </a:r>
                <a:r>
                  <a:rPr lang="en-IN" sz="1400" b="1" dirty="0">
                    <a:solidFill>
                      <a:schemeClr val="bg1">
                        <a:lumMod val="95000"/>
                      </a:schemeClr>
                    </a:solidFill>
                  </a:rPr>
                  <a:t> </a:t>
                </a:r>
                <a:r>
                  <a:rPr lang="en-IN" sz="1400" b="1" dirty="0" err="1">
                    <a:solidFill>
                      <a:schemeClr val="bg1">
                        <a:lumMod val="95000"/>
                      </a:schemeClr>
                    </a:solidFill>
                  </a:rPr>
                  <a:t>Created,item</a:t>
                </a:r>
                <a:r>
                  <a:rPr lang="en-IN" sz="1400" b="1" dirty="0">
                    <a:solidFill>
                      <a:schemeClr val="bg1">
                        <a:lumMod val="95000"/>
                      </a:schemeClr>
                    </a:solidFill>
                  </a:rPr>
                  <a:t> added</a:t>
                </a:r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84E29439-309E-CC6B-004E-B9B1BAA86F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8651" y="1717966"/>
                <a:ext cx="542619" cy="0"/>
              </a:xfrm>
              <a:prstGeom prst="straightConnector1">
                <a:avLst/>
              </a:prstGeom>
              <a:ln w="444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Flowchart: Decision 21">
                <a:extLst>
                  <a:ext uri="{FF2B5EF4-FFF2-40B4-BE49-F238E27FC236}">
                    <a16:creationId xmlns:a16="http://schemas.microsoft.com/office/drawing/2014/main" id="{B3A6812F-D76E-E953-5649-43BE9F79E5BD}"/>
                  </a:ext>
                </a:extLst>
              </p:cNvPr>
              <p:cNvSpPr/>
              <p:nvPr/>
            </p:nvSpPr>
            <p:spPr>
              <a:xfrm>
                <a:off x="3041270" y="639731"/>
                <a:ext cx="1828442" cy="2160000"/>
              </a:xfrm>
              <a:prstGeom prst="flowChartDecision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IN" sz="1200" b="1" dirty="0">
                    <a:ln w="6350">
                      <a:solidFill>
                        <a:schemeClr val="accent1">
                          <a:shade val="15000"/>
                        </a:scheme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Active Trade Agreement for this customer, item and Date?</a:t>
                </a:r>
              </a:p>
            </p:txBody>
          </p: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F2173804-8951-CAE7-A72A-C8850A33EA11}"/>
                  </a:ext>
                </a:extLst>
              </p:cNvPr>
              <p:cNvCxnSpPr>
                <a:cxnSpLocks/>
                <a:stCxn id="22" idx="3"/>
                <a:endCxn id="25" idx="1"/>
              </p:cNvCxnSpPr>
              <p:nvPr/>
            </p:nvCxnSpPr>
            <p:spPr>
              <a:xfrm flipV="1">
                <a:off x="4869712" y="1712723"/>
                <a:ext cx="543336" cy="7008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05D9508-FAD8-5C3E-21CA-B47A4AC7CC83}"/>
                  </a:ext>
                </a:extLst>
              </p:cNvPr>
              <p:cNvSpPr txBox="1"/>
              <p:nvPr/>
            </p:nvSpPr>
            <p:spPr>
              <a:xfrm>
                <a:off x="5413048" y="1100723"/>
                <a:ext cx="1477925" cy="1224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41275">
                <a:solidFill>
                  <a:schemeClr val="bg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400" b="1" dirty="0"/>
                  <a:t>Price Auto populate from Trade Agreement</a:t>
                </a:r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A52DEFF0-1CF7-54CB-CDDD-BB1DD06B73CF}"/>
                  </a:ext>
                </a:extLst>
              </p:cNvPr>
              <p:cNvCxnSpPr>
                <a:stCxn id="25" idx="3"/>
              </p:cNvCxnSpPr>
              <p:nvPr/>
            </p:nvCxnSpPr>
            <p:spPr>
              <a:xfrm flipV="1">
                <a:off x="6890973" y="1698955"/>
                <a:ext cx="402962" cy="13768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Flowchart: Decision 36">
                <a:extLst>
                  <a:ext uri="{FF2B5EF4-FFF2-40B4-BE49-F238E27FC236}">
                    <a16:creationId xmlns:a16="http://schemas.microsoft.com/office/drawing/2014/main" id="{0C84F850-2775-7AF5-098B-C8D9D2497536}"/>
                  </a:ext>
                </a:extLst>
              </p:cNvPr>
              <p:cNvSpPr/>
              <p:nvPr/>
            </p:nvSpPr>
            <p:spPr>
              <a:xfrm>
                <a:off x="7231203" y="781409"/>
                <a:ext cx="1828442" cy="1835092"/>
              </a:xfrm>
              <a:prstGeom prst="flowChartDecision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Quoted Price = Contract Price?</a:t>
                </a:r>
              </a:p>
            </p:txBody>
          </p: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83B6A25B-E8D5-5A84-8FC4-E5FCBAB9B7A9}"/>
                  </a:ext>
                </a:extLst>
              </p:cNvPr>
              <p:cNvCxnSpPr>
                <a:cxnSpLocks/>
                <a:stCxn id="22" idx="2"/>
              </p:cNvCxnSpPr>
              <p:nvPr/>
            </p:nvCxnSpPr>
            <p:spPr>
              <a:xfrm>
                <a:off x="3955491" y="2799731"/>
                <a:ext cx="0" cy="36877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26986F81-6689-3672-D6FB-AA957ADFB388}"/>
                  </a:ext>
                </a:extLst>
              </p:cNvPr>
              <p:cNvCxnSpPr>
                <a:cxnSpLocks/>
                <a:stCxn id="37" idx="2"/>
              </p:cNvCxnSpPr>
              <p:nvPr/>
            </p:nvCxnSpPr>
            <p:spPr>
              <a:xfrm>
                <a:off x="8145424" y="2616501"/>
                <a:ext cx="0" cy="552001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22AA749-8539-A92F-FE80-36CDCF9D4C38}"/>
                  </a:ext>
                </a:extLst>
              </p:cNvPr>
              <p:cNvSpPr txBox="1"/>
              <p:nvPr/>
            </p:nvSpPr>
            <p:spPr>
              <a:xfrm>
                <a:off x="2190313" y="3168502"/>
                <a:ext cx="2679399" cy="9000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400" b="1" dirty="0">
                    <a:solidFill>
                      <a:schemeClr val="bg1">
                        <a:lumMod val="95000"/>
                      </a:schemeClr>
                    </a:solidFill>
                  </a:rPr>
                  <a:t>No Price Pulled (</a:t>
                </a:r>
                <a:r>
                  <a:rPr lang="en-IN" sz="1400" b="1" dirty="0" err="1">
                    <a:solidFill>
                      <a:schemeClr val="bg1">
                        <a:lumMod val="95000"/>
                      </a:schemeClr>
                    </a:solidFill>
                  </a:rPr>
                  <a:t>e.g:expired</a:t>
                </a:r>
                <a:r>
                  <a:rPr lang="en-IN" sz="1400" b="1" dirty="0">
                    <a:solidFill>
                      <a:schemeClr val="bg1">
                        <a:lumMod val="95000"/>
                      </a:schemeClr>
                    </a:solidFill>
                  </a:rPr>
                  <a:t>) Create a new Contract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4CC1C5F-9487-B208-E5B5-3A1C7B7E9D5C}"/>
                  </a:ext>
                </a:extLst>
              </p:cNvPr>
              <p:cNvSpPr txBox="1"/>
              <p:nvPr/>
            </p:nvSpPr>
            <p:spPr>
              <a:xfrm>
                <a:off x="4869712" y="1320542"/>
                <a:ext cx="42458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b="1" dirty="0">
                    <a:solidFill>
                      <a:srgbClr val="00B050"/>
                    </a:solidFill>
                  </a:rPr>
                  <a:t>Yes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7179522-F0C9-BB73-0D2E-3F04C0D3845F}"/>
                  </a:ext>
                </a:extLst>
              </p:cNvPr>
              <p:cNvSpPr txBox="1"/>
              <p:nvPr/>
            </p:nvSpPr>
            <p:spPr>
              <a:xfrm>
                <a:off x="5294297" y="3168500"/>
                <a:ext cx="1829517" cy="864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400" b="1" dirty="0" err="1">
                    <a:solidFill>
                      <a:schemeClr val="bg1">
                        <a:lumMod val="95000"/>
                      </a:schemeClr>
                    </a:solidFill>
                  </a:rPr>
                  <a:t>Proceed:Quote</a:t>
                </a:r>
                <a:r>
                  <a:rPr lang="en-IN" sz="1400" b="1" dirty="0">
                    <a:solidFill>
                      <a:schemeClr val="bg1">
                        <a:lumMod val="95000"/>
                      </a:schemeClr>
                    </a:solidFill>
                  </a:rPr>
                  <a:t> Saved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021F762-B998-130C-4103-AFADC6FF5392}"/>
                  </a:ext>
                </a:extLst>
              </p:cNvPr>
              <p:cNvSpPr txBox="1"/>
              <p:nvPr/>
            </p:nvSpPr>
            <p:spPr>
              <a:xfrm>
                <a:off x="7453423" y="3168502"/>
                <a:ext cx="1606219" cy="738664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IN" sz="1400" b="1" dirty="0">
                    <a:solidFill>
                      <a:schemeClr val="bg1">
                        <a:lumMod val="95000"/>
                      </a:schemeClr>
                    </a:solidFill>
                  </a:rPr>
                  <a:t>Discount Authorization Approval Flow</a:t>
                </a:r>
              </a:p>
            </p:txBody>
          </p: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4B6D23A1-0C19-8E95-3267-78B28E498938}"/>
                  </a:ext>
                </a:extLst>
              </p:cNvPr>
              <p:cNvCxnSpPr/>
              <p:nvPr/>
            </p:nvCxnSpPr>
            <p:spPr>
              <a:xfrm flipH="1">
                <a:off x="6411433" y="2126512"/>
                <a:ext cx="1222744" cy="104199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CB834EB-9921-2EFF-D6A4-003F5C6C7901}"/>
                  </a:ext>
                </a:extLst>
              </p:cNvPr>
              <p:cNvSpPr txBox="1"/>
              <p:nvPr/>
            </p:nvSpPr>
            <p:spPr>
              <a:xfrm>
                <a:off x="6560288" y="2488019"/>
                <a:ext cx="56352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b="1" dirty="0">
                    <a:solidFill>
                      <a:srgbClr val="00B050"/>
                    </a:solidFill>
                  </a:rPr>
                  <a:t>Yes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46087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176D3"/>
          </a:solidFill>
          <a:ln w="12700">
            <a:solidFill>
              <a:srgbClr val="017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</a:rPr>
              <a:t>Rules, expiry &amp; notifications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1188720"/>
            <a:ext cx="2697480" cy="457200"/>
          </a:xfrm>
          <a:prstGeom prst="rect">
            <a:avLst/>
          </a:prstGeom>
          <a:solidFill>
            <a:srgbClr val="0176D3"/>
          </a:solidFill>
          <a:ln w="12700">
            <a:solidFill>
              <a:srgbClr val="0176D3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Date validation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164592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76D3"/>
            </a:solidFill>
          </a:ln>
        </p:spPr>
        <p:txBody>
          <a:bodyPr wrap="square" lIns="152400" tIns="152400" rIns="152400" bIns="1524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49"/>
                </a:solidFill>
              </a:rPr>
              <a:t>Trade Agreement start/end must sit inside the parent Contract dates. Saving outside the range is blocked.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218688" y="1188720"/>
            <a:ext cx="2697480" cy="457200"/>
          </a:xfrm>
          <a:prstGeom prst="rect">
            <a:avLst/>
          </a:prstGeom>
          <a:solidFill>
            <a:srgbClr val="DD7A01"/>
          </a:solidFill>
          <a:ln w="12700">
            <a:solidFill>
              <a:srgbClr val="DD7A01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Discount approval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218688" y="164592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7A01"/>
            </a:solidFill>
          </a:ln>
        </p:spPr>
        <p:txBody>
          <a:bodyPr wrap="square" lIns="152400" tIns="152400" rIns="152400" bIns="1524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49"/>
                </a:solidFill>
              </a:rPr>
              <a:t>Quoted price differs from contract price triggers approval.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B2A49"/>
                </a:solidFill>
              </a:rPr>
              <a:t>Contract Rs 900, quoted Rs 90: needs approval.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71616" y="1188720"/>
            <a:ext cx="2697480" cy="457200"/>
          </a:xfrm>
          <a:prstGeom prst="rect">
            <a:avLst/>
          </a:prstGeom>
          <a:solidFill>
            <a:srgbClr val="BA0517"/>
          </a:solidFill>
          <a:ln w="12700">
            <a:solidFill>
              <a:srgbClr val="BA0517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Expiry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071616" y="164592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0517"/>
            </a:solidFill>
          </a:ln>
        </p:spPr>
        <p:txBody>
          <a:bodyPr wrap="square" lIns="152400" tIns="152400" rIns="152400" bIns="1524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49"/>
                </a:solidFill>
              </a:rPr>
              <a:t>Contract ends 31 Dec 2026: no price is pulled after that date. Create a new contract for post-expiry quotes.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65760" y="370332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EAF3FC"/>
          </a:solidFill>
          <a:ln w="12700">
            <a:solidFill>
              <a:srgbClr val="0176D3"/>
            </a:solidFill>
          </a:ln>
        </p:spPr>
        <p:txBody>
          <a:bodyPr wrap="square" lIns="152400" tIns="152400" rIns="152400" bIns="15240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A49"/>
                </a:solidFill>
              </a:rPr>
              <a:t>Expiry notification: email / in-app alert to the contract owner ahead of End Date (for example 30, 15 and 7 days before; timing to be confirmed).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5E0CDC6A-943F-5E8D-39F6-2D0D7F044DF9}"/>
              </a:ext>
            </a:extLst>
          </p:cNvPr>
          <p:cNvSpPr txBox="1"/>
          <p:nvPr/>
        </p:nvSpPr>
        <p:spPr>
          <a:xfrm>
            <a:off x="457200" y="451485"/>
            <a:ext cx="8229600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</a:rPr>
              <a:t>Questions</a:t>
            </a:r>
          </a:p>
          <a:p>
            <a:pPr marL="0" indent="0">
              <a:buNone/>
            </a:pPr>
            <a:endParaRPr lang="en-US" sz="2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E6F85C-BB26-7035-41B3-07E76A1E699A}"/>
              </a:ext>
            </a:extLst>
          </p:cNvPr>
          <p:cNvSpPr txBox="1"/>
          <p:nvPr/>
        </p:nvSpPr>
        <p:spPr>
          <a:xfrm>
            <a:off x="457199" y="871024"/>
            <a:ext cx="7449911" cy="3375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9"/>
                </a:solidFill>
              </a:rPr>
              <a:t>How are GPO linked to the Customer / Hospitals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9"/>
                </a:solidFill>
              </a:rPr>
              <a:t>Do you have Separate Contracts with Customers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9"/>
                </a:solidFill>
              </a:rPr>
              <a:t>Is this for Equipment Rental or Sales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9"/>
                </a:solidFill>
              </a:rPr>
              <a:t>Which prices to pick if the Customer is linked to a GPO contract and Customer Contract?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9"/>
                </a:solidFill>
              </a:rPr>
              <a:t>Is this Trade Agreement prices applied only on the Quotes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9"/>
                </a:solidFill>
              </a:rPr>
              <a:t>Can the contract get amended or renewed on the existing contract 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9"/>
                </a:solidFill>
              </a:rPr>
              <a:t>What is IDN and Purchasing Coalitions </a:t>
            </a:r>
            <a:r>
              <a:rPr lang="en-US" sz="1600">
                <a:solidFill>
                  <a:srgbClr val="1B2A49"/>
                </a:solidFill>
              </a:rPr>
              <a:t>contract types</a:t>
            </a:r>
            <a:endParaRPr lang="en-US" sz="1600" dirty="0">
              <a:solidFill>
                <a:srgbClr val="1B2A49"/>
              </a:solidFill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600" dirty="0">
              <a:solidFill>
                <a:srgbClr val="1B2A49"/>
              </a:solidFill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69301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</TotalTime>
  <Words>1042</Words>
  <Application>Microsoft Office PowerPoint</Application>
  <PresentationFormat>On-screen Show (16:9)</PresentationFormat>
  <Paragraphs>132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Srinivas</cp:lastModifiedBy>
  <cp:revision>8</cp:revision>
  <dcterms:created xsi:type="dcterms:W3CDTF">2026-10-26T14:51:21Z</dcterms:created>
  <dcterms:modified xsi:type="dcterms:W3CDTF">2026-10-26T18:43:58Z</dcterms:modified>
</cp:coreProperties>
</file>