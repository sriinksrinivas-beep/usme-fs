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9" r:id="rId2"/>
    <p:sldId id="260" r:id="rId3"/>
    <p:sldId id="277" r:id="rId4"/>
    <p:sldId id="265" r:id="rId5"/>
    <p:sldId id="275" r:id="rId6"/>
    <p:sldId id="278" r:id="rId7"/>
    <p:sldId id="27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296" y="-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DD935-595E-4ABD-97F3-A6410271FE62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8472C-0E06-4D72-BBFC-B9D54C330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774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9" name="Google Shape;15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5" name="Google Shape;20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62" name="Google Shape;46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5529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3A36D"/>
          </a:solidFill>
          <a:ln w="12700">
            <a:solidFill>
              <a:srgbClr val="23A3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794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USME | Executive Review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732520" y="651967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8794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Salesforce + Ascent Rental Future State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8794A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267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49707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B486"/>
              </a:buClr>
              <a:buSzPts val="1150"/>
              <a:buFont typeface="Arial"/>
              <a:buNone/>
              <a:tabLst/>
              <a:defRPr/>
            </a:pPr>
            <a:r>
              <a:rPr kumimoji="0" lang="en-US" sz="1150" b="1" i="0" u="none" strike="noStrike" kern="0" cap="none" spc="0" normalizeH="0" baseline="0" noProof="0">
                <a:ln>
                  <a:noFill/>
                </a:ln>
                <a:solidFill>
                  <a:srgbClr val="20B48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CURRENT VS. FUTURE</a:t>
            </a:r>
            <a:endParaRPr kumimoji="0" sz="11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484632" y="658368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C45"/>
              </a:buClr>
              <a:buSzPts val="3000"/>
              <a:buFont typeface="Arial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>
                <a:ln>
                  <a:noFill/>
                </a:ln>
                <a:solidFill>
                  <a:srgbClr val="0C2C4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Future state applications environment</a:t>
            </a: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 txBox="1"/>
          <p:nvPr/>
        </p:nvSpPr>
        <p:spPr>
          <a:xfrm>
            <a:off x="502920" y="1298448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  <a:tabLst/>
              <a:defRPr/>
            </a:pPr>
            <a:endParaRPr kumimoji="0" sz="13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502920" y="1627632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D65A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502920" y="1627632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CURRENT STATE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02920" y="1965960"/>
            <a:ext cx="4617720" cy="603504"/>
          </a:xfrm>
          <a:prstGeom prst="roundRect">
            <a:avLst>
              <a:gd name="adj" fmla="val 13636"/>
            </a:avLst>
          </a:prstGeom>
          <a:solidFill>
            <a:srgbClr val="EAF2FB"/>
          </a:solidFill>
          <a:ln w="12700" cap="flat" cmpd="sng">
            <a:solidFill>
              <a:srgbClr val="387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731520" y="1965960"/>
            <a:ext cx="420624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C45"/>
              </a:buClr>
              <a:buSzPts val="1250"/>
              <a:buFont typeface="Arial"/>
              <a:buNone/>
              <a:tabLst/>
              <a:defRPr/>
            </a:pPr>
            <a:r>
              <a:rPr kumimoji="0" lang="en-US" sz="1250" b="1" i="0" u="none" strike="noStrike" kern="0" cap="none" spc="0" normalizeH="0" baseline="0" noProof="0">
                <a:ln>
                  <a:noFill/>
                </a:ln>
                <a:solidFill>
                  <a:srgbClr val="0C2C4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Salesforce Sales Cloud (CRM)   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CRM / lead → quote</a:t>
            </a:r>
            <a:endParaRPr kumimoji="0" sz="12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02920" y="2702052"/>
            <a:ext cx="4617720" cy="603504"/>
          </a:xfrm>
          <a:prstGeom prst="roundRect">
            <a:avLst>
              <a:gd name="adj" fmla="val 13636"/>
            </a:avLst>
          </a:prstGeom>
          <a:solidFill>
            <a:srgbClr val="FBEAEA"/>
          </a:solidFill>
          <a:ln w="12700" cap="flat" cmpd="sng">
            <a:solidFill>
              <a:srgbClr val="D65A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731520" y="2702052"/>
            <a:ext cx="4379976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C45"/>
              </a:buClr>
              <a:buSzPts val="1250"/>
              <a:buFont typeface="Arial"/>
              <a:buNone/>
              <a:tabLst/>
              <a:defRPr/>
            </a:pPr>
            <a:r>
              <a:rPr kumimoji="0" lang="en-US" sz="1250" b="1" i="0" u="none" strike="noStrike" kern="0" cap="none" spc="0" normalizeH="0" baseline="0" noProof="0" dirty="0">
                <a:ln>
                  <a:noFill/>
                </a:ln>
                <a:solidFill>
                  <a:srgbClr val="0C2C4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ServiceNow + CG4  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Assets / work orders / Purchasing / RFID/CMMS</a:t>
            </a:r>
            <a:endParaRPr kumimoji="0" sz="12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02920" y="3438144"/>
            <a:ext cx="4617720" cy="603504"/>
          </a:xfrm>
          <a:prstGeom prst="roundRect">
            <a:avLst>
              <a:gd name="adj" fmla="val 13636"/>
            </a:avLst>
          </a:prstGeom>
          <a:solidFill>
            <a:srgbClr val="FCF1DD"/>
          </a:solidFill>
          <a:ln w="12700" cap="flat" cmpd="sng">
            <a:solidFill>
              <a:srgbClr val="E8A2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731520" y="3438144"/>
            <a:ext cx="420624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C45"/>
              </a:buClr>
              <a:buSzPts val="1250"/>
              <a:buFont typeface="Arial"/>
              <a:buNone/>
              <a:tabLst/>
              <a:defRPr/>
            </a:pPr>
            <a:r>
              <a:rPr kumimoji="0" lang="en-US" sz="1250" b="1" i="0" u="none" strike="noStrike" kern="0" cap="none" spc="0" normalizeH="0" baseline="0" noProof="0" dirty="0">
                <a:ln>
                  <a:noFill/>
                </a:ln>
                <a:solidFill>
                  <a:srgbClr val="0C2C4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GoUSME  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Rentals + billing +portals</a:t>
            </a:r>
            <a:endParaRPr kumimoji="0" sz="12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502920" y="4174236"/>
            <a:ext cx="4617720" cy="603504"/>
          </a:xfrm>
          <a:prstGeom prst="roundRect">
            <a:avLst>
              <a:gd name="adj" fmla="val 13636"/>
            </a:avLst>
          </a:prstGeom>
          <a:noFill/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731520" y="4174236"/>
            <a:ext cx="420624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C45"/>
              </a:buClr>
              <a:buSzPts val="1250"/>
              <a:buFont typeface="Arial"/>
              <a:buNone/>
              <a:tabLst/>
              <a:defRPr/>
            </a:pPr>
            <a:r>
              <a:rPr kumimoji="0" lang="en-US" sz="1250" b="1" i="0" u="none" strike="noStrike" kern="0" cap="none" spc="0" normalizeH="0" baseline="0" noProof="0" dirty="0">
                <a:ln>
                  <a:noFill/>
                </a:ln>
                <a:solidFill>
                  <a:srgbClr val="0C2C4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Avalara  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Sales T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ax</a:t>
            </a:r>
            <a:endParaRPr kumimoji="0" sz="12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502920" y="4910328"/>
            <a:ext cx="4617720" cy="603504"/>
          </a:xfrm>
          <a:prstGeom prst="roundRect">
            <a:avLst>
              <a:gd name="adj" fmla="val 13636"/>
            </a:avLst>
          </a:prstGeom>
          <a:noFill/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 txBox="1"/>
          <p:nvPr/>
        </p:nvSpPr>
        <p:spPr>
          <a:xfrm>
            <a:off x="731520" y="4910328"/>
            <a:ext cx="420624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C45"/>
              </a:buClr>
              <a:buSzPts val="1250"/>
              <a:buFont typeface="Arial"/>
              <a:buNone/>
              <a:tabLst/>
              <a:defRPr/>
            </a:pPr>
            <a:r>
              <a:rPr kumimoji="0" lang="en-US" sz="1250" b="1" i="0" u="none" strike="noStrike" kern="0" cap="none" spc="0" normalizeH="0" baseline="0" noProof="0">
                <a:ln>
                  <a:noFill/>
                </a:ln>
                <a:solidFill>
                  <a:srgbClr val="0C2C4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Acumatica   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GL / accounting</a:t>
            </a:r>
            <a:endParaRPr kumimoji="0" sz="12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02920" y="5646420"/>
            <a:ext cx="4617720" cy="603504"/>
          </a:xfrm>
          <a:prstGeom prst="roundRect">
            <a:avLst>
              <a:gd name="adj" fmla="val 13636"/>
            </a:avLst>
          </a:prstGeom>
          <a:solidFill>
            <a:srgbClr val="F4F6F9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731520" y="5646420"/>
            <a:ext cx="420624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C45"/>
              </a:buClr>
              <a:buSzPts val="1250"/>
              <a:buFont typeface="Arial"/>
              <a:buNone/>
              <a:tabLst/>
              <a:defRPr/>
            </a:pPr>
            <a:r>
              <a:rPr kumimoji="0" lang="en-US" sz="1250" b="1" i="0" u="none" strike="noStrike" kern="0" cap="none" spc="0" normalizeH="0" baseline="0" noProof="0">
                <a:ln>
                  <a:noFill/>
                </a:ln>
                <a:solidFill>
                  <a:srgbClr val="0C2C4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Snowflake + Power BI   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Data lake + BI</a:t>
            </a:r>
            <a:endParaRPr kumimoji="0" sz="12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5440680" y="3246120"/>
            <a:ext cx="786384" cy="896112"/>
          </a:xfrm>
          <a:prstGeom prst="chevron">
            <a:avLst>
              <a:gd name="adj" fmla="val 50000"/>
            </a:avLst>
          </a:prstGeom>
          <a:solidFill>
            <a:srgbClr val="123B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5212080" y="420624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B5D"/>
              </a:buClr>
              <a:buSzPts val="1000"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123B5D"/>
                </a:solidFill>
                <a:effectLst/>
                <a:uLnTx/>
                <a:uFillTx/>
                <a:latin typeface="Arial"/>
                <a:ea typeface="Calibri"/>
                <a:cs typeface="Arial"/>
                <a:sym typeface="Arial"/>
              </a:rPr>
              <a:t>OPTIMIZE</a:t>
            </a:r>
            <a:endParaRPr kumimoji="0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6291072" y="163015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0B48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6291072" y="1630154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FUTURE STATE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6291072" y="1968482"/>
            <a:ext cx="2587752" cy="1060704"/>
          </a:xfrm>
          <a:prstGeom prst="roundRect">
            <a:avLst>
              <a:gd name="adj" fmla="val 7759"/>
            </a:avLst>
          </a:prstGeom>
          <a:solidFill>
            <a:srgbClr val="D8F0E6"/>
          </a:solidFill>
          <a:ln w="12700" cap="flat" cmpd="sng">
            <a:solidFill>
              <a:srgbClr val="0D7E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6419088" y="1968482"/>
            <a:ext cx="2331720" cy="1060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C45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C2C4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Salesforce Sales Cloud (CRM)</a:t>
            </a:r>
            <a:br>
              <a:rPr kumimoji="0" lang="en-US" sz="95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r>
              <a:rPr kumimoji="0" lang="en-US" sz="95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Opportunity + forecasting + quoting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9025128" y="1984248"/>
            <a:ext cx="2587752" cy="1060704"/>
          </a:xfrm>
          <a:prstGeom prst="roundRect">
            <a:avLst>
              <a:gd name="adj" fmla="val 7759"/>
            </a:avLst>
          </a:prstGeom>
          <a:solidFill>
            <a:srgbClr val="D8F0E6"/>
          </a:solidFill>
          <a:ln w="12700" cap="flat" cmpd="sng">
            <a:solidFill>
              <a:srgbClr val="0D7E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9134856" y="1984248"/>
            <a:ext cx="2368296" cy="1060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C45"/>
              </a:buClr>
              <a:buSzPts val="1150"/>
              <a:buFont typeface="Arial"/>
              <a:buNone/>
              <a:tabLst/>
              <a:defRPr/>
            </a:pPr>
            <a:r>
              <a:rPr kumimoji="0" lang="en-US" sz="1150" b="1" i="0" u="none" strike="noStrike" kern="0" cap="none" spc="0" normalizeH="0" baseline="0" noProof="0" dirty="0">
                <a:ln>
                  <a:noFill/>
                </a:ln>
                <a:solidFill>
                  <a:srgbClr val="0C2C4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Salesforce apps + Ascent Rental suite + other Salesforce apps</a:t>
            </a:r>
            <a:br>
              <a:rPr kumimoji="0" lang="en-US" sz="1150" b="1" i="0" u="none" strike="noStrike" kern="0" cap="none" spc="0" normalizeH="0" baseline="0" noProof="0" dirty="0">
                <a:ln>
                  <a:noFill/>
                </a:ln>
                <a:solidFill>
                  <a:srgbClr val="0C2C4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Rental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sset management + Purchasing + WMS +Youreka mobile (offline) + Zenkraft (freight)+ CMMS (potentially)</a:t>
            </a:r>
            <a:endParaRPr kumimoji="0" sz="11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6291072" y="3175490"/>
            <a:ext cx="2587752" cy="932688"/>
          </a:xfrm>
          <a:prstGeom prst="roundRect">
            <a:avLst>
              <a:gd name="adj" fmla="val 8824"/>
            </a:avLst>
          </a:prstGeom>
          <a:solidFill>
            <a:srgbClr val="D8F0E6"/>
          </a:solidFill>
          <a:ln w="12700" cap="flat" cmpd="sng">
            <a:solidFill>
              <a:srgbClr val="0D7E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 txBox="1"/>
          <p:nvPr/>
        </p:nvSpPr>
        <p:spPr>
          <a:xfrm>
            <a:off x="6400800" y="3175490"/>
            <a:ext cx="2368296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C45"/>
              </a:buClr>
              <a:buSzPts val="1150"/>
              <a:buFont typeface="Arial"/>
              <a:buNone/>
              <a:tabLst/>
              <a:defRPr/>
            </a:pPr>
            <a:r>
              <a:rPr kumimoji="0" lang="en-US" sz="1150" b="1" i="0" u="none" strike="noStrike" kern="0" cap="none" spc="0" normalizeH="0" baseline="0" noProof="0" dirty="0">
                <a:ln>
                  <a:noFill/>
                </a:ln>
                <a:solidFill>
                  <a:srgbClr val="0C2C4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Salesforce Experience Cloud</a:t>
            </a:r>
            <a:br>
              <a:rPr kumimoji="0" lang="en-US" sz="1150" b="1" i="0" u="none" strike="noStrike" kern="0" cap="none" spc="0" normalizeH="0" baseline="0" noProof="0" dirty="0">
                <a:ln>
                  <a:noFill/>
                </a:ln>
                <a:solidFill>
                  <a:srgbClr val="0C2C4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r>
              <a:rPr kumimoji="0" lang="en-US" sz="95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Customer portal • self-service</a:t>
            </a:r>
            <a:endParaRPr kumimoji="0" sz="11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9025128" y="3175490"/>
            <a:ext cx="2587752" cy="932688"/>
          </a:xfrm>
          <a:prstGeom prst="roundRect">
            <a:avLst>
              <a:gd name="adj" fmla="val 8824"/>
            </a:avLst>
          </a:prstGeom>
          <a:solidFill>
            <a:srgbClr val="FCF1DD"/>
          </a:solidFill>
          <a:ln w="12700" cap="flat" cmpd="sng">
            <a:solidFill>
              <a:srgbClr val="E8A2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 txBox="1"/>
          <p:nvPr/>
        </p:nvSpPr>
        <p:spPr>
          <a:xfrm>
            <a:off x="9134856" y="3175490"/>
            <a:ext cx="2368296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C45"/>
              </a:buClr>
              <a:buSzPts val="1250"/>
              <a:buFont typeface="Arial"/>
              <a:buNone/>
              <a:tabLst/>
              <a:defRPr/>
            </a:pPr>
            <a:r>
              <a:rPr kumimoji="0" lang="en-US" sz="1250" b="1" i="0" u="none" strike="noStrike" kern="0" cap="none" spc="0" normalizeH="0" baseline="0" noProof="0" dirty="0">
                <a:ln>
                  <a:noFill/>
                </a:ln>
                <a:solidFill>
                  <a:srgbClr val="0C2C4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Solution under evaluation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RFID + inventory counting+ bulk QR scanning • Integrated with Salesforce</a:t>
            </a:r>
            <a:endParaRPr kumimoji="0" sz="900" b="0" i="0" u="none" strike="noStrike" kern="0" cap="none" spc="0" normalizeH="0" baseline="0" noProof="0" dirty="0">
              <a:ln>
                <a:noFill/>
              </a:ln>
              <a:solidFill>
                <a:srgbClr val="334155"/>
              </a:solidFill>
              <a:effectLst/>
              <a:uLnTx/>
              <a:uFillTx/>
              <a:latin typeface="Arial"/>
              <a:cs typeface="Arial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6291072" y="4254482"/>
            <a:ext cx="167335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 cap="flat" cmpd="sng">
            <a:solidFill>
              <a:srgbClr val="123B5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 txBox="1"/>
          <p:nvPr/>
        </p:nvSpPr>
        <p:spPr>
          <a:xfrm>
            <a:off x="6329776" y="4286762"/>
            <a:ext cx="1595943" cy="7766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C45"/>
              </a:buClr>
              <a:buSzPts val="1250"/>
              <a:buFont typeface="Arial"/>
              <a:buNone/>
              <a:tabLst/>
              <a:defRPr/>
            </a:pPr>
            <a:r>
              <a:rPr kumimoji="0" lang="en-US" sz="1250" b="1" i="0" u="none" strike="noStrike" kern="0" cap="none" spc="0" normalizeH="0" baseline="0" noProof="0" dirty="0">
                <a:ln>
                  <a:noFill/>
                </a:ln>
                <a:solidFill>
                  <a:srgbClr val="0C2C4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GoTransverse</a:t>
            </a:r>
            <a:br>
              <a:rPr kumimoji="0" lang="en-US" sz="1250" b="1" i="0" u="none" strike="noStrike" kern="0" cap="none" spc="0" normalizeH="0" baseline="0" noProof="0" dirty="0">
                <a:ln>
                  <a:noFill/>
                </a:ln>
                <a:solidFill>
                  <a:srgbClr val="0C2C4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r>
              <a:rPr kumimoji="0" lang="en-US" sz="95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Billing</a:t>
            </a:r>
            <a:endParaRPr kumimoji="0" sz="12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8087868" y="4254482"/>
            <a:ext cx="167335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 cap="flat" cmpd="sng">
            <a:solidFill>
              <a:srgbClr val="123B5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 txBox="1"/>
          <p:nvPr/>
        </p:nvSpPr>
        <p:spPr>
          <a:xfrm>
            <a:off x="8087868" y="4254482"/>
            <a:ext cx="1673352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C45"/>
              </a:buClr>
              <a:buSzPts val="1250"/>
              <a:buFont typeface="Arial"/>
              <a:buNone/>
              <a:tabLst/>
              <a:defRPr/>
            </a:pPr>
            <a:r>
              <a:rPr kumimoji="0" lang="en-US" sz="1250" b="1" i="0" u="none" strike="noStrike" kern="0" cap="none" spc="0" normalizeH="0" baseline="0" noProof="0" dirty="0">
                <a:ln>
                  <a:noFill/>
                </a:ln>
                <a:solidFill>
                  <a:srgbClr val="0C2C4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Avalara</a:t>
            </a:r>
            <a:br>
              <a:rPr kumimoji="0" lang="en-US" sz="1250" b="1" i="0" u="none" strike="noStrike" kern="0" cap="none" spc="0" normalizeH="0" baseline="0" noProof="0" dirty="0">
                <a:ln>
                  <a:noFill/>
                </a:ln>
                <a:solidFill>
                  <a:srgbClr val="0C2C4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r>
              <a:rPr kumimoji="0" lang="en-US" sz="95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Sales Tax</a:t>
            </a:r>
            <a:endParaRPr kumimoji="0" sz="950" b="0" i="0" u="none" strike="noStrike" kern="0" cap="none" spc="0" normalizeH="0" baseline="0" noProof="0" dirty="0">
              <a:ln>
                <a:noFill/>
              </a:ln>
              <a:solidFill>
                <a:srgbClr val="64748B"/>
              </a:solidFill>
              <a:effectLst/>
              <a:uLnTx/>
              <a:uFillTx/>
              <a:latin typeface="Arial"/>
              <a:cs typeface="Arial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9884664" y="4254482"/>
            <a:ext cx="167335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 cap="flat" cmpd="sng">
            <a:solidFill>
              <a:srgbClr val="123B5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 txBox="1"/>
          <p:nvPr/>
        </p:nvSpPr>
        <p:spPr>
          <a:xfrm>
            <a:off x="9884664" y="4254482"/>
            <a:ext cx="1673352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C45"/>
              </a:buClr>
              <a:buSzPts val="1250"/>
              <a:buFont typeface="Arial"/>
              <a:buNone/>
              <a:tabLst/>
              <a:defRPr/>
            </a:pPr>
            <a:r>
              <a:rPr kumimoji="0" lang="en-US" sz="1250" b="1" i="0" u="none" strike="noStrike" kern="0" cap="none" spc="0" normalizeH="0" baseline="0" noProof="0" dirty="0">
                <a:ln>
                  <a:noFill/>
                </a:ln>
                <a:solidFill>
                  <a:srgbClr val="0C2C4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Acumatica</a:t>
            </a:r>
            <a:br>
              <a:rPr kumimoji="0" lang="en-US" sz="1250" b="1" i="0" u="none" strike="noStrike" kern="0" cap="none" spc="0" normalizeH="0" baseline="0" noProof="0" dirty="0">
                <a:ln>
                  <a:noFill/>
                </a:ln>
                <a:solidFill>
                  <a:srgbClr val="0C2C4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r>
              <a:rPr kumimoji="0" lang="en-US" sz="95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GL / Accounting</a:t>
            </a:r>
            <a:endParaRPr kumimoji="0" sz="12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6291072" y="5223746"/>
            <a:ext cx="5321808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 cap="flat" cmpd="sng">
            <a:solidFill>
              <a:srgbClr val="123B5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6291072" y="5223746"/>
            <a:ext cx="532180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C45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C2C4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Snowflake + Power BI   </a:t>
            </a:r>
            <a:r>
              <a:rPr kumimoji="0" lang="en-US" sz="95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Data lake + BI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6446520" y="5861304"/>
            <a:ext cx="5321808" cy="512064"/>
          </a:xfrm>
          <a:prstGeom prst="roundRect">
            <a:avLst>
              <a:gd name="adj" fmla="val 14286"/>
            </a:avLst>
          </a:prstGeom>
          <a:solidFill>
            <a:srgbClr val="EAF7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 txBox="1"/>
          <p:nvPr/>
        </p:nvSpPr>
        <p:spPr>
          <a:xfrm>
            <a:off x="6583680" y="5861304"/>
            <a:ext cx="504748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D7E61"/>
              </a:buClr>
              <a:buSzPts val="980"/>
              <a:buFont typeface="Arial"/>
              <a:buNone/>
              <a:tabLst/>
              <a:defRPr/>
            </a:pPr>
            <a:r>
              <a:rPr kumimoji="0" lang="en-US" sz="980" b="1" i="0" u="none" strike="noStrike" kern="0" cap="none" spc="0" normalizeH="0" baseline="0" noProof="0" dirty="0">
                <a:ln>
                  <a:noFill/>
                </a:ln>
                <a:solidFill>
                  <a:srgbClr val="0D7E6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Design intent: Business core operations systems on the Salesforce platform + billing in specialized system + retained financial engines and business intelligence platform</a:t>
            </a:r>
            <a:endParaRPr kumimoji="0" sz="98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USME  |  Future Rentals Business System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 txBox="1"/>
          <p:nvPr/>
        </p:nvSpPr>
        <p:spPr>
          <a:xfrm>
            <a:off x="9402775" y="647395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Executive Review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94D252-C4AB-2AF2-5DC5-306A119AFF31}"/>
              </a:ext>
            </a:extLst>
          </p:cNvPr>
          <p:cNvSpPr/>
          <p:nvPr/>
        </p:nvSpPr>
        <p:spPr>
          <a:xfrm>
            <a:off x="11681460" y="1984248"/>
            <a:ext cx="331575" cy="3114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Wor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k a t 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B486"/>
              </a:buClr>
              <a:buSzPts val="1150"/>
              <a:buFont typeface="Arial"/>
              <a:buNone/>
              <a:tabLst/>
              <a:defRPr/>
            </a:pPr>
            <a:r>
              <a:rPr kumimoji="0" lang="en-US" sz="1150" b="1" i="0" u="none" strike="noStrike" kern="0" cap="none" spc="0" normalizeH="0" baseline="0" noProof="0">
                <a:ln>
                  <a:noFill/>
                </a:ln>
                <a:solidFill>
                  <a:srgbClr val="20B48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HOW IT RUNS</a:t>
            </a:r>
            <a:endParaRPr kumimoji="0" sz="11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484632" y="658368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C45"/>
              </a:buClr>
              <a:buSzPts val="3000"/>
              <a:buFont typeface="Arial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>
                <a:ln>
                  <a:noFill/>
                </a:ln>
                <a:solidFill>
                  <a:srgbClr val="0C2C4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Rental-to-cash preserves proven financial engines</a:t>
            </a: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 txBox="1"/>
          <p:nvPr/>
        </p:nvSpPr>
        <p:spPr>
          <a:xfrm>
            <a:off x="502920" y="1298448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Salesforce + Ascent orchestrates the front office; GT, Avalara and Acumatica remain the financial system of record.</a:t>
            </a:r>
            <a:endParaRPr kumimoji="0" sz="13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502920" y="1783080"/>
            <a:ext cx="11201400" cy="1078992"/>
          </a:xfrm>
          <a:prstGeom prst="rect">
            <a:avLst/>
          </a:prstGeom>
          <a:solidFill>
            <a:srgbClr val="EAF7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502920" y="1783080"/>
            <a:ext cx="73152" cy="1078992"/>
          </a:xfrm>
          <a:prstGeom prst="rect">
            <a:avLst/>
          </a:prstGeom>
          <a:solidFill>
            <a:srgbClr val="0D7E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685800" y="1837944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C45"/>
              </a:buClr>
              <a:buSzPts val="1150"/>
              <a:buFont typeface="Arial"/>
              <a:buNone/>
              <a:tabLst/>
              <a:defRPr/>
            </a:pPr>
            <a:r>
              <a:rPr kumimoji="0" lang="en-US" sz="1150" b="1" i="0" u="none" strike="noStrike" kern="0" cap="none" spc="0" normalizeH="0" baseline="0" noProof="0">
                <a:ln>
                  <a:noFill/>
                </a:ln>
                <a:solidFill>
                  <a:srgbClr val="0C2C4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Salesforce / Ascent</a:t>
            </a:r>
            <a:endParaRPr kumimoji="0" sz="11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502920" y="2916936"/>
            <a:ext cx="11201400" cy="1078992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502920" y="2916936"/>
            <a:ext cx="73152" cy="1078992"/>
          </a:xfrm>
          <a:prstGeom prst="rect">
            <a:avLst/>
          </a:prstGeom>
          <a:solidFill>
            <a:srgbClr val="3878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6" name="Google Shape;216;p7"/>
          <p:cNvSpPr txBox="1"/>
          <p:nvPr/>
        </p:nvSpPr>
        <p:spPr>
          <a:xfrm>
            <a:off x="685800" y="29718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C45"/>
              </a:buClr>
              <a:buSzPts val="1150"/>
              <a:buFont typeface="Arial"/>
              <a:buNone/>
              <a:tabLst/>
              <a:defRPr/>
            </a:pPr>
            <a:r>
              <a:rPr kumimoji="0" lang="en-US" sz="1150" b="1" i="0" u="none" strike="noStrike" kern="0" cap="none" spc="0" normalizeH="0" baseline="0" noProof="0" dirty="0">
                <a:ln>
                  <a:noFill/>
                </a:ln>
                <a:solidFill>
                  <a:srgbClr val="0C2C4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GoTransverse (GT)</a:t>
            </a:r>
            <a:endParaRPr kumimoji="0" sz="11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502920" y="4050792"/>
            <a:ext cx="11201400" cy="1078992"/>
          </a:xfrm>
          <a:prstGeom prst="rect">
            <a:avLst/>
          </a:prstGeom>
          <a:solidFill>
            <a:srgbClr val="FCF1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502920" y="4050792"/>
            <a:ext cx="73152" cy="1078992"/>
          </a:xfrm>
          <a:prstGeom prst="rect">
            <a:avLst/>
          </a:prstGeom>
          <a:solidFill>
            <a:srgbClr val="E8A2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9" name="Google Shape;219;p7"/>
          <p:cNvSpPr txBox="1"/>
          <p:nvPr/>
        </p:nvSpPr>
        <p:spPr>
          <a:xfrm>
            <a:off x="685800" y="4105656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C45"/>
              </a:buClr>
              <a:buSzPts val="1150"/>
              <a:buFont typeface="Arial"/>
              <a:buNone/>
              <a:tabLst/>
              <a:defRPr/>
            </a:pPr>
            <a:r>
              <a:rPr kumimoji="0" lang="en-US" sz="1150" b="1" i="0" u="none" strike="noStrike" kern="0" cap="none" spc="0" normalizeH="0" baseline="0" noProof="0">
                <a:ln>
                  <a:noFill/>
                </a:ln>
                <a:solidFill>
                  <a:srgbClr val="0C2C4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Avalara</a:t>
            </a:r>
            <a:endParaRPr kumimoji="0" sz="11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502920" y="5184648"/>
            <a:ext cx="11201400" cy="1078992"/>
          </a:xfrm>
          <a:prstGeom prst="rect">
            <a:avLst/>
          </a:prstGeom>
          <a:solidFill>
            <a:srgbClr val="ECF3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502920" y="5184648"/>
            <a:ext cx="73152" cy="1078992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2" name="Google Shape;222;p7"/>
          <p:cNvSpPr txBox="1"/>
          <p:nvPr/>
        </p:nvSpPr>
        <p:spPr>
          <a:xfrm>
            <a:off x="685800" y="523951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C45"/>
              </a:buClr>
              <a:buSzPts val="1150"/>
              <a:buFont typeface="Arial"/>
              <a:buNone/>
              <a:tabLst/>
              <a:defRPr/>
            </a:pPr>
            <a:r>
              <a:rPr kumimoji="0" lang="en-US" sz="1150" b="1" i="0" u="none" strike="noStrike" kern="0" cap="none" spc="0" normalizeH="0" baseline="0" noProof="0">
                <a:ln>
                  <a:noFill/>
                </a:ln>
                <a:solidFill>
                  <a:srgbClr val="0C2C4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Acumatica</a:t>
            </a:r>
            <a:endParaRPr kumimoji="0" sz="11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2423160" y="2130552"/>
            <a:ext cx="157276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5875" cap="flat" cmpd="sng">
            <a:solidFill>
              <a:srgbClr val="0D7E61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A7B4C2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4" name="Google Shape;224;p7"/>
          <p:cNvSpPr txBox="1"/>
          <p:nvPr/>
        </p:nvSpPr>
        <p:spPr>
          <a:xfrm>
            <a:off x="2468880" y="2130552"/>
            <a:ext cx="148132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0"/>
              <a:buFont typeface="Arial"/>
              <a:buNone/>
              <a:tabLst/>
              <a:defRPr/>
            </a:pPr>
            <a:r>
              <a:rPr kumimoji="0" lang="en-US" sz="93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Customer profile</a:t>
            </a:r>
            <a:endParaRPr kumimoji="0" sz="93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0"/>
              <a:buFont typeface="Arial"/>
              <a:buNone/>
              <a:tabLst/>
              <a:defRPr/>
            </a:pPr>
            <a:r>
              <a:rPr kumimoji="0" lang="en-US" sz="93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created / updated</a:t>
            </a:r>
            <a:endParaRPr kumimoji="0" sz="93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4306824" y="2130552"/>
            <a:ext cx="157276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5875" cap="flat" cmpd="sng">
            <a:solidFill>
              <a:srgbClr val="0D7E61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A7B4C2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6" name="Google Shape;226;p7"/>
          <p:cNvSpPr txBox="1"/>
          <p:nvPr/>
        </p:nvSpPr>
        <p:spPr>
          <a:xfrm>
            <a:off x="4352544" y="2130552"/>
            <a:ext cx="148132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0"/>
              <a:buFont typeface="Arial"/>
              <a:buNone/>
              <a:tabLst/>
              <a:defRPr/>
            </a:pPr>
            <a:r>
              <a:rPr kumimoji="0" lang="en-US" sz="93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Rental start / stop /</a:t>
            </a:r>
            <a:endParaRPr kumimoji="0" sz="93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0"/>
              <a:buFont typeface="Arial"/>
              <a:buNone/>
              <a:tabLst/>
              <a:defRPr/>
            </a:pPr>
            <a:r>
              <a:rPr kumimoji="0" lang="en-US" sz="93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swap billing order</a:t>
            </a:r>
            <a:endParaRPr kumimoji="0" sz="93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6190488" y="2130552"/>
            <a:ext cx="157276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5875" cap="flat" cmpd="sng">
            <a:solidFill>
              <a:srgbClr val="0D7E61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A7B4C2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8" name="Google Shape;228;p7"/>
          <p:cNvSpPr txBox="1"/>
          <p:nvPr/>
        </p:nvSpPr>
        <p:spPr>
          <a:xfrm>
            <a:off x="6236208" y="2130552"/>
            <a:ext cx="148132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0"/>
              <a:buFont typeface="Arial"/>
              <a:buNone/>
              <a:tabLst/>
              <a:defRPr/>
            </a:pPr>
            <a:r>
              <a:rPr kumimoji="0" lang="en-US" sz="93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Pull invoice</a:t>
            </a:r>
            <a:endParaRPr kumimoji="0" sz="93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0"/>
              <a:buFont typeface="Arial"/>
              <a:buNone/>
              <a:tabLst/>
              <a:defRPr/>
            </a:pPr>
            <a:r>
              <a:rPr kumimoji="0" lang="en-US" sz="93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charges</a:t>
            </a:r>
            <a:endParaRPr kumimoji="0" sz="93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8074152" y="2130552"/>
            <a:ext cx="157276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5875" cap="flat" cmpd="sng">
            <a:solidFill>
              <a:srgbClr val="0D7E61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A7B4C2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0" name="Google Shape;230;p7"/>
          <p:cNvSpPr txBox="1"/>
          <p:nvPr/>
        </p:nvSpPr>
        <p:spPr>
          <a:xfrm>
            <a:off x="8119872" y="2130552"/>
            <a:ext cx="148132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0"/>
              <a:buFont typeface="Arial"/>
              <a:buNone/>
              <a:tabLst/>
              <a:defRPr/>
            </a:pPr>
            <a:r>
              <a:rPr kumimoji="0" lang="en-US" sz="93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Render invoice with</a:t>
            </a:r>
            <a:endParaRPr kumimoji="0" sz="93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0"/>
              <a:buFont typeface="Arial"/>
              <a:buNone/>
              <a:tabLst/>
              <a:defRPr/>
            </a:pPr>
            <a:r>
              <a:rPr kumimoji="0" lang="en-US" sz="93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protected context</a:t>
            </a:r>
            <a:endParaRPr kumimoji="0" sz="93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9957816" y="2130552"/>
            <a:ext cx="157276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5875" cap="flat" cmpd="sng">
            <a:solidFill>
              <a:srgbClr val="0D7E61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A7B4C2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 txBox="1"/>
          <p:nvPr/>
        </p:nvSpPr>
        <p:spPr>
          <a:xfrm>
            <a:off x="10003536" y="2130552"/>
            <a:ext cx="148132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0"/>
              <a:buFont typeface="Arial"/>
              <a:buNone/>
              <a:tabLst/>
              <a:defRPr/>
            </a:pPr>
            <a:r>
              <a:rPr kumimoji="0" lang="en-US" sz="93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Review /</a:t>
            </a:r>
            <a:endParaRPr kumimoji="0" sz="93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0"/>
              <a:buFont typeface="Arial"/>
              <a:buNone/>
              <a:tabLst/>
              <a:defRPr/>
            </a:pPr>
            <a:r>
              <a:rPr kumimoji="0" lang="en-US" sz="93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approve</a:t>
            </a:r>
            <a:endParaRPr kumimoji="0" sz="93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2423160" y="3264408"/>
            <a:ext cx="157276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5875" cap="flat" cmpd="sng">
            <a:solidFill>
              <a:srgbClr val="3878C7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A7B4C2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 txBox="1"/>
          <p:nvPr/>
        </p:nvSpPr>
        <p:spPr>
          <a:xfrm>
            <a:off x="2468880" y="3264408"/>
            <a:ext cx="148132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0"/>
              <a:buFont typeface="Arial"/>
              <a:buNone/>
              <a:tabLst/>
              <a:defRPr/>
            </a:pPr>
            <a:r>
              <a:rPr kumimoji="0" lang="en-US" sz="93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Customer profile</a:t>
            </a:r>
            <a:endParaRPr kumimoji="0" sz="93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0"/>
              <a:buFont typeface="Arial"/>
              <a:buNone/>
              <a:tabLst/>
              <a:defRPr/>
            </a:pPr>
            <a:r>
              <a:rPr kumimoji="0" lang="en-US" sz="93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created / updated</a:t>
            </a:r>
            <a:endParaRPr kumimoji="0" sz="93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4306824" y="3264408"/>
            <a:ext cx="157276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5875" cap="flat" cmpd="sng">
            <a:solidFill>
              <a:srgbClr val="3878C7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A7B4C2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 txBox="1"/>
          <p:nvPr/>
        </p:nvSpPr>
        <p:spPr>
          <a:xfrm>
            <a:off x="4352544" y="3264408"/>
            <a:ext cx="148132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0"/>
              <a:buFont typeface="Arial"/>
              <a:buNone/>
              <a:tabLst/>
              <a:defRPr/>
            </a:pPr>
            <a:r>
              <a:rPr kumimoji="0" lang="en-US" sz="93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Order / service</a:t>
            </a:r>
            <a:endParaRPr kumimoji="0" sz="93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0"/>
              <a:buFont typeface="Arial"/>
              <a:buNone/>
              <a:tabLst/>
              <a:defRPr/>
            </a:pPr>
            <a:r>
              <a:rPr kumimoji="0" lang="en-US" sz="93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created</a:t>
            </a:r>
            <a:endParaRPr kumimoji="0" sz="93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6190488" y="3264408"/>
            <a:ext cx="157276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5875" cap="flat" cmpd="sng">
            <a:solidFill>
              <a:srgbClr val="3878C7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A7B4C2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8" name="Google Shape;238;p7"/>
          <p:cNvSpPr txBox="1"/>
          <p:nvPr/>
        </p:nvSpPr>
        <p:spPr>
          <a:xfrm>
            <a:off x="6236208" y="3264408"/>
            <a:ext cx="148132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0"/>
              <a:buFont typeface="Arial"/>
              <a:buNone/>
              <a:tabLst/>
              <a:defRPr/>
            </a:pPr>
            <a:r>
              <a:rPr kumimoji="0" lang="en-US" sz="93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Bill cycle</a:t>
            </a:r>
            <a:endParaRPr kumimoji="0" sz="93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0"/>
              <a:buFont typeface="Arial"/>
              <a:buNone/>
              <a:tabLst/>
              <a:defRPr/>
            </a:pPr>
            <a:r>
              <a:rPr kumimoji="0" lang="en-US" sz="93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executed</a:t>
            </a:r>
            <a:endParaRPr kumimoji="0" sz="93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8074152" y="3264408"/>
            <a:ext cx="157276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5875" cap="flat" cmpd="sng">
            <a:solidFill>
              <a:srgbClr val="3878C7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A7B4C2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0" name="Google Shape;240;p7"/>
          <p:cNvSpPr txBox="1"/>
          <p:nvPr/>
        </p:nvSpPr>
        <p:spPr>
          <a:xfrm>
            <a:off x="8119872" y="3264408"/>
            <a:ext cx="148132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0"/>
              <a:buFont typeface="Arial"/>
              <a:buNone/>
              <a:tabLst/>
              <a:defRPr/>
            </a:pPr>
            <a:r>
              <a:rPr kumimoji="0" lang="en-US" sz="93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Invoice charges</a:t>
            </a:r>
            <a:endParaRPr kumimoji="0" sz="93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0"/>
              <a:buFont typeface="Arial"/>
              <a:buNone/>
              <a:tabLst/>
              <a:defRPr/>
            </a:pPr>
            <a:r>
              <a:rPr kumimoji="0" lang="en-US" sz="93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created</a:t>
            </a:r>
            <a:endParaRPr kumimoji="0" sz="93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9957816" y="3264408"/>
            <a:ext cx="157276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5875" cap="flat" cmpd="sng">
            <a:solidFill>
              <a:srgbClr val="3878C7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A7B4C2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 txBox="1"/>
          <p:nvPr/>
        </p:nvSpPr>
        <p:spPr>
          <a:xfrm>
            <a:off x="10003536" y="3264408"/>
            <a:ext cx="148132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0"/>
              <a:buFont typeface="Arial"/>
              <a:buNone/>
              <a:tabLst/>
              <a:defRPr/>
            </a:pPr>
            <a:r>
              <a:rPr kumimoji="0" lang="en-US" sz="93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Bill cycle</a:t>
            </a:r>
            <a:endParaRPr kumimoji="0" sz="93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0"/>
              <a:buFont typeface="Arial"/>
              <a:buNone/>
              <a:tabLst/>
              <a:defRPr/>
            </a:pPr>
            <a:r>
              <a:rPr kumimoji="0" lang="en-US" sz="93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approved</a:t>
            </a:r>
            <a:endParaRPr kumimoji="0" sz="93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6190488" y="4398264"/>
            <a:ext cx="157276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5875" cap="flat" cmpd="sng">
            <a:solidFill>
              <a:srgbClr val="E8A23A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A7B4C2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 txBox="1"/>
          <p:nvPr/>
        </p:nvSpPr>
        <p:spPr>
          <a:xfrm>
            <a:off x="6236208" y="4398264"/>
            <a:ext cx="148132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0"/>
              <a:buFont typeface="Arial"/>
              <a:buNone/>
              <a:tabLst/>
              <a:defRPr/>
            </a:pPr>
            <a:r>
              <a:rPr kumimoji="0" lang="en-US" sz="93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Tax rates +</a:t>
            </a:r>
            <a:endParaRPr kumimoji="0" sz="93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0"/>
              <a:buFont typeface="Arial"/>
              <a:buNone/>
              <a:tabLst/>
              <a:defRPr/>
            </a:pPr>
            <a:r>
              <a:rPr kumimoji="0" lang="en-US" sz="93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exemptions</a:t>
            </a:r>
            <a:endParaRPr kumimoji="0" sz="93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2423160" y="5532120"/>
            <a:ext cx="157276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5875" cap="flat" cmpd="sng">
            <a:solidFill>
              <a:srgbClr val="123B5D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A7B4C2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 txBox="1"/>
          <p:nvPr/>
        </p:nvSpPr>
        <p:spPr>
          <a:xfrm>
            <a:off x="2468880" y="5532120"/>
            <a:ext cx="148132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0"/>
              <a:buFont typeface="Arial"/>
              <a:buNone/>
              <a:tabLst/>
              <a:defRPr/>
            </a:pPr>
            <a:r>
              <a:rPr kumimoji="0" lang="en-US" sz="93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Customer profile</a:t>
            </a:r>
            <a:endParaRPr kumimoji="0" sz="93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0"/>
              <a:buFont typeface="Arial"/>
              <a:buNone/>
              <a:tabLst/>
              <a:defRPr/>
            </a:pPr>
            <a:r>
              <a:rPr kumimoji="0" lang="en-US" sz="93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created / updated</a:t>
            </a:r>
            <a:endParaRPr kumimoji="0" sz="93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6190488" y="5532120"/>
            <a:ext cx="157276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5875" cap="flat" cmpd="sng">
            <a:solidFill>
              <a:srgbClr val="123B5D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A7B4C2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 txBox="1"/>
          <p:nvPr/>
        </p:nvSpPr>
        <p:spPr>
          <a:xfrm>
            <a:off x="6236208" y="5532120"/>
            <a:ext cx="148132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0"/>
              <a:buFont typeface="Arial"/>
              <a:buNone/>
              <a:tabLst/>
              <a:defRPr/>
            </a:pPr>
            <a:r>
              <a:rPr kumimoji="0" lang="en-US" sz="93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Receive GT-C /</a:t>
            </a:r>
            <a:endParaRPr kumimoji="0" sz="93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0"/>
              <a:buFont typeface="Arial"/>
              <a:buNone/>
              <a:tabLst/>
              <a:defRPr/>
            </a:pPr>
            <a:r>
              <a:rPr kumimoji="0" lang="en-US" sz="93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financial extract</a:t>
            </a:r>
            <a:endParaRPr kumimoji="0" sz="93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8074152" y="5532120"/>
            <a:ext cx="157276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5875" cap="flat" cmpd="sng">
            <a:solidFill>
              <a:srgbClr val="123B5D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A7B4C2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0" name="Google Shape;250;p7"/>
          <p:cNvSpPr txBox="1"/>
          <p:nvPr/>
        </p:nvSpPr>
        <p:spPr>
          <a:xfrm>
            <a:off x="8119872" y="5532120"/>
            <a:ext cx="148132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0"/>
              <a:buFont typeface="Arial"/>
              <a:buNone/>
              <a:tabLst/>
              <a:defRPr/>
            </a:pPr>
            <a:r>
              <a:rPr kumimoji="0" lang="en-US" sz="93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Balanced</a:t>
            </a:r>
            <a:endParaRPr kumimoji="0" sz="93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0"/>
              <a:buFont typeface="Arial"/>
              <a:buNone/>
              <a:tabLst/>
              <a:defRPr/>
            </a:pPr>
            <a:r>
              <a:rPr kumimoji="0" lang="en-US" sz="93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status</a:t>
            </a:r>
            <a:endParaRPr kumimoji="0" sz="93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9957816" y="5532120"/>
            <a:ext cx="157276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5875" cap="flat" cmpd="sng">
            <a:solidFill>
              <a:srgbClr val="123B5D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A7B4C2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2" name="Google Shape;252;p7"/>
          <p:cNvSpPr txBox="1"/>
          <p:nvPr/>
        </p:nvSpPr>
        <p:spPr>
          <a:xfrm>
            <a:off x="10003536" y="5532120"/>
            <a:ext cx="148132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30"/>
              <a:buFont typeface="Arial"/>
              <a:buNone/>
              <a:tabLst/>
              <a:defRPr/>
            </a:pPr>
            <a:r>
              <a:rPr kumimoji="0" lang="en-US" sz="93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Finalize → Open</a:t>
            </a:r>
            <a:endParaRPr kumimoji="0" sz="93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p7"/>
          <p:cNvCxnSpPr/>
          <p:nvPr/>
        </p:nvCxnSpPr>
        <p:spPr>
          <a:xfrm>
            <a:off x="3209544" y="2734056"/>
            <a:ext cx="0" cy="530352"/>
          </a:xfrm>
          <a:prstGeom prst="straightConnector1">
            <a:avLst/>
          </a:prstGeom>
          <a:noFill/>
          <a:ln w="19050" cap="flat" cmpd="sng">
            <a:solidFill>
              <a:srgbClr val="64748B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4" name="Google Shape;254;p7"/>
          <p:cNvCxnSpPr/>
          <p:nvPr/>
        </p:nvCxnSpPr>
        <p:spPr>
          <a:xfrm>
            <a:off x="5093208" y="2734056"/>
            <a:ext cx="0" cy="530352"/>
          </a:xfrm>
          <a:prstGeom prst="straightConnector1">
            <a:avLst/>
          </a:prstGeom>
          <a:noFill/>
          <a:ln w="19050" cap="flat" cmpd="sng">
            <a:solidFill>
              <a:srgbClr val="64748B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5" name="Google Shape;255;p7"/>
          <p:cNvCxnSpPr/>
          <p:nvPr/>
        </p:nvCxnSpPr>
        <p:spPr>
          <a:xfrm>
            <a:off x="3209544" y="3867912"/>
            <a:ext cx="0" cy="1664208"/>
          </a:xfrm>
          <a:prstGeom prst="straightConnector1">
            <a:avLst/>
          </a:prstGeom>
          <a:noFill/>
          <a:ln w="19050" cap="flat" cmpd="sng">
            <a:solidFill>
              <a:srgbClr val="64748B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6" name="Google Shape;256;p7"/>
          <p:cNvCxnSpPr/>
          <p:nvPr/>
        </p:nvCxnSpPr>
        <p:spPr>
          <a:xfrm>
            <a:off x="7763256" y="3566160"/>
            <a:ext cx="310896" cy="0"/>
          </a:xfrm>
          <a:prstGeom prst="straightConnector1">
            <a:avLst/>
          </a:prstGeom>
          <a:noFill/>
          <a:ln w="19050" cap="flat" cmpd="sng">
            <a:solidFill>
              <a:srgbClr val="64748B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7" name="Google Shape;257;p7"/>
          <p:cNvCxnSpPr/>
          <p:nvPr/>
        </p:nvCxnSpPr>
        <p:spPr>
          <a:xfrm rot="10800000">
            <a:off x="6976872" y="3867912"/>
            <a:ext cx="0" cy="530352"/>
          </a:xfrm>
          <a:prstGeom prst="straightConnector1">
            <a:avLst/>
          </a:prstGeom>
          <a:noFill/>
          <a:ln w="19050" cap="flat" cmpd="sng">
            <a:solidFill>
              <a:srgbClr val="E8A23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8" name="Google Shape;258;p7"/>
          <p:cNvCxnSpPr/>
          <p:nvPr/>
        </p:nvCxnSpPr>
        <p:spPr>
          <a:xfrm rot="10800000">
            <a:off x="6976872" y="2734056"/>
            <a:ext cx="1883664" cy="530352"/>
          </a:xfrm>
          <a:prstGeom prst="straightConnector1">
            <a:avLst/>
          </a:prstGeom>
          <a:noFill/>
          <a:ln w="19050" cap="flat" cmpd="sng">
            <a:solidFill>
              <a:srgbClr val="64748B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9" name="Google Shape;259;p7"/>
          <p:cNvCxnSpPr/>
          <p:nvPr/>
        </p:nvCxnSpPr>
        <p:spPr>
          <a:xfrm>
            <a:off x="9509760" y="2432304"/>
            <a:ext cx="448056" cy="0"/>
          </a:xfrm>
          <a:prstGeom prst="straightConnector1">
            <a:avLst/>
          </a:prstGeom>
          <a:noFill/>
          <a:ln w="19050" cap="flat" cmpd="sng">
            <a:solidFill>
              <a:srgbClr val="64748B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0" name="Google Shape;260;p7"/>
          <p:cNvCxnSpPr/>
          <p:nvPr/>
        </p:nvCxnSpPr>
        <p:spPr>
          <a:xfrm>
            <a:off x="10744200" y="2734056"/>
            <a:ext cx="0" cy="530352"/>
          </a:xfrm>
          <a:prstGeom prst="straightConnector1">
            <a:avLst/>
          </a:prstGeom>
          <a:noFill/>
          <a:ln w="19050" cap="flat" cmpd="sng">
            <a:solidFill>
              <a:srgbClr val="64748B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1" name="Google Shape;261;p7"/>
          <p:cNvCxnSpPr/>
          <p:nvPr/>
        </p:nvCxnSpPr>
        <p:spPr>
          <a:xfrm flipH="1">
            <a:off x="6976872" y="3867912"/>
            <a:ext cx="3767328" cy="1664208"/>
          </a:xfrm>
          <a:prstGeom prst="straightConnector1">
            <a:avLst/>
          </a:prstGeom>
          <a:noFill/>
          <a:ln w="19050" cap="flat" cmpd="sng">
            <a:solidFill>
              <a:srgbClr val="E8A23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2" name="Google Shape;262;p7"/>
          <p:cNvCxnSpPr/>
          <p:nvPr/>
        </p:nvCxnSpPr>
        <p:spPr>
          <a:xfrm>
            <a:off x="7763256" y="5833872"/>
            <a:ext cx="310896" cy="0"/>
          </a:xfrm>
          <a:prstGeom prst="straightConnector1">
            <a:avLst/>
          </a:prstGeom>
          <a:noFill/>
          <a:ln w="19050" cap="flat" cmpd="sng">
            <a:solidFill>
              <a:srgbClr val="64748B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3" name="Google Shape;263;p7"/>
          <p:cNvCxnSpPr/>
          <p:nvPr/>
        </p:nvCxnSpPr>
        <p:spPr>
          <a:xfrm>
            <a:off x="9646920" y="5833872"/>
            <a:ext cx="310896" cy="0"/>
          </a:xfrm>
          <a:prstGeom prst="straightConnector1">
            <a:avLst/>
          </a:prstGeom>
          <a:noFill/>
          <a:ln w="19050" cap="flat" cmpd="sng">
            <a:solidFill>
              <a:srgbClr val="64748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4" name="Google Shape;264;p7"/>
          <p:cNvSpPr txBox="1"/>
          <p:nvPr/>
        </p:nvSpPr>
        <p:spPr>
          <a:xfrm>
            <a:off x="5623560" y="403250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0" i="1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Auto-approve?  No → review  /  Yes → approve</a:t>
            </a:r>
            <a:endParaRPr kumimoji="0" sz="8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USME  |  Future Rentals Business System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 txBox="1"/>
          <p:nvPr/>
        </p:nvSpPr>
        <p:spPr>
          <a:xfrm>
            <a:off x="9402775" y="647395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Executive Review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0B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COVERAGE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C2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Ascent evaluated across every business-critical domain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capability requirements assessed across four operating domains and seven selection gates — the large majority met natively or through configuration.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10512"/>
            <a:ext cx="11183112" cy="786384"/>
          </a:xfrm>
          <a:prstGeom prst="roundRect">
            <a:avLst>
              <a:gd name="adj" fmla="val 11628"/>
            </a:avLst>
          </a:prstGeom>
          <a:solidFill>
            <a:srgbClr val="123B5D"/>
          </a:solidFill>
          <a:ln/>
          <a:effectLst>
            <a:outerShdw blurRad="88900" dist="25400" dir="5400000" algn="bl" rotWithShape="0">
              <a:srgbClr val="A7B4C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810512"/>
            <a:ext cx="233857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</a:t>
            </a:r>
            <a:r>
              <a:rPr lang="en-US" sz="1100" dirty="0">
                <a:solidFill>
                  <a:srgbClr val="B9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domains reviewed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98698" y="1975104"/>
            <a:ext cx="0" cy="457200"/>
          </a:xfrm>
          <a:prstGeom prst="line">
            <a:avLst/>
          </a:prstGeom>
          <a:noFill/>
          <a:ln w="12700">
            <a:solidFill>
              <a:srgbClr val="2C56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618738" y="1810512"/>
            <a:ext cx="233857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  </a:t>
            </a:r>
            <a:r>
              <a:rPr lang="en-US" sz="1100" dirty="0">
                <a:solidFill>
                  <a:srgbClr val="B9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requirements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094476" y="1975104"/>
            <a:ext cx="0" cy="457200"/>
          </a:xfrm>
          <a:prstGeom prst="line">
            <a:avLst/>
          </a:prstGeom>
          <a:noFill/>
          <a:ln w="12700">
            <a:solidFill>
              <a:srgbClr val="2C56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14516" y="1810512"/>
            <a:ext cx="233857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   </a:t>
            </a:r>
            <a:r>
              <a:rPr lang="en-US" sz="1100" dirty="0">
                <a:solidFill>
                  <a:srgbClr val="B9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natively or by configuration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890254" y="1975104"/>
            <a:ext cx="0" cy="457200"/>
          </a:xfrm>
          <a:prstGeom prst="line">
            <a:avLst/>
          </a:prstGeom>
          <a:noFill/>
          <a:ln w="12700">
            <a:solidFill>
              <a:srgbClr val="2C56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210294" y="1810512"/>
            <a:ext cx="233857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   </a:t>
            </a:r>
            <a:r>
              <a:rPr lang="en-US" sz="1100" dirty="0">
                <a:solidFill>
                  <a:srgbClr val="B9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gates passed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" y="2752344"/>
            <a:ext cx="146304" cy="146304"/>
          </a:xfrm>
          <a:prstGeom prst="ellipse">
            <a:avLst/>
          </a:prstGeom>
          <a:solidFill>
            <a:srgbClr val="20B4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04088" y="2679192"/>
            <a:ext cx="1452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(native)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77110" y="2752344"/>
            <a:ext cx="146304" cy="146304"/>
          </a:xfrm>
          <a:prstGeom prst="ellipse">
            <a:avLst/>
          </a:prstGeom>
          <a:solidFill>
            <a:srgbClr val="3878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2678278" y="2679192"/>
            <a:ext cx="11713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69664" y="2752344"/>
            <a:ext cx="146304" cy="146304"/>
          </a:xfrm>
          <a:prstGeom prst="ellipse">
            <a:avLst/>
          </a:prstGeom>
          <a:solidFill>
            <a:srgbClr val="E8A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370832" y="2679192"/>
            <a:ext cx="1593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evaluate further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2679192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'To evaluate further' = light extension, custom, or third-party component — scoped in the services estimate.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072384"/>
            <a:ext cx="1118311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A7B4C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3232" y="3172968"/>
            <a:ext cx="457200" cy="457200"/>
          </a:xfrm>
          <a:prstGeom prst="ellipse">
            <a:avLst/>
          </a:prstGeom>
          <a:solidFill>
            <a:srgbClr val="123B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0" descr="/home/claude/icons/clipboard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3296412"/>
            <a:ext cx="210312" cy="21031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325880" y="312724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C2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Rental Order Lifecycle
</a:t>
            </a:r>
            <a:r>
              <a:rPr lang="en-US" sz="8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capture → validation → fulfilment → activation → billing → change → termination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572000" y="3246120"/>
            <a:ext cx="1668780" cy="310896"/>
          </a:xfrm>
          <a:prstGeom prst="rect">
            <a:avLst/>
          </a:prstGeom>
          <a:solidFill>
            <a:srgbClr val="20B4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4572000" y="3246120"/>
            <a:ext cx="16687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240780" y="3246120"/>
            <a:ext cx="4450080" cy="310896"/>
          </a:xfrm>
          <a:prstGeom prst="rect">
            <a:avLst/>
          </a:prstGeom>
          <a:solidFill>
            <a:srgbClr val="3878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6240780" y="3246120"/>
            <a:ext cx="445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10690860" y="3246120"/>
            <a:ext cx="556260" cy="310896"/>
          </a:xfrm>
          <a:prstGeom prst="rect">
            <a:avLst/>
          </a:prstGeom>
          <a:solidFill>
            <a:srgbClr val="E8A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10690860" y="3246120"/>
            <a:ext cx="556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02920" y="3867912"/>
            <a:ext cx="1118311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A7B4C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713232" y="3968496"/>
            <a:ext cx="457200" cy="457200"/>
          </a:xfrm>
          <a:prstGeom prst="ellipse">
            <a:avLst/>
          </a:prstGeom>
          <a:solidFill>
            <a:srgbClr val="123B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1" descr="/home/claude/icons/tru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" y="4091940"/>
            <a:ext cx="210312" cy="210312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1325880" y="392277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C2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Service Execution
</a:t>
            </a:r>
            <a:r>
              <a:rPr lang="en-US" sz="8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Work-order &amp; task model, mobile execution, vehicle stock, substitution, field exceptions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4572000" y="4041648"/>
            <a:ext cx="741680" cy="310896"/>
          </a:xfrm>
          <a:prstGeom prst="rect">
            <a:avLst/>
          </a:prstGeom>
          <a:solidFill>
            <a:srgbClr val="20B4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4572000" y="4041648"/>
            <a:ext cx="74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5313680" y="4041648"/>
            <a:ext cx="4450080" cy="310896"/>
          </a:xfrm>
          <a:prstGeom prst="rect">
            <a:avLst/>
          </a:prstGeom>
          <a:solidFill>
            <a:srgbClr val="3878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 txBox="1"/>
          <p:nvPr/>
        </p:nvSpPr>
        <p:spPr>
          <a:xfrm>
            <a:off x="5313680" y="4041648"/>
            <a:ext cx="445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9763760" y="4041648"/>
            <a:ext cx="1483360" cy="310896"/>
          </a:xfrm>
          <a:prstGeom prst="rect">
            <a:avLst/>
          </a:prstGeom>
          <a:solidFill>
            <a:srgbClr val="E8A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 txBox="1"/>
          <p:nvPr/>
        </p:nvSpPr>
        <p:spPr>
          <a:xfrm>
            <a:off x="9763760" y="4041648"/>
            <a:ext cx="148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502920" y="4663440"/>
            <a:ext cx="1118311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A7B4C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7"/>
          <p:cNvSpPr/>
          <p:nvPr/>
        </p:nvSpPr>
        <p:spPr>
          <a:xfrm>
            <a:off x="713232" y="4764024"/>
            <a:ext cx="457200" cy="457200"/>
          </a:xfrm>
          <a:prstGeom prst="ellipse">
            <a:avLst/>
          </a:prstGeom>
          <a:solidFill>
            <a:srgbClr val="123B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2" descr="/home/claude/icons/rotateLef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" y="4887468"/>
            <a:ext cx="210312" cy="210312"/>
          </a:xfrm>
          <a:prstGeom prst="rect">
            <a:avLst/>
          </a:prstGeom>
        </p:spPr>
      </p:pic>
      <p:sp>
        <p:nvSpPr>
          <p:cNvPr id="43" name="Text 38"/>
          <p:cNvSpPr txBox="1"/>
          <p:nvPr/>
        </p:nvSpPr>
        <p:spPr>
          <a:xfrm>
            <a:off x="1325880" y="471830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C2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Pickup, Return &amp; Recovery
</a:t>
            </a:r>
            <a:r>
              <a:rPr lang="en-US" sz="8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Pickup, bundle validation, loss &amp; damage handling, asset return &amp; charge processing</a:t>
            </a:r>
            <a:endParaRPr lang="en-US" sz="1250" dirty="0"/>
          </a:p>
        </p:txBody>
      </p:sp>
      <p:sp>
        <p:nvSpPr>
          <p:cNvPr id="44" name="Shape 39"/>
          <p:cNvSpPr/>
          <p:nvPr/>
        </p:nvSpPr>
        <p:spPr>
          <a:xfrm>
            <a:off x="4572000" y="4837176"/>
            <a:ext cx="1213658" cy="310896"/>
          </a:xfrm>
          <a:prstGeom prst="rect">
            <a:avLst/>
          </a:prstGeom>
          <a:solidFill>
            <a:srgbClr val="20B4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0"/>
          <p:cNvSpPr txBox="1"/>
          <p:nvPr/>
        </p:nvSpPr>
        <p:spPr>
          <a:xfrm>
            <a:off x="4572000" y="4837176"/>
            <a:ext cx="12136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46" name="Shape 41"/>
          <p:cNvSpPr/>
          <p:nvPr/>
        </p:nvSpPr>
        <p:spPr>
          <a:xfrm>
            <a:off x="5785658" y="4837176"/>
            <a:ext cx="3640975" cy="310896"/>
          </a:xfrm>
          <a:prstGeom prst="rect">
            <a:avLst/>
          </a:prstGeom>
          <a:solidFill>
            <a:srgbClr val="3878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2"/>
          <p:cNvSpPr txBox="1"/>
          <p:nvPr/>
        </p:nvSpPr>
        <p:spPr>
          <a:xfrm>
            <a:off x="5785658" y="4837176"/>
            <a:ext cx="3640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50" dirty="0"/>
          </a:p>
        </p:txBody>
      </p:sp>
      <p:sp>
        <p:nvSpPr>
          <p:cNvPr id="48" name="Shape 43"/>
          <p:cNvSpPr/>
          <p:nvPr/>
        </p:nvSpPr>
        <p:spPr>
          <a:xfrm>
            <a:off x="9426633" y="4837176"/>
            <a:ext cx="1820487" cy="310896"/>
          </a:xfrm>
          <a:prstGeom prst="rect">
            <a:avLst/>
          </a:prstGeom>
          <a:solidFill>
            <a:srgbClr val="E8A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4"/>
          <p:cNvSpPr txBox="1"/>
          <p:nvPr/>
        </p:nvSpPr>
        <p:spPr>
          <a:xfrm>
            <a:off x="9426633" y="4837176"/>
            <a:ext cx="18204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50" name="Shape 45"/>
          <p:cNvSpPr/>
          <p:nvPr/>
        </p:nvSpPr>
        <p:spPr>
          <a:xfrm>
            <a:off x="502920" y="5458968"/>
            <a:ext cx="1118311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A7B4C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6"/>
          <p:cNvSpPr/>
          <p:nvPr/>
        </p:nvSpPr>
        <p:spPr>
          <a:xfrm>
            <a:off x="713232" y="5559552"/>
            <a:ext cx="457200" cy="457200"/>
          </a:xfrm>
          <a:prstGeom prst="ellipse">
            <a:avLst/>
          </a:prstGeom>
          <a:solidFill>
            <a:srgbClr val="123B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2" name="Image 3" descr="/home/claude/icons/c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" y="5682996"/>
            <a:ext cx="210312" cy="210312"/>
          </a:xfrm>
          <a:prstGeom prst="rect">
            <a:avLst/>
          </a:prstGeom>
        </p:spPr>
      </p:pic>
      <p:sp>
        <p:nvSpPr>
          <p:cNvPr id="53" name="Text 47"/>
          <p:cNvSpPr txBox="1"/>
          <p:nvPr/>
        </p:nvSpPr>
        <p:spPr>
          <a:xfrm>
            <a:off x="1325880" y="55138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C2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Order Lifecycle
</a:t>
            </a:r>
            <a:r>
              <a:rPr lang="en-US" sz="8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→ order sub-types, procurement, fulfilment, inspection, invoicing, ownership transfer</a:t>
            </a:r>
            <a:endParaRPr lang="en-US" sz="1250" dirty="0"/>
          </a:p>
        </p:txBody>
      </p:sp>
      <p:sp>
        <p:nvSpPr>
          <p:cNvPr id="54" name="Shape 48"/>
          <p:cNvSpPr/>
          <p:nvPr/>
        </p:nvSpPr>
        <p:spPr>
          <a:xfrm>
            <a:off x="4572000" y="5632704"/>
            <a:ext cx="1026942" cy="310896"/>
          </a:xfrm>
          <a:prstGeom prst="rect">
            <a:avLst/>
          </a:prstGeom>
          <a:solidFill>
            <a:srgbClr val="20B4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49"/>
          <p:cNvSpPr txBox="1"/>
          <p:nvPr/>
        </p:nvSpPr>
        <p:spPr>
          <a:xfrm>
            <a:off x="4572000" y="5632704"/>
            <a:ext cx="10269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56" name="Shape 50"/>
          <p:cNvSpPr/>
          <p:nvPr/>
        </p:nvSpPr>
        <p:spPr>
          <a:xfrm>
            <a:off x="5598942" y="5632704"/>
            <a:ext cx="4621237" cy="310896"/>
          </a:xfrm>
          <a:prstGeom prst="rect">
            <a:avLst/>
          </a:prstGeom>
          <a:solidFill>
            <a:srgbClr val="3878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1"/>
          <p:cNvSpPr txBox="1"/>
          <p:nvPr/>
        </p:nvSpPr>
        <p:spPr>
          <a:xfrm>
            <a:off x="5598942" y="5632704"/>
            <a:ext cx="462123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50" dirty="0"/>
          </a:p>
        </p:txBody>
      </p:sp>
      <p:sp>
        <p:nvSpPr>
          <p:cNvPr id="58" name="Shape 52"/>
          <p:cNvSpPr/>
          <p:nvPr/>
        </p:nvSpPr>
        <p:spPr>
          <a:xfrm>
            <a:off x="10220178" y="5632704"/>
            <a:ext cx="1026942" cy="310896"/>
          </a:xfrm>
          <a:prstGeom prst="rect">
            <a:avLst/>
          </a:prstGeom>
          <a:solidFill>
            <a:srgbClr val="E8A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3"/>
          <p:cNvSpPr txBox="1"/>
          <p:nvPr/>
        </p:nvSpPr>
        <p:spPr>
          <a:xfrm>
            <a:off x="10220178" y="5632704"/>
            <a:ext cx="10269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60" name="Shape 54"/>
          <p:cNvSpPr/>
          <p:nvPr/>
        </p:nvSpPr>
        <p:spPr>
          <a:xfrm>
            <a:off x="502920" y="6053328"/>
            <a:ext cx="11183112" cy="310896"/>
          </a:xfrm>
          <a:prstGeom prst="roundRect">
            <a:avLst>
              <a:gd name="adj" fmla="val 23529"/>
            </a:avLst>
          </a:prstGeom>
          <a:solidFill>
            <a:srgbClr val="EAF7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5"/>
          <p:cNvSpPr txBox="1"/>
          <p:nvPr/>
        </p:nvSpPr>
        <p:spPr>
          <a:xfrm>
            <a:off x="731520" y="60533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7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takeaway:  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of 45 requirements are met natively or by configuration; the remaining 8 are scoped extensions — no capability gaps that block selection.</a:t>
            </a:r>
            <a:endParaRPr lang="en-US" sz="1050" dirty="0"/>
          </a:p>
        </p:txBody>
      </p:sp>
      <p:sp>
        <p:nvSpPr>
          <p:cNvPr id="62" name="Text 56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USME  |  Future Rentals Business System</a:t>
            </a:r>
            <a:endParaRPr lang="en-US" sz="900" dirty="0"/>
          </a:p>
        </p:txBody>
      </p:sp>
      <p:sp>
        <p:nvSpPr>
          <p:cNvPr id="63" name="Text 57"/>
          <p:cNvSpPr txBox="1"/>
          <p:nvPr/>
        </p:nvSpPr>
        <p:spPr>
          <a:xfrm>
            <a:off x="9402775" y="6492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Review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2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B486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20B486"/>
                </a:solidFill>
                <a:latin typeface="Arial"/>
                <a:ea typeface="Arial"/>
                <a:cs typeface="Arial"/>
                <a:sym typeface="Arial"/>
              </a:rPr>
              <a:t>ROLES &amp; RESPONSIBILITIES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2"/>
          <p:cNvSpPr txBox="1"/>
          <p:nvPr/>
        </p:nvSpPr>
        <p:spPr>
          <a:xfrm>
            <a:off x="484632" y="658368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FFFFFF"/>
              </a:buClr>
              <a:buSzPts val="2900"/>
            </a:pPr>
            <a:r>
              <a:rPr lang="en-US" sz="3000" b="1" dirty="0">
                <a:solidFill>
                  <a:srgbClr val="0C2C45"/>
                </a:solidFill>
                <a:ea typeface="Calibri"/>
              </a:rPr>
              <a:t>Two specialized teams, one integrated delivery</a:t>
            </a:r>
            <a:endParaRPr lang="en-US" sz="3000" b="1" dirty="0">
              <a:solidFill>
                <a:srgbClr val="0C2C45"/>
              </a:solidFill>
              <a:ea typeface="Calibri"/>
              <a:sym typeface="Calibri"/>
            </a:endParaRPr>
          </a:p>
        </p:txBody>
      </p:sp>
      <p:sp>
        <p:nvSpPr>
          <p:cNvPr id="467" name="Google Shape;467;p12"/>
          <p:cNvSpPr txBox="1"/>
          <p:nvPr/>
        </p:nvSpPr>
        <p:spPr>
          <a:xfrm>
            <a:off x="502920" y="1298448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lang="en-US" sz="1350" b="0" i="0" u="none" strike="noStrike" cap="none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Complementary scopes with a built-in validation layer — Durvah reviews architecture as Ascent delivers rentals.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2"/>
          <p:cNvSpPr/>
          <p:nvPr/>
        </p:nvSpPr>
        <p:spPr>
          <a:xfrm>
            <a:off x="502920" y="1783080"/>
            <a:ext cx="5504688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A7B4C2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2"/>
          <p:cNvSpPr/>
          <p:nvPr/>
        </p:nvSpPr>
        <p:spPr>
          <a:xfrm>
            <a:off x="502920" y="1783080"/>
            <a:ext cx="5504688" cy="603504"/>
          </a:xfrm>
          <a:prstGeom prst="roundRect">
            <a:avLst>
              <a:gd name="adj" fmla="val 13636"/>
            </a:avLst>
          </a:prstGeom>
          <a:solidFill>
            <a:srgbClr val="123B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2"/>
          <p:cNvSpPr/>
          <p:nvPr/>
        </p:nvSpPr>
        <p:spPr>
          <a:xfrm>
            <a:off x="502920" y="2084832"/>
            <a:ext cx="5504688" cy="301752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1" name="Google Shape;471;p12" descr="/home/claude/icons/gearW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19659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12"/>
          <p:cNvSpPr txBox="1"/>
          <p:nvPr/>
        </p:nvSpPr>
        <p:spPr>
          <a:xfrm>
            <a:off x="1143000" y="1783080"/>
            <a:ext cx="468172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FFFFFF"/>
              </a:buClr>
              <a:buSzPts val="1400"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Durvah — Salesforce platform (</a:t>
            </a:r>
            <a:r>
              <a:rPr lang="en-US" dirty="0">
                <a:solidFill>
                  <a:srgbClr val="7EE2C0"/>
                </a:solidFill>
              </a:rPr>
              <a:t>Salesforce-specialized team (India) 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2"/>
          <p:cNvSpPr/>
          <p:nvPr/>
        </p:nvSpPr>
        <p:spPr>
          <a:xfrm>
            <a:off x="795528" y="2633472"/>
            <a:ext cx="91440" cy="91440"/>
          </a:xfrm>
          <a:prstGeom prst="ellipse">
            <a:avLst/>
          </a:prstGeom>
          <a:solidFill>
            <a:srgbClr val="0D7E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2"/>
          <p:cNvSpPr txBox="1"/>
          <p:nvPr/>
        </p:nvSpPr>
        <p:spPr>
          <a:xfrm>
            <a:off x="996696" y="2532888"/>
            <a:ext cx="4727448" cy="306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Salesforce platform functionality &amp; customizations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2"/>
          <p:cNvSpPr/>
          <p:nvPr/>
        </p:nvSpPr>
        <p:spPr>
          <a:xfrm>
            <a:off x="795528" y="2939796"/>
            <a:ext cx="91440" cy="91440"/>
          </a:xfrm>
          <a:prstGeom prst="ellipse">
            <a:avLst/>
          </a:prstGeom>
          <a:solidFill>
            <a:srgbClr val="0D7E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2"/>
          <p:cNvSpPr txBox="1"/>
          <p:nvPr/>
        </p:nvSpPr>
        <p:spPr>
          <a:xfrm>
            <a:off x="996696" y="2839212"/>
            <a:ext cx="3904488" cy="306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Arial"/>
              <a:buNone/>
            </a:pPr>
            <a:r>
              <a:rPr lang="en-US" sz="95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Tokenization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2"/>
          <p:cNvSpPr/>
          <p:nvPr/>
        </p:nvSpPr>
        <p:spPr>
          <a:xfrm>
            <a:off x="4946904" y="2866644"/>
            <a:ext cx="786384" cy="228600"/>
          </a:xfrm>
          <a:prstGeom prst="roundRect">
            <a:avLst>
              <a:gd name="adj" fmla="val 48000"/>
            </a:avLst>
          </a:prstGeom>
          <a:solidFill>
            <a:srgbClr val="F0F4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2"/>
          <p:cNvSpPr txBox="1"/>
          <p:nvPr/>
        </p:nvSpPr>
        <p:spPr>
          <a:xfrm>
            <a:off x="4946904" y="2866644"/>
            <a:ext cx="78638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2"/>
          <p:cNvSpPr/>
          <p:nvPr/>
        </p:nvSpPr>
        <p:spPr>
          <a:xfrm>
            <a:off x="795528" y="3246120"/>
            <a:ext cx="91440" cy="91440"/>
          </a:xfrm>
          <a:prstGeom prst="ellipse">
            <a:avLst/>
          </a:prstGeom>
          <a:solidFill>
            <a:srgbClr val="0D7E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2"/>
          <p:cNvSpPr txBox="1"/>
          <p:nvPr/>
        </p:nvSpPr>
        <p:spPr>
          <a:xfrm>
            <a:off x="996696" y="3145536"/>
            <a:ext cx="3904488" cy="306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Arial"/>
              <a:buNone/>
            </a:pPr>
            <a:r>
              <a:rPr lang="en-US" sz="95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Customer portals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2"/>
          <p:cNvSpPr/>
          <p:nvPr/>
        </p:nvSpPr>
        <p:spPr>
          <a:xfrm>
            <a:off x="4946904" y="3172968"/>
            <a:ext cx="786384" cy="228600"/>
          </a:xfrm>
          <a:prstGeom prst="roundRect">
            <a:avLst>
              <a:gd name="adj" fmla="val 48000"/>
            </a:avLst>
          </a:prstGeom>
          <a:solidFill>
            <a:srgbClr val="F0F4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2"/>
          <p:cNvSpPr txBox="1"/>
          <p:nvPr/>
        </p:nvSpPr>
        <p:spPr>
          <a:xfrm>
            <a:off x="4946904" y="3172968"/>
            <a:ext cx="78638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2"/>
          <p:cNvSpPr/>
          <p:nvPr/>
        </p:nvSpPr>
        <p:spPr>
          <a:xfrm>
            <a:off x="795528" y="3552444"/>
            <a:ext cx="91440" cy="91440"/>
          </a:xfrm>
          <a:prstGeom prst="ellipse">
            <a:avLst/>
          </a:prstGeom>
          <a:solidFill>
            <a:srgbClr val="0D7E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12"/>
          <p:cNvSpPr txBox="1"/>
          <p:nvPr/>
        </p:nvSpPr>
        <p:spPr>
          <a:xfrm>
            <a:off x="996696" y="3451860"/>
            <a:ext cx="4727448" cy="306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Arial"/>
              <a:buNone/>
            </a:pPr>
            <a:r>
              <a:rPr lang="en-US" sz="95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CRM improvements &amp; custom reports 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Arial"/>
              <a:buNone/>
            </a:pPr>
            <a:r>
              <a:rPr lang="en-US" sz="95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(forecasting, pipeline, BDR metrics, exec reports)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2"/>
          <p:cNvSpPr/>
          <p:nvPr/>
        </p:nvSpPr>
        <p:spPr>
          <a:xfrm>
            <a:off x="795528" y="3858768"/>
            <a:ext cx="91440" cy="91440"/>
          </a:xfrm>
          <a:prstGeom prst="ellipse">
            <a:avLst/>
          </a:prstGeom>
          <a:solidFill>
            <a:srgbClr val="0D7E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12"/>
          <p:cNvSpPr txBox="1"/>
          <p:nvPr/>
        </p:nvSpPr>
        <p:spPr>
          <a:xfrm>
            <a:off x="996696" y="3758184"/>
            <a:ext cx="3904488" cy="306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Blanket PO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4946904" y="3785616"/>
            <a:ext cx="786384" cy="228600"/>
          </a:xfrm>
          <a:prstGeom prst="roundRect">
            <a:avLst>
              <a:gd name="adj" fmla="val 48000"/>
            </a:avLst>
          </a:prstGeom>
          <a:solidFill>
            <a:srgbClr val="F0F4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2"/>
          <p:cNvSpPr txBox="1"/>
          <p:nvPr/>
        </p:nvSpPr>
        <p:spPr>
          <a:xfrm>
            <a:off x="4946904" y="3785616"/>
            <a:ext cx="78638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lang="en-US" sz="800" b="1" i="0" u="none" strike="noStrike" cap="none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Moderate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795528" y="4165092"/>
            <a:ext cx="91440" cy="91440"/>
          </a:xfrm>
          <a:prstGeom prst="ellipse">
            <a:avLst/>
          </a:prstGeom>
          <a:solidFill>
            <a:srgbClr val="0D7E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2"/>
          <p:cNvSpPr txBox="1"/>
          <p:nvPr/>
        </p:nvSpPr>
        <p:spPr>
          <a:xfrm>
            <a:off x="996696" y="4064508"/>
            <a:ext cx="3904488" cy="306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Arial"/>
              <a:buNone/>
            </a:pPr>
            <a:r>
              <a:rPr lang="en-US" sz="95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CRM data clean-up &amp; support; SF+ Ascent data migration support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4946904" y="4091940"/>
            <a:ext cx="786384" cy="228600"/>
          </a:xfrm>
          <a:prstGeom prst="roundRect">
            <a:avLst>
              <a:gd name="adj" fmla="val 48000"/>
            </a:avLst>
          </a:prstGeom>
          <a:solidFill>
            <a:srgbClr val="F0F4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12"/>
          <p:cNvSpPr txBox="1"/>
          <p:nvPr/>
        </p:nvSpPr>
        <p:spPr>
          <a:xfrm>
            <a:off x="4946904" y="4091940"/>
            <a:ext cx="78638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Low–Mod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795528" y="4471416"/>
            <a:ext cx="91440" cy="91440"/>
          </a:xfrm>
          <a:prstGeom prst="ellipse">
            <a:avLst/>
          </a:prstGeom>
          <a:solidFill>
            <a:srgbClr val="0D7E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2"/>
          <p:cNvSpPr txBox="1"/>
          <p:nvPr/>
        </p:nvSpPr>
        <p:spPr>
          <a:xfrm>
            <a:off x="996696" y="4370832"/>
            <a:ext cx="3904488" cy="306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Arial"/>
              <a:buNone/>
            </a:pPr>
            <a:r>
              <a:rPr lang="en-US" sz="95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Discount authorization framework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2"/>
          <p:cNvSpPr/>
          <p:nvPr/>
        </p:nvSpPr>
        <p:spPr>
          <a:xfrm>
            <a:off x="4946904" y="4398264"/>
            <a:ext cx="786384" cy="228600"/>
          </a:xfrm>
          <a:prstGeom prst="roundRect">
            <a:avLst>
              <a:gd name="adj" fmla="val 48000"/>
            </a:avLst>
          </a:prstGeom>
          <a:solidFill>
            <a:srgbClr val="F0F4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12"/>
          <p:cNvSpPr txBox="1"/>
          <p:nvPr/>
        </p:nvSpPr>
        <p:spPr>
          <a:xfrm>
            <a:off x="4946904" y="4398264"/>
            <a:ext cx="78638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Moderate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795528" y="4777740"/>
            <a:ext cx="91440" cy="91440"/>
          </a:xfrm>
          <a:prstGeom prst="ellipse">
            <a:avLst/>
          </a:prstGeom>
          <a:solidFill>
            <a:srgbClr val="0D7E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12"/>
          <p:cNvSpPr txBox="1"/>
          <p:nvPr/>
        </p:nvSpPr>
        <p:spPr>
          <a:xfrm>
            <a:off x="996696" y="4677156"/>
            <a:ext cx="3904488" cy="306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Arial"/>
              <a:buNone/>
            </a:pPr>
            <a:r>
              <a:rPr lang="en-US" sz="95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Salesforce Shield config &amp; platform security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2"/>
          <p:cNvSpPr/>
          <p:nvPr/>
        </p:nvSpPr>
        <p:spPr>
          <a:xfrm>
            <a:off x="4946904" y="4704588"/>
            <a:ext cx="786384" cy="228600"/>
          </a:xfrm>
          <a:prstGeom prst="roundRect">
            <a:avLst>
              <a:gd name="adj" fmla="val 48000"/>
            </a:avLst>
          </a:prstGeom>
          <a:solidFill>
            <a:srgbClr val="F0F4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2"/>
          <p:cNvSpPr/>
          <p:nvPr/>
        </p:nvSpPr>
        <p:spPr>
          <a:xfrm>
            <a:off x="795528" y="5084064"/>
            <a:ext cx="91440" cy="91440"/>
          </a:xfrm>
          <a:prstGeom prst="ellipse">
            <a:avLst/>
          </a:prstGeom>
          <a:solidFill>
            <a:srgbClr val="0D7E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2"/>
          <p:cNvSpPr txBox="1"/>
          <p:nvPr/>
        </p:nvSpPr>
        <p:spPr>
          <a:xfrm>
            <a:off x="1005840" y="5290277"/>
            <a:ext cx="4727448" cy="306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Arial"/>
              <a:buNone/>
            </a:pPr>
            <a:r>
              <a:rPr lang="en-US" sz="95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Architecture review — validation layer over Ascent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2"/>
          <p:cNvSpPr/>
          <p:nvPr/>
        </p:nvSpPr>
        <p:spPr>
          <a:xfrm>
            <a:off x="795528" y="5390388"/>
            <a:ext cx="91440" cy="91440"/>
          </a:xfrm>
          <a:prstGeom prst="ellipse">
            <a:avLst/>
          </a:prstGeom>
          <a:solidFill>
            <a:srgbClr val="0D7E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12"/>
          <p:cNvSpPr txBox="1"/>
          <p:nvPr/>
        </p:nvSpPr>
        <p:spPr>
          <a:xfrm>
            <a:off x="1004579" y="4983755"/>
            <a:ext cx="4727448" cy="306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Arial"/>
              <a:buNone/>
            </a:pPr>
            <a:r>
              <a:rPr lang="en-US" sz="95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Drive Salesforce BAA; own system documentation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2"/>
          <p:cNvSpPr/>
          <p:nvPr/>
        </p:nvSpPr>
        <p:spPr>
          <a:xfrm>
            <a:off x="795528" y="5696712"/>
            <a:ext cx="91440" cy="91440"/>
          </a:xfrm>
          <a:prstGeom prst="ellipse">
            <a:avLst/>
          </a:prstGeom>
          <a:solidFill>
            <a:srgbClr val="0D7E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2"/>
          <p:cNvSpPr txBox="1"/>
          <p:nvPr/>
        </p:nvSpPr>
        <p:spPr>
          <a:xfrm>
            <a:off x="996696" y="5596128"/>
            <a:ext cx="4727448" cy="306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Arial"/>
              <a:buNone/>
            </a:pPr>
            <a:r>
              <a:rPr lang="en-US" sz="95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Workato support for GT–Acumatica &amp; all integrations post go-live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2"/>
          <p:cNvSpPr/>
          <p:nvPr/>
        </p:nvSpPr>
        <p:spPr>
          <a:xfrm>
            <a:off x="6190488" y="1783080"/>
            <a:ext cx="5504688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A7B4C2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12"/>
          <p:cNvSpPr/>
          <p:nvPr/>
        </p:nvSpPr>
        <p:spPr>
          <a:xfrm>
            <a:off x="6190488" y="1783080"/>
            <a:ext cx="5504688" cy="603504"/>
          </a:xfrm>
          <a:prstGeom prst="roundRect">
            <a:avLst>
              <a:gd name="adj" fmla="val 13636"/>
            </a:avLst>
          </a:prstGeom>
          <a:solidFill>
            <a:srgbClr val="E8A2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12"/>
          <p:cNvSpPr/>
          <p:nvPr/>
        </p:nvSpPr>
        <p:spPr>
          <a:xfrm>
            <a:off x="6190488" y="2084832"/>
            <a:ext cx="5504688" cy="301752"/>
          </a:xfrm>
          <a:prstGeom prst="rect">
            <a:avLst/>
          </a:prstGeom>
          <a:solidFill>
            <a:srgbClr val="E8A2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0" name="Google Shape;510;p12" descr="/home/claude/icons/boxe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64808" y="19659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12"/>
          <p:cNvSpPr txBox="1"/>
          <p:nvPr/>
        </p:nvSpPr>
        <p:spPr>
          <a:xfrm>
            <a:off x="6830568" y="1783080"/>
            <a:ext cx="468172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FFFFFF"/>
              </a:buClr>
              <a:buSzPts val="1400"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Ascent — rentals &amp; integrations (</a:t>
            </a:r>
            <a:r>
              <a:rPr lang="en-US" dirty="0">
                <a:solidFill>
                  <a:schemeClr val="bg1"/>
                </a:solidFill>
              </a:rPr>
              <a:t>Rental subject-matter experts</a:t>
            </a:r>
            <a:endParaRPr sz="14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2"/>
          <p:cNvSpPr/>
          <p:nvPr/>
        </p:nvSpPr>
        <p:spPr>
          <a:xfrm>
            <a:off x="6483096" y="2633472"/>
            <a:ext cx="91440" cy="91440"/>
          </a:xfrm>
          <a:prstGeom prst="ellipse">
            <a:avLst/>
          </a:prstGeom>
          <a:solidFill>
            <a:srgbClr val="E8A2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12"/>
          <p:cNvSpPr txBox="1"/>
          <p:nvPr/>
        </p:nvSpPr>
        <p:spPr>
          <a:xfrm>
            <a:off x="6684264" y="2532888"/>
            <a:ext cx="4727448" cy="306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Arial"/>
              <a:buNone/>
            </a:pPr>
            <a:r>
              <a:rPr lang="en-US" sz="95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Implement Ascent rental solution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2"/>
          <p:cNvSpPr/>
          <p:nvPr/>
        </p:nvSpPr>
        <p:spPr>
          <a:xfrm>
            <a:off x="6483096" y="2939796"/>
            <a:ext cx="91440" cy="91440"/>
          </a:xfrm>
          <a:prstGeom prst="ellipse">
            <a:avLst/>
          </a:prstGeom>
          <a:solidFill>
            <a:srgbClr val="E8A2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12"/>
          <p:cNvSpPr txBox="1"/>
          <p:nvPr/>
        </p:nvSpPr>
        <p:spPr>
          <a:xfrm>
            <a:off x="6684264" y="2839212"/>
            <a:ext cx="4727448" cy="306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Arial"/>
              <a:buNone/>
            </a:pPr>
            <a:r>
              <a:rPr lang="en-US" sz="95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Integrations: Salesforce–GT, Salesforce–Acumatica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2"/>
          <p:cNvSpPr/>
          <p:nvPr/>
        </p:nvSpPr>
        <p:spPr>
          <a:xfrm>
            <a:off x="6483096" y="3246120"/>
            <a:ext cx="91440" cy="91440"/>
          </a:xfrm>
          <a:prstGeom prst="ellipse">
            <a:avLst/>
          </a:prstGeom>
          <a:solidFill>
            <a:srgbClr val="E8A2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2"/>
          <p:cNvSpPr txBox="1"/>
          <p:nvPr/>
        </p:nvSpPr>
        <p:spPr>
          <a:xfrm>
            <a:off x="6684264" y="3145536"/>
            <a:ext cx="4727448" cy="306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Arial"/>
              <a:buNone/>
            </a:pPr>
            <a:r>
              <a:rPr lang="en-US" sz="95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Data migration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2"/>
          <p:cNvSpPr/>
          <p:nvPr/>
        </p:nvSpPr>
        <p:spPr>
          <a:xfrm>
            <a:off x="6483096" y="3552444"/>
            <a:ext cx="91440" cy="91440"/>
          </a:xfrm>
          <a:prstGeom prst="ellipse">
            <a:avLst/>
          </a:prstGeom>
          <a:solidFill>
            <a:srgbClr val="E8A2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12"/>
          <p:cNvSpPr txBox="1"/>
          <p:nvPr/>
        </p:nvSpPr>
        <p:spPr>
          <a:xfrm>
            <a:off x="6684264" y="3451860"/>
            <a:ext cx="4727448" cy="306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UAT support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6483096" y="3858768"/>
            <a:ext cx="91440" cy="91440"/>
          </a:xfrm>
          <a:prstGeom prst="ellipse">
            <a:avLst/>
          </a:prstGeom>
          <a:solidFill>
            <a:srgbClr val="E8A2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12"/>
          <p:cNvSpPr txBox="1"/>
          <p:nvPr/>
        </p:nvSpPr>
        <p:spPr>
          <a:xfrm>
            <a:off x="6684264" y="3758184"/>
            <a:ext cx="4727448" cy="306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Change management — train-the-trainer + optional end-user training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2"/>
          <p:cNvSpPr/>
          <p:nvPr/>
        </p:nvSpPr>
        <p:spPr>
          <a:xfrm>
            <a:off x="6483096" y="4165092"/>
            <a:ext cx="91440" cy="91440"/>
          </a:xfrm>
          <a:prstGeom prst="ellipse">
            <a:avLst/>
          </a:prstGeom>
          <a:solidFill>
            <a:srgbClr val="E8A2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2"/>
          <p:cNvSpPr txBox="1"/>
          <p:nvPr/>
        </p:nvSpPr>
        <p:spPr>
          <a:xfrm>
            <a:off x="6684264" y="4064508"/>
            <a:ext cx="4727448" cy="306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Hypercare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2"/>
          <p:cNvSpPr/>
          <p:nvPr/>
        </p:nvSpPr>
        <p:spPr>
          <a:xfrm>
            <a:off x="6483096" y="4471416"/>
            <a:ext cx="91440" cy="91440"/>
          </a:xfrm>
          <a:prstGeom prst="ellipse">
            <a:avLst/>
          </a:prstGeom>
          <a:solidFill>
            <a:srgbClr val="E8A2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12"/>
          <p:cNvSpPr txBox="1"/>
          <p:nvPr/>
        </p:nvSpPr>
        <p:spPr>
          <a:xfrm>
            <a:off x="6684264" y="4370832"/>
            <a:ext cx="4727448" cy="306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Arial"/>
              <a:buNone/>
            </a:pPr>
            <a:r>
              <a:rPr lang="en-US" sz="95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Post go-live Ascent rental support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2"/>
          <p:cNvSpPr/>
          <p:nvPr/>
        </p:nvSpPr>
        <p:spPr>
          <a:xfrm>
            <a:off x="6464808" y="4892040"/>
            <a:ext cx="4956048" cy="868680"/>
          </a:xfrm>
          <a:prstGeom prst="roundRect">
            <a:avLst>
              <a:gd name="adj" fmla="val 8421"/>
            </a:avLst>
          </a:prstGeom>
          <a:solidFill>
            <a:srgbClr val="FCF1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12"/>
          <p:cNvSpPr txBox="1"/>
          <p:nvPr/>
        </p:nvSpPr>
        <p:spPr>
          <a:xfrm>
            <a:off x="6647688" y="4892040"/>
            <a:ext cx="4590288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702A"/>
              </a:buClr>
              <a:buSzPts val="1030"/>
              <a:buFont typeface="Arial"/>
              <a:buNone/>
            </a:pPr>
            <a:r>
              <a:rPr lang="en-US" sz="1030" b="1" i="0" u="none" strike="noStrike" cap="none" dirty="0">
                <a:solidFill>
                  <a:srgbClr val="A9702A"/>
                </a:solidFill>
                <a:latin typeface="Arial"/>
                <a:ea typeface="Arial"/>
                <a:cs typeface="Arial"/>
                <a:sym typeface="Arial"/>
              </a:rPr>
              <a:t>Integrated team model:  </a:t>
            </a:r>
            <a:r>
              <a:rPr lang="en-US" sz="103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Ascent is SME in rentals; Durvah is SME in Salesforce. Collaborative engagement drives shared project and solution outcomes.</a:t>
            </a:r>
            <a:endParaRPr sz="103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2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USME  |  Future Rentals Business System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2"/>
          <p:cNvSpPr txBox="1"/>
          <p:nvPr/>
        </p:nvSpPr>
        <p:spPr>
          <a:xfrm>
            <a:off x="9402775" y="647395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Executive Review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499;p12">
            <a:extLst>
              <a:ext uri="{FF2B5EF4-FFF2-40B4-BE49-F238E27FC236}">
                <a16:creationId xmlns:a16="http://schemas.microsoft.com/office/drawing/2014/main" id="{5C02E4FA-5077-03D8-3CD8-4CDDD3AF14B3}"/>
              </a:ext>
            </a:extLst>
          </p:cNvPr>
          <p:cNvSpPr/>
          <p:nvPr/>
        </p:nvSpPr>
        <p:spPr>
          <a:xfrm>
            <a:off x="4980432" y="3482458"/>
            <a:ext cx="786384" cy="228600"/>
          </a:xfrm>
          <a:prstGeom prst="roundRect">
            <a:avLst>
              <a:gd name="adj" fmla="val 48000"/>
            </a:avLst>
          </a:prstGeom>
          <a:solidFill>
            <a:srgbClr val="F0F4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488;p12">
            <a:extLst>
              <a:ext uri="{FF2B5EF4-FFF2-40B4-BE49-F238E27FC236}">
                <a16:creationId xmlns:a16="http://schemas.microsoft.com/office/drawing/2014/main" id="{56F0B3AE-23AF-F243-FE69-307C6CD10AF0}"/>
              </a:ext>
            </a:extLst>
          </p:cNvPr>
          <p:cNvSpPr txBox="1"/>
          <p:nvPr/>
        </p:nvSpPr>
        <p:spPr>
          <a:xfrm>
            <a:off x="4946904" y="4725162"/>
            <a:ext cx="78638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lang="en-US" sz="800" b="1" i="0" u="none" strike="noStrike" cap="none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Moderate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488;p12">
            <a:extLst>
              <a:ext uri="{FF2B5EF4-FFF2-40B4-BE49-F238E27FC236}">
                <a16:creationId xmlns:a16="http://schemas.microsoft.com/office/drawing/2014/main" id="{30FCAC36-1DF3-38BB-47B3-D45714532BBA}"/>
              </a:ext>
            </a:extLst>
          </p:cNvPr>
          <p:cNvSpPr txBox="1"/>
          <p:nvPr/>
        </p:nvSpPr>
        <p:spPr>
          <a:xfrm>
            <a:off x="4959096" y="3506021"/>
            <a:ext cx="78638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lang="en-US" sz="800" b="1" i="0" u="none" strike="noStrike" cap="none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Moderate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2C45"/>
                </a:solidFill>
                <a:ea typeface="Calibri"/>
              </a:rPr>
              <a:t>Overall responsibilities landscape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7C8A"/>
                </a:solidFill>
              </a:rPr>
              <a:t>Ascent leads the rental product; Durvah leads the Salesforce platform and USME maintains governance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1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3657600" cy="685800"/>
          </a:xfrm>
          <a:prstGeom prst="rect">
            <a:avLst/>
          </a:prstGeom>
          <a:solidFill>
            <a:srgbClr val="3F7FB8"/>
          </a:solidFill>
          <a:ln w="12700">
            <a:solidFill>
              <a:srgbClr val="3F7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4721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DURVAH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04088" y="2157984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03247"/>
                </a:solidFill>
              </a:rPr>
              <a:t>Salesforce platform + CRM + AMS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795528" y="2688336"/>
            <a:ext cx="128016" cy="128016"/>
          </a:xfrm>
          <a:prstGeom prst="ellipse">
            <a:avLst/>
          </a:prstGeom>
          <a:solidFill>
            <a:srgbClr val="3F7FB8"/>
          </a:solidFill>
          <a:ln w="12700">
            <a:solidFill>
              <a:srgbClr val="3F7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33272" y="26517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2D38"/>
                </a:solidFill>
              </a:rPr>
              <a:t>Platform customizations</a:t>
            </a:r>
            <a:endParaRPr lang="en-US" sz="890" dirty="0"/>
          </a:p>
        </p:txBody>
      </p:sp>
      <p:sp>
        <p:nvSpPr>
          <p:cNvPr id="10" name="Shape 8"/>
          <p:cNvSpPr/>
          <p:nvPr/>
        </p:nvSpPr>
        <p:spPr>
          <a:xfrm>
            <a:off x="795528" y="2971800"/>
            <a:ext cx="128016" cy="128016"/>
          </a:xfrm>
          <a:prstGeom prst="ellipse">
            <a:avLst/>
          </a:prstGeom>
          <a:solidFill>
            <a:srgbClr val="3F7FB8"/>
          </a:solidFill>
          <a:ln w="12700">
            <a:solidFill>
              <a:srgbClr val="3F7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33272" y="29352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2D38"/>
                </a:solidFill>
              </a:rPr>
              <a:t>Tokenization / Blanket PO</a:t>
            </a:r>
            <a:endParaRPr lang="en-US" sz="890" dirty="0"/>
          </a:p>
        </p:txBody>
      </p:sp>
      <p:sp>
        <p:nvSpPr>
          <p:cNvPr id="12" name="Shape 10"/>
          <p:cNvSpPr/>
          <p:nvPr/>
        </p:nvSpPr>
        <p:spPr>
          <a:xfrm>
            <a:off x="795528" y="3255264"/>
            <a:ext cx="128016" cy="128016"/>
          </a:xfrm>
          <a:prstGeom prst="ellipse">
            <a:avLst/>
          </a:prstGeom>
          <a:solidFill>
            <a:srgbClr val="3F7FB8"/>
          </a:solidFill>
          <a:ln w="12700">
            <a:solidFill>
              <a:srgbClr val="3F7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33272" y="32186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2D38"/>
                </a:solidFill>
              </a:rPr>
              <a:t>CRM cleanup + improvements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795528" y="3538728"/>
            <a:ext cx="128016" cy="128016"/>
          </a:xfrm>
          <a:prstGeom prst="ellipse">
            <a:avLst/>
          </a:prstGeom>
          <a:solidFill>
            <a:srgbClr val="3F7FB8"/>
          </a:solidFill>
          <a:ln w="12700">
            <a:solidFill>
              <a:srgbClr val="3F7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33272" y="35021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2D38"/>
                </a:solidFill>
              </a:rPr>
              <a:t>Customer portal</a:t>
            </a:r>
            <a:endParaRPr lang="en-US" sz="890" dirty="0"/>
          </a:p>
        </p:txBody>
      </p:sp>
      <p:sp>
        <p:nvSpPr>
          <p:cNvPr id="16" name="Shape 14"/>
          <p:cNvSpPr/>
          <p:nvPr/>
        </p:nvSpPr>
        <p:spPr>
          <a:xfrm>
            <a:off x="795528" y="3822192"/>
            <a:ext cx="128016" cy="128016"/>
          </a:xfrm>
          <a:prstGeom prst="ellipse">
            <a:avLst/>
          </a:prstGeom>
          <a:solidFill>
            <a:srgbClr val="3F7FB8"/>
          </a:solidFill>
          <a:ln w="12700">
            <a:solidFill>
              <a:srgbClr val="3F7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33272" y="378561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2D38"/>
                </a:solidFill>
              </a:rPr>
              <a:t>Forecasting / pipeline / reporting improvements</a:t>
            </a:r>
            <a:endParaRPr lang="en-US" sz="890" dirty="0"/>
          </a:p>
        </p:txBody>
      </p:sp>
      <p:sp>
        <p:nvSpPr>
          <p:cNvPr id="18" name="Shape 16"/>
          <p:cNvSpPr/>
          <p:nvPr/>
        </p:nvSpPr>
        <p:spPr>
          <a:xfrm>
            <a:off x="795528" y="4105656"/>
            <a:ext cx="128016" cy="128016"/>
          </a:xfrm>
          <a:prstGeom prst="ellipse">
            <a:avLst/>
          </a:prstGeom>
          <a:solidFill>
            <a:srgbClr val="3F7FB8"/>
          </a:solidFill>
          <a:ln w="12700">
            <a:solidFill>
              <a:srgbClr val="3F7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33272" y="40690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2D38"/>
                </a:solidFill>
              </a:rPr>
              <a:t>Discount authorization framework implementation</a:t>
            </a:r>
            <a:endParaRPr lang="en-US" sz="890" dirty="0"/>
          </a:p>
        </p:txBody>
      </p:sp>
      <p:sp>
        <p:nvSpPr>
          <p:cNvPr id="20" name="Shape 18"/>
          <p:cNvSpPr/>
          <p:nvPr/>
        </p:nvSpPr>
        <p:spPr>
          <a:xfrm>
            <a:off x="795528" y="4389120"/>
            <a:ext cx="128016" cy="128016"/>
          </a:xfrm>
          <a:prstGeom prst="ellipse">
            <a:avLst/>
          </a:prstGeom>
          <a:solidFill>
            <a:srgbClr val="3F7FB8"/>
          </a:solidFill>
          <a:ln w="12700">
            <a:solidFill>
              <a:srgbClr val="3F7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33272" y="43525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2D38"/>
                </a:solidFill>
              </a:rPr>
              <a:t>Shield + platform security</a:t>
            </a:r>
            <a:endParaRPr lang="en-US" sz="890" dirty="0"/>
          </a:p>
        </p:txBody>
      </p:sp>
      <p:sp>
        <p:nvSpPr>
          <p:cNvPr id="22" name="Shape 20"/>
          <p:cNvSpPr/>
          <p:nvPr/>
        </p:nvSpPr>
        <p:spPr>
          <a:xfrm>
            <a:off x="795528" y="4672584"/>
            <a:ext cx="128016" cy="128016"/>
          </a:xfrm>
          <a:prstGeom prst="ellipse">
            <a:avLst/>
          </a:prstGeom>
          <a:solidFill>
            <a:srgbClr val="3F7FB8"/>
          </a:solidFill>
          <a:ln w="12700">
            <a:solidFill>
              <a:srgbClr val="3F7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33272" y="46360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2D38"/>
                </a:solidFill>
              </a:rPr>
              <a:t>Architecture validation</a:t>
            </a:r>
            <a:endParaRPr lang="en-US" sz="890" dirty="0"/>
          </a:p>
        </p:txBody>
      </p:sp>
      <p:sp>
        <p:nvSpPr>
          <p:cNvPr id="24" name="Shape 22"/>
          <p:cNvSpPr/>
          <p:nvPr/>
        </p:nvSpPr>
        <p:spPr>
          <a:xfrm>
            <a:off x="795528" y="4956048"/>
            <a:ext cx="128016" cy="128016"/>
          </a:xfrm>
          <a:prstGeom prst="ellipse">
            <a:avLst/>
          </a:prstGeom>
          <a:solidFill>
            <a:srgbClr val="3F7FB8"/>
          </a:solidFill>
          <a:ln w="12700">
            <a:solidFill>
              <a:srgbClr val="3F7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33272" y="491947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2D38"/>
                </a:solidFill>
              </a:rPr>
              <a:t>Documentation + BAA alignment</a:t>
            </a:r>
            <a:endParaRPr lang="en-US" sz="890" dirty="0"/>
          </a:p>
        </p:txBody>
      </p:sp>
      <p:sp>
        <p:nvSpPr>
          <p:cNvPr id="26" name="Shape 24"/>
          <p:cNvSpPr/>
          <p:nvPr/>
        </p:nvSpPr>
        <p:spPr>
          <a:xfrm>
            <a:off x="795528" y="5239512"/>
            <a:ext cx="128016" cy="128016"/>
          </a:xfrm>
          <a:prstGeom prst="ellipse">
            <a:avLst/>
          </a:prstGeom>
          <a:solidFill>
            <a:srgbClr val="3F7FB8"/>
          </a:solidFill>
          <a:ln w="12700">
            <a:solidFill>
              <a:srgbClr val="3F7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33272" y="520293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2D38"/>
                </a:solidFill>
              </a:rPr>
              <a:t>Workato support for GT-Acumatica / future integrations</a:t>
            </a:r>
            <a:endParaRPr lang="en-US" sz="890" dirty="0"/>
          </a:p>
        </p:txBody>
      </p:sp>
      <p:sp>
        <p:nvSpPr>
          <p:cNvPr id="28" name="Shape 26"/>
          <p:cNvSpPr/>
          <p:nvPr/>
        </p:nvSpPr>
        <p:spPr>
          <a:xfrm>
            <a:off x="795528" y="5522976"/>
            <a:ext cx="128016" cy="128016"/>
          </a:xfrm>
          <a:prstGeom prst="ellipse">
            <a:avLst/>
          </a:prstGeom>
          <a:solidFill>
            <a:srgbClr val="3F7FB8"/>
          </a:solidFill>
          <a:ln w="12700">
            <a:solidFill>
              <a:srgbClr val="3F7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33272" y="54864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2D38"/>
                </a:solidFill>
              </a:rPr>
              <a:t>Post-go-live single point of contact</a:t>
            </a:r>
            <a:endParaRPr lang="en-US" sz="890" dirty="0"/>
          </a:p>
        </p:txBody>
      </p:sp>
      <p:sp>
        <p:nvSpPr>
          <p:cNvPr id="30" name="Shape 28"/>
          <p:cNvSpPr/>
          <p:nvPr/>
        </p:nvSpPr>
        <p:spPr>
          <a:xfrm>
            <a:off x="4270248" y="1298448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1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270248" y="1298448"/>
            <a:ext cx="3657600" cy="685800"/>
          </a:xfrm>
          <a:prstGeom prst="rect">
            <a:avLst/>
          </a:prstGeom>
          <a:solidFill>
            <a:srgbClr val="23A36D"/>
          </a:solidFill>
          <a:ln w="12700">
            <a:solidFill>
              <a:srgbClr val="23A3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453128" y="14721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ASCENT / ROOTSTOCK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471416" y="2157984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03247"/>
                </a:solidFill>
              </a:rPr>
              <a:t>Rental product + integrations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4562856" y="2688336"/>
            <a:ext cx="128016" cy="128016"/>
          </a:xfrm>
          <a:prstGeom prst="ellipse">
            <a:avLst/>
          </a:prstGeom>
          <a:solidFill>
            <a:srgbClr val="23A36D"/>
          </a:solidFill>
          <a:ln w="12700">
            <a:solidFill>
              <a:srgbClr val="23A3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00600" y="26517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2D38"/>
                </a:solidFill>
              </a:rPr>
              <a:t>Implement Ascent Rental</a:t>
            </a:r>
            <a:endParaRPr lang="en-US" sz="890" dirty="0"/>
          </a:p>
        </p:txBody>
      </p:sp>
      <p:sp>
        <p:nvSpPr>
          <p:cNvPr id="36" name="Shape 34"/>
          <p:cNvSpPr/>
          <p:nvPr/>
        </p:nvSpPr>
        <p:spPr>
          <a:xfrm>
            <a:off x="4562856" y="2971800"/>
            <a:ext cx="128016" cy="128016"/>
          </a:xfrm>
          <a:prstGeom prst="ellipse">
            <a:avLst/>
          </a:prstGeom>
          <a:solidFill>
            <a:srgbClr val="23A36D"/>
          </a:solidFill>
          <a:ln w="12700">
            <a:solidFill>
              <a:srgbClr val="23A3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00600" y="29352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2D38"/>
                </a:solidFill>
              </a:rPr>
              <a:t>Salesforce ↔ GT / Acumatica integrations</a:t>
            </a:r>
            <a:endParaRPr lang="en-US" sz="890" dirty="0"/>
          </a:p>
        </p:txBody>
      </p:sp>
      <p:sp>
        <p:nvSpPr>
          <p:cNvPr id="38" name="Shape 36"/>
          <p:cNvSpPr/>
          <p:nvPr/>
        </p:nvSpPr>
        <p:spPr>
          <a:xfrm>
            <a:off x="4562856" y="3255264"/>
            <a:ext cx="128016" cy="128016"/>
          </a:xfrm>
          <a:prstGeom prst="ellipse">
            <a:avLst/>
          </a:prstGeom>
          <a:solidFill>
            <a:srgbClr val="23A36D"/>
          </a:solidFill>
          <a:ln w="12700">
            <a:solidFill>
              <a:srgbClr val="23A3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00600" y="32186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2D38"/>
                </a:solidFill>
              </a:rPr>
              <a:t>Data migration</a:t>
            </a:r>
            <a:endParaRPr lang="en-US" sz="890" dirty="0"/>
          </a:p>
        </p:txBody>
      </p:sp>
      <p:sp>
        <p:nvSpPr>
          <p:cNvPr id="40" name="Shape 38"/>
          <p:cNvSpPr/>
          <p:nvPr/>
        </p:nvSpPr>
        <p:spPr>
          <a:xfrm>
            <a:off x="4562856" y="3538728"/>
            <a:ext cx="128016" cy="128016"/>
          </a:xfrm>
          <a:prstGeom prst="ellipse">
            <a:avLst/>
          </a:prstGeom>
          <a:solidFill>
            <a:srgbClr val="23A36D"/>
          </a:solidFill>
          <a:ln w="12700">
            <a:solidFill>
              <a:srgbClr val="23A3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00600" y="35021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2D38"/>
                </a:solidFill>
              </a:rPr>
              <a:t>UAT support</a:t>
            </a:r>
            <a:endParaRPr lang="en-US" sz="890" dirty="0"/>
          </a:p>
        </p:txBody>
      </p:sp>
      <p:sp>
        <p:nvSpPr>
          <p:cNvPr id="42" name="Shape 40"/>
          <p:cNvSpPr/>
          <p:nvPr/>
        </p:nvSpPr>
        <p:spPr>
          <a:xfrm>
            <a:off x="4562856" y="3822192"/>
            <a:ext cx="128016" cy="128016"/>
          </a:xfrm>
          <a:prstGeom prst="ellipse">
            <a:avLst/>
          </a:prstGeom>
          <a:solidFill>
            <a:srgbClr val="23A36D"/>
          </a:solidFill>
          <a:ln w="12700">
            <a:solidFill>
              <a:srgbClr val="23A3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00600" y="378561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2D38"/>
                </a:solidFill>
              </a:rPr>
              <a:t>Train-the-trainer</a:t>
            </a:r>
            <a:endParaRPr lang="en-US" sz="890" dirty="0"/>
          </a:p>
        </p:txBody>
      </p:sp>
      <p:sp>
        <p:nvSpPr>
          <p:cNvPr id="44" name="Shape 42"/>
          <p:cNvSpPr/>
          <p:nvPr/>
        </p:nvSpPr>
        <p:spPr>
          <a:xfrm>
            <a:off x="4562856" y="4105656"/>
            <a:ext cx="128016" cy="128016"/>
          </a:xfrm>
          <a:prstGeom prst="ellipse">
            <a:avLst/>
          </a:prstGeom>
          <a:solidFill>
            <a:srgbClr val="23A36D"/>
          </a:solidFill>
          <a:ln w="12700">
            <a:solidFill>
              <a:srgbClr val="23A3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800600" y="40690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2D38"/>
                </a:solidFill>
              </a:rPr>
              <a:t>Optional end-user training</a:t>
            </a:r>
            <a:endParaRPr lang="en-US" sz="890" dirty="0"/>
          </a:p>
        </p:txBody>
      </p:sp>
      <p:sp>
        <p:nvSpPr>
          <p:cNvPr id="46" name="Shape 44"/>
          <p:cNvSpPr/>
          <p:nvPr/>
        </p:nvSpPr>
        <p:spPr>
          <a:xfrm>
            <a:off x="4562856" y="4389120"/>
            <a:ext cx="128016" cy="128016"/>
          </a:xfrm>
          <a:prstGeom prst="ellipse">
            <a:avLst/>
          </a:prstGeom>
          <a:solidFill>
            <a:srgbClr val="23A36D"/>
          </a:solidFill>
          <a:ln w="12700">
            <a:solidFill>
              <a:srgbClr val="23A3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00600" y="43525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2D38"/>
                </a:solidFill>
              </a:rPr>
              <a:t>Hypercare</a:t>
            </a:r>
            <a:endParaRPr lang="en-US" sz="890" dirty="0"/>
          </a:p>
        </p:txBody>
      </p:sp>
      <p:sp>
        <p:nvSpPr>
          <p:cNvPr id="48" name="Shape 46"/>
          <p:cNvSpPr/>
          <p:nvPr/>
        </p:nvSpPr>
        <p:spPr>
          <a:xfrm>
            <a:off x="4562856" y="4672584"/>
            <a:ext cx="128016" cy="128016"/>
          </a:xfrm>
          <a:prstGeom prst="ellipse">
            <a:avLst/>
          </a:prstGeom>
          <a:solidFill>
            <a:srgbClr val="23A36D"/>
          </a:solidFill>
          <a:ln w="12700">
            <a:solidFill>
              <a:srgbClr val="23A3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00600" y="46360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2D38"/>
                </a:solidFill>
              </a:rPr>
              <a:t>Post-go-live Ascent product support</a:t>
            </a:r>
            <a:endParaRPr lang="en-US" sz="890" dirty="0"/>
          </a:p>
        </p:txBody>
      </p:sp>
      <p:sp>
        <p:nvSpPr>
          <p:cNvPr id="50" name="Shape 48"/>
          <p:cNvSpPr/>
          <p:nvPr/>
        </p:nvSpPr>
        <p:spPr>
          <a:xfrm>
            <a:off x="8037576" y="1298448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1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8037576" y="1298448"/>
            <a:ext cx="3657600" cy="685800"/>
          </a:xfrm>
          <a:prstGeom prst="rect">
            <a:avLst/>
          </a:prstGeom>
          <a:solidFill>
            <a:srgbClr val="E4A13B"/>
          </a:solidFill>
          <a:ln w="12700">
            <a:solidFill>
              <a:srgbClr val="E4A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220456" y="14721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USME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238744" y="2157984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03247"/>
                </a:solidFill>
              </a:rPr>
              <a:t>Business ownership + governance</a:t>
            </a:r>
            <a:endParaRPr lang="en-US" sz="1020" dirty="0"/>
          </a:p>
        </p:txBody>
      </p:sp>
      <p:sp>
        <p:nvSpPr>
          <p:cNvPr id="54" name="Shape 52"/>
          <p:cNvSpPr/>
          <p:nvPr/>
        </p:nvSpPr>
        <p:spPr>
          <a:xfrm>
            <a:off x="8330184" y="2688336"/>
            <a:ext cx="128016" cy="128016"/>
          </a:xfrm>
          <a:prstGeom prst="ellipse">
            <a:avLst/>
          </a:prstGeom>
          <a:solidFill>
            <a:srgbClr val="E4A13B"/>
          </a:solidFill>
          <a:ln w="12700">
            <a:solidFill>
              <a:srgbClr val="E4A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567928" y="26517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2D38"/>
                </a:solidFill>
              </a:rPr>
              <a:t>Business decisions / priorities</a:t>
            </a:r>
            <a:endParaRPr lang="en-US" sz="890" dirty="0"/>
          </a:p>
        </p:txBody>
      </p:sp>
      <p:sp>
        <p:nvSpPr>
          <p:cNvPr id="56" name="Shape 54"/>
          <p:cNvSpPr/>
          <p:nvPr/>
        </p:nvSpPr>
        <p:spPr>
          <a:xfrm>
            <a:off x="8330184" y="2971800"/>
            <a:ext cx="128016" cy="128016"/>
          </a:xfrm>
          <a:prstGeom prst="ellipse">
            <a:avLst/>
          </a:prstGeom>
          <a:solidFill>
            <a:srgbClr val="E4A13B"/>
          </a:solidFill>
          <a:ln w="12700">
            <a:solidFill>
              <a:srgbClr val="E4A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567928" y="29352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2D38"/>
                </a:solidFill>
              </a:rPr>
              <a:t>Process ownership</a:t>
            </a:r>
            <a:endParaRPr lang="en-US" sz="890" dirty="0"/>
          </a:p>
        </p:txBody>
      </p:sp>
      <p:sp>
        <p:nvSpPr>
          <p:cNvPr id="58" name="Shape 56"/>
          <p:cNvSpPr/>
          <p:nvPr/>
        </p:nvSpPr>
        <p:spPr>
          <a:xfrm>
            <a:off x="8330184" y="3255264"/>
            <a:ext cx="128016" cy="128016"/>
          </a:xfrm>
          <a:prstGeom prst="ellipse">
            <a:avLst/>
          </a:prstGeom>
          <a:solidFill>
            <a:srgbClr val="E4A13B"/>
          </a:solidFill>
          <a:ln w="12700">
            <a:solidFill>
              <a:srgbClr val="E4A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8567928" y="32186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2D38"/>
                </a:solidFill>
              </a:rPr>
              <a:t>Data owners + cleansing</a:t>
            </a:r>
            <a:endParaRPr lang="en-US" sz="890" dirty="0"/>
          </a:p>
        </p:txBody>
      </p:sp>
      <p:sp>
        <p:nvSpPr>
          <p:cNvPr id="60" name="Shape 58"/>
          <p:cNvSpPr/>
          <p:nvPr/>
        </p:nvSpPr>
        <p:spPr>
          <a:xfrm>
            <a:off x="8330184" y="3538728"/>
            <a:ext cx="128016" cy="128016"/>
          </a:xfrm>
          <a:prstGeom prst="ellipse">
            <a:avLst/>
          </a:prstGeom>
          <a:solidFill>
            <a:srgbClr val="E4A13B"/>
          </a:solidFill>
          <a:ln w="12700">
            <a:solidFill>
              <a:srgbClr val="E4A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567928" y="35021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2D38"/>
                </a:solidFill>
              </a:rPr>
              <a:t>UAT execution / acceptance</a:t>
            </a:r>
            <a:endParaRPr lang="en-US" sz="890" dirty="0"/>
          </a:p>
        </p:txBody>
      </p:sp>
      <p:sp>
        <p:nvSpPr>
          <p:cNvPr id="62" name="Shape 60"/>
          <p:cNvSpPr/>
          <p:nvPr/>
        </p:nvSpPr>
        <p:spPr>
          <a:xfrm>
            <a:off x="8330184" y="3822192"/>
            <a:ext cx="128016" cy="128016"/>
          </a:xfrm>
          <a:prstGeom prst="ellipse">
            <a:avLst/>
          </a:prstGeom>
          <a:solidFill>
            <a:srgbClr val="E4A13B"/>
          </a:solidFill>
          <a:ln w="12700">
            <a:solidFill>
              <a:srgbClr val="E4A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8567928" y="378561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2D38"/>
                </a:solidFill>
              </a:rPr>
              <a:t>Change communications</a:t>
            </a:r>
            <a:endParaRPr lang="en-US" sz="890" dirty="0"/>
          </a:p>
        </p:txBody>
      </p:sp>
      <p:sp>
        <p:nvSpPr>
          <p:cNvPr id="64" name="Shape 62"/>
          <p:cNvSpPr/>
          <p:nvPr/>
        </p:nvSpPr>
        <p:spPr>
          <a:xfrm>
            <a:off x="8330184" y="4105656"/>
            <a:ext cx="128016" cy="128016"/>
          </a:xfrm>
          <a:prstGeom prst="ellipse">
            <a:avLst/>
          </a:prstGeom>
          <a:solidFill>
            <a:srgbClr val="E4A13B"/>
          </a:solidFill>
          <a:ln w="12700">
            <a:solidFill>
              <a:srgbClr val="E4A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8567928" y="40690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2D38"/>
                </a:solidFill>
              </a:rPr>
              <a:t>Training adoption</a:t>
            </a:r>
            <a:endParaRPr lang="en-US" sz="890" dirty="0"/>
          </a:p>
        </p:txBody>
      </p:sp>
      <p:sp>
        <p:nvSpPr>
          <p:cNvPr id="66" name="Shape 64"/>
          <p:cNvSpPr/>
          <p:nvPr/>
        </p:nvSpPr>
        <p:spPr>
          <a:xfrm>
            <a:off x="8330184" y="4389120"/>
            <a:ext cx="128016" cy="128016"/>
          </a:xfrm>
          <a:prstGeom prst="ellipse">
            <a:avLst/>
          </a:prstGeom>
          <a:solidFill>
            <a:srgbClr val="E4A13B"/>
          </a:solidFill>
          <a:ln w="12700">
            <a:solidFill>
              <a:srgbClr val="E4A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8567928" y="43525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2D38"/>
                </a:solidFill>
              </a:rPr>
              <a:t>Risk / issue decisions</a:t>
            </a:r>
            <a:endParaRPr lang="en-US" sz="890" dirty="0"/>
          </a:p>
        </p:txBody>
      </p:sp>
      <p:sp>
        <p:nvSpPr>
          <p:cNvPr id="68" name="Shape 66"/>
          <p:cNvSpPr/>
          <p:nvPr/>
        </p:nvSpPr>
        <p:spPr>
          <a:xfrm>
            <a:off x="8330184" y="4672584"/>
            <a:ext cx="128016" cy="128016"/>
          </a:xfrm>
          <a:prstGeom prst="ellipse">
            <a:avLst/>
          </a:prstGeom>
          <a:solidFill>
            <a:srgbClr val="E4A13B"/>
          </a:solidFill>
          <a:ln w="12700">
            <a:solidFill>
              <a:srgbClr val="E4A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8567928" y="46360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2D38"/>
                </a:solidFill>
              </a:rPr>
              <a:t>Go-live readiness + adoption</a:t>
            </a:r>
            <a:endParaRPr lang="en-US" sz="890" dirty="0"/>
          </a:p>
        </p:txBody>
      </p:sp>
      <p:sp>
        <p:nvSpPr>
          <p:cNvPr id="70" name="Shape 68"/>
          <p:cNvSpPr/>
          <p:nvPr/>
        </p:nvSpPr>
        <p:spPr>
          <a:xfrm>
            <a:off x="2011680" y="5989320"/>
            <a:ext cx="8183880" cy="365760"/>
          </a:xfrm>
          <a:prstGeom prst="roundRect">
            <a:avLst>
              <a:gd name="adj" fmla="val 12500"/>
            </a:avLst>
          </a:prstGeom>
          <a:solidFill>
            <a:srgbClr val="DFF3EA"/>
          </a:solidFill>
          <a:ln w="12700">
            <a:solidFill>
              <a:srgbClr val="BCE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2240280" y="6089904"/>
            <a:ext cx="7726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03247"/>
                </a:solidFill>
              </a:rPr>
              <a:t>Operating principle: tightly coordinated implementation → Durvah transitions into single-point-of-contact AMS after hypercare, with Ascent retained as rental-product specialist.</a:t>
            </a:r>
            <a:endParaRPr lang="en-US" sz="880" dirty="0"/>
          </a:p>
        </p:txBody>
      </p:sp>
      <p:sp>
        <p:nvSpPr>
          <p:cNvPr id="7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680" kern="1200">
                <a:solidFill>
                  <a:srgbClr val="8794A3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97A767-B0A6-466C-B4CB-83719098771A}"/>
              </a:ext>
            </a:extLst>
          </p:cNvPr>
          <p:cNvSpPr txBox="1"/>
          <p:nvPr/>
        </p:nvSpPr>
        <p:spPr>
          <a:xfrm>
            <a:off x="630936" y="585216"/>
            <a:ext cx="10780776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 activities and timeline:</a:t>
            </a:r>
            <a:br>
              <a:rPr lang="en-US" dirty="0"/>
            </a:b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Identification of USME serving team members and roles (account executive, project manager, delivery team) and client-facing vs backend- 9/7- Srini– client-facing, </a:t>
            </a:r>
            <a:r>
              <a:rPr lang="en-US" dirty="0" err="1"/>
              <a:t>Srini+Kishore</a:t>
            </a:r>
            <a:r>
              <a:rPr lang="en-US" dirty="0"/>
              <a:t>- </a:t>
            </a:r>
            <a:r>
              <a:rPr lang="en-US" dirty="0" err="1"/>
              <a:t>CEO+CFO+Ascent</a:t>
            </a:r>
            <a:r>
              <a:rPr lang="en-US" dirty="0"/>
              <a:t> rental planning</a:t>
            </a:r>
          </a:p>
          <a:p>
            <a:pPr marL="342900" indent="-342900">
              <a:buAutoNum type="arabicPeriod"/>
            </a:pPr>
            <a:r>
              <a:rPr lang="en-US" dirty="0"/>
              <a:t>Recap Durvah’s scope</a:t>
            </a:r>
          </a:p>
          <a:p>
            <a:pPr marL="342900" indent="-342900">
              <a:buAutoNum type="arabicPeriod"/>
            </a:pPr>
            <a:r>
              <a:rPr lang="en-US" dirty="0"/>
              <a:t>Durvah’s budget for the scope- $140K- Scope may stretch a bit under CRM space but should be mostly easy to accommodate items. </a:t>
            </a:r>
          </a:p>
          <a:p>
            <a:pPr marL="342900" indent="-342900">
              <a:buAutoNum type="arabicPeriod"/>
            </a:pPr>
            <a:r>
              <a:rPr lang="en-US" dirty="0"/>
              <a:t>Timeline:</a:t>
            </a:r>
          </a:p>
          <a:p>
            <a:pPr marL="800100" lvl="1" indent="-342900">
              <a:buAutoNum type="arabicPeriod"/>
            </a:pPr>
            <a:r>
              <a:rPr lang="en-US" dirty="0"/>
              <a:t>Ascent Rental MSA+SOW finalization- Sep 14, 2026</a:t>
            </a:r>
          </a:p>
          <a:p>
            <a:pPr marL="800100" lvl="1" indent="-342900">
              <a:buAutoNum type="arabicPeriod"/>
            </a:pPr>
            <a:r>
              <a:rPr lang="en-US" dirty="0"/>
              <a:t>Durvah-Rysrs-USME MSA+SOW finalization- Sep 14, 2026</a:t>
            </a:r>
          </a:p>
          <a:p>
            <a:pPr marL="800100" lvl="1" indent="-342900">
              <a:buAutoNum type="arabicPeriod"/>
            </a:pPr>
            <a:r>
              <a:rPr lang="en-US" b="1" dirty="0" err="1"/>
              <a:t>Durvah+Ascent</a:t>
            </a:r>
            <a:r>
              <a:rPr lang="en-US" b="1" dirty="0"/>
              <a:t> alignment on responsibilities and activities: Sep 9, 2026 (this is first session pre-SOW, expected to have more detailed session next week)</a:t>
            </a:r>
          </a:p>
          <a:p>
            <a:pPr marL="800100" lvl="1" indent="-342900">
              <a:buAutoNum type="arabicPeriod"/>
            </a:pPr>
            <a:r>
              <a:rPr lang="en-US" dirty="0" err="1"/>
              <a:t>Durvah+Naveen</a:t>
            </a:r>
            <a:r>
              <a:rPr lang="en-US" dirty="0"/>
              <a:t>- roles, working structure- Sep 12, 2026</a:t>
            </a:r>
          </a:p>
          <a:p>
            <a:pPr marL="800100" lvl="1" indent="-342900">
              <a:buAutoNum type="arabicPeriod"/>
            </a:pPr>
            <a:r>
              <a:rPr lang="en-US" dirty="0"/>
              <a:t>Planning and preparation – led by Sourabh- project plan, access, sandbox, tools, </a:t>
            </a:r>
            <a:r>
              <a:rPr lang="en-US" dirty="0" err="1"/>
              <a:t>etc</a:t>
            </a:r>
            <a:r>
              <a:rPr lang="en-US" dirty="0"/>
              <a:t>- to be completed by Sep 18</a:t>
            </a:r>
          </a:p>
          <a:p>
            <a:pPr marL="800100" lvl="1" indent="-342900">
              <a:buAutoNum type="arabicPeriod"/>
            </a:pPr>
            <a:r>
              <a:rPr lang="en-US" dirty="0"/>
              <a:t>Solution packs development for each area Durvah is responsible for- Sep 25- based on baseline understanding of needs</a:t>
            </a:r>
          </a:p>
          <a:p>
            <a:pPr marL="800100" lvl="1" indent="-342900">
              <a:buAutoNum type="arabicPeriod"/>
            </a:pPr>
            <a:r>
              <a:rPr lang="en-US" dirty="0"/>
              <a:t>Business requirements workshops- Sep 28 to Oct 1</a:t>
            </a:r>
          </a:p>
          <a:p>
            <a:pPr marL="800100" lvl="1" indent="-342900">
              <a:buAutoNum type="arabicPeriod"/>
            </a:pPr>
            <a:r>
              <a:rPr lang="en-US" dirty="0"/>
              <a:t>Data clean up- CRM-product catalog, pricebooks, customer master- Oct 2; following that Durvah to implement in SF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528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F8C69-B620-B6AB-0A2D-DAE193983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A4C8F2-070B-54FB-23B1-0F8C24464A0A}"/>
              </a:ext>
            </a:extLst>
          </p:cNvPr>
          <p:cNvSpPr txBox="1"/>
          <p:nvPr/>
        </p:nvSpPr>
        <p:spPr>
          <a:xfrm>
            <a:off x="630936" y="585216"/>
            <a:ext cx="1078077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 activities and timeline:</a:t>
            </a:r>
            <a:br>
              <a:rPr lang="en-US" dirty="0"/>
            </a:br>
            <a:endParaRPr lang="en-US" dirty="0"/>
          </a:p>
          <a:p>
            <a:r>
              <a:rPr lang="en-US" dirty="0"/>
              <a:t>5. Immediate priorities: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Access to CRM system- 9/9 (Sourabh to facilitate)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Meeting with 3 business stakeholders to understand pipeline, forecasting requirements against current set up and what needs to be changed- </a:t>
            </a:r>
            <a:r>
              <a:rPr lang="en-US" b="1" dirty="0" err="1"/>
              <a:t>Durvah+Naveen</a:t>
            </a:r>
            <a:r>
              <a:rPr lang="en-US" b="1" dirty="0"/>
              <a:t>- Aditya to set it up by 9/8</a:t>
            </a:r>
          </a:p>
          <a:p>
            <a:pPr marL="285750" indent="-285750">
              <a:buFontTx/>
              <a:buChar char="-"/>
            </a:pPr>
            <a:r>
              <a:rPr lang="en-US" dirty="0"/>
              <a:t>Initiate Discount authorization framework work – Sep 21; Confirm requirements by Sep 15</a:t>
            </a:r>
          </a:p>
          <a:p>
            <a:pPr marL="285750" indent="-285750">
              <a:buFontTx/>
              <a:buChar char="-"/>
            </a:pPr>
            <a:r>
              <a:rPr lang="en-US" dirty="0"/>
              <a:t>CRM improvement activities will take priority in Sep</a:t>
            </a:r>
          </a:p>
          <a:p>
            <a:pPr marL="285750" indent="-285750">
              <a:buFontTx/>
              <a:buChar char="-"/>
            </a:pPr>
            <a:r>
              <a:rPr lang="en-US" dirty="0"/>
              <a:t>Develop project plan for all CRM improvement activities and share with the client- Durvah- Sep 18</a:t>
            </a:r>
          </a:p>
          <a:p>
            <a:pPr marL="285750" indent="-285750">
              <a:buFontTx/>
              <a:buChar char="-"/>
            </a:pPr>
            <a:r>
              <a:rPr lang="en-US" dirty="0"/>
              <a:t>Every project member- review and internalize – business understanding- Aditya to send by Sep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  <a:p>
            <a:pPr marL="285750" indent="-285750">
              <a:buFontTx/>
              <a:buChar char="-"/>
            </a:pPr>
            <a:r>
              <a:rPr lang="en-US" dirty="0"/>
              <a:t>Workato—Identify SME (check </a:t>
            </a:r>
            <a:r>
              <a:rPr lang="en-US" dirty="0" err="1"/>
              <a:t>fiverr</a:t>
            </a:r>
            <a:r>
              <a:rPr lang="en-US" dirty="0"/>
              <a:t>)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6. Logistical items</a:t>
            </a:r>
          </a:p>
          <a:p>
            <a:pPr marL="285750" indent="-285750">
              <a:buFontTx/>
              <a:buChar char="-"/>
            </a:pPr>
            <a:r>
              <a:rPr lang="en-US" dirty="0"/>
              <a:t>MSA and SOW</a:t>
            </a:r>
          </a:p>
          <a:p>
            <a:pPr marL="285750" indent="-285750">
              <a:buFontTx/>
              <a:buChar char="-"/>
            </a:pPr>
            <a:r>
              <a:rPr lang="en-US" dirty="0"/>
              <a:t>XFLOWPAY (JP Morgan chase)</a:t>
            </a:r>
          </a:p>
          <a:p>
            <a:pPr marL="285750" indent="-285750">
              <a:buFontTx/>
              <a:buChar char="-"/>
            </a:pPr>
            <a:r>
              <a:rPr lang="en-US" dirty="0"/>
              <a:t>Access –requiring individuals– need name, role, phone, term</a:t>
            </a:r>
          </a:p>
          <a:p>
            <a:pPr marL="285750" indent="-285750">
              <a:buFontTx/>
              <a:buChar char="-"/>
            </a:pPr>
            <a:r>
              <a:rPr lang="en-US" dirty="0"/>
              <a:t>BAA- Business associate agreement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24123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1193</Words>
  <Application>Microsoft Office PowerPoint</Application>
  <PresentationFormat>Widescreen</PresentationFormat>
  <Paragraphs>198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Ponnam</dc:creator>
  <cp:lastModifiedBy>Aditya Ponnam</cp:lastModifiedBy>
  <cp:revision>1</cp:revision>
  <dcterms:created xsi:type="dcterms:W3CDTF">2026-09-08T03:45:54Z</dcterms:created>
  <dcterms:modified xsi:type="dcterms:W3CDTF">2026-09-08T05:10:18Z</dcterms:modified>
</cp:coreProperties>
</file>