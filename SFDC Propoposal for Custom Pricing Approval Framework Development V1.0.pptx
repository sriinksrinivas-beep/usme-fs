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147475650" r:id="rId2"/>
    <p:sldId id="257" r:id="rId3"/>
    <p:sldId id="258" r:id="rId4"/>
    <p:sldId id="259" r:id="rId5"/>
    <p:sldId id="262" r:id="rId6"/>
    <p:sldId id="263" r:id="rId7"/>
    <p:sldId id="2147475652" r:id="rId8"/>
    <p:sldId id="264" r:id="rId9"/>
    <p:sldId id="265" r:id="rId10"/>
    <p:sldId id="2147475651" r:id="rId11"/>
    <p:sldId id="2147475641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0638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D307F3-7E61-4C5F-9291-466F756A19B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0903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D307F3-7E61-4C5F-9291-466F756A19B3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95820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A8DAD6-3B8C-DE2D-7968-5DFA5FC7A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5448F-7E91-4978-B01C-5E6F5972252D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890535-E12A-3647-1405-32F162B91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CCA694-4122-DE7D-0D05-C2739AACA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690C-14D4-416E-9982-CFA3EB33E8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0801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4F690-54B4-7D7C-D591-926DE70DB4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DFAEDC-4C6D-D359-81B9-188391EAB2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0F6CB-C808-7689-D775-A99EDCCF9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5448F-7E91-4978-B01C-5E6F5972252D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209A9-85EB-93FC-D7B3-2D10B0CCD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CDB41-ED8D-D336-FAAA-F3DC98983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690C-14D4-416E-9982-CFA3EB33E8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4297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12.png"/><Relationship Id="rId9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A8FA5E5-F63F-AAA4-DBB6-0C9A28B19701}"/>
              </a:ext>
            </a:extLst>
          </p:cNvPr>
          <p:cNvSpPr/>
          <p:nvPr/>
        </p:nvSpPr>
        <p:spPr>
          <a:xfrm>
            <a:off x="3048000" y="0"/>
            <a:ext cx="3693459" cy="6858000"/>
          </a:xfrm>
          <a:prstGeom prst="rect">
            <a:avLst/>
          </a:prstGeom>
          <a:solidFill>
            <a:srgbClr val="5B9B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Top view of businessman signing documents">
            <a:extLst>
              <a:ext uri="{FF2B5EF4-FFF2-40B4-BE49-F238E27FC236}">
                <a16:creationId xmlns:a16="http://schemas.microsoft.com/office/drawing/2014/main" id="{0FDCA4AC-065D-BF57-AC54-87997C1F30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5558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15B8DEC-6F08-C623-2322-180CC7D6F47E}"/>
              </a:ext>
            </a:extLst>
          </p:cNvPr>
          <p:cNvSpPr/>
          <p:nvPr/>
        </p:nvSpPr>
        <p:spPr>
          <a:xfrm>
            <a:off x="2895600" y="0"/>
            <a:ext cx="4495800" cy="6858000"/>
          </a:xfrm>
          <a:prstGeom prst="rect">
            <a:avLst/>
          </a:prstGeom>
          <a:solidFill>
            <a:srgbClr val="5B9B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91B8FA-B60A-51E3-EDF5-FD955CD997B6}"/>
              </a:ext>
            </a:extLst>
          </p:cNvPr>
          <p:cNvSpPr txBox="1"/>
          <p:nvPr/>
        </p:nvSpPr>
        <p:spPr>
          <a:xfrm>
            <a:off x="4068855" y="2182468"/>
            <a:ext cx="3139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Technical &amp; Commercial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DA6409-D6CC-3598-D8CA-9EE8CE9C25BF}"/>
              </a:ext>
            </a:extLst>
          </p:cNvPr>
          <p:cNvSpPr txBox="1"/>
          <p:nvPr/>
        </p:nvSpPr>
        <p:spPr>
          <a:xfrm>
            <a:off x="3219449" y="2438400"/>
            <a:ext cx="3846979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300" b="1" dirty="0">
                <a:solidFill>
                  <a:schemeClr val="bg1"/>
                </a:solidFill>
              </a:rPr>
              <a:t>Proposal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60C97B-D6BC-3747-EC45-F61134191D5C}"/>
              </a:ext>
            </a:extLst>
          </p:cNvPr>
          <p:cNvSpPr txBox="1"/>
          <p:nvPr/>
        </p:nvSpPr>
        <p:spPr>
          <a:xfrm>
            <a:off x="3586442" y="3458459"/>
            <a:ext cx="311915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To build Custom Pricing &amp; Discount Authorization &amp; Approval Framework on Sales Cloud Platform</a:t>
            </a:r>
          </a:p>
          <a:p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14" name="Picture 4" descr="Note Svg Png Icon Free Download (#126426) - OnlineWebFonts.COM">
            <a:extLst>
              <a:ext uri="{FF2B5EF4-FFF2-40B4-BE49-F238E27FC236}">
                <a16:creationId xmlns:a16="http://schemas.microsoft.com/office/drawing/2014/main" id="{B167777C-E8CA-F588-58D0-BC4E8E422C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5041" y="1734368"/>
            <a:ext cx="842963" cy="842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blue and black logo&#10;&#10;AI-generated content may be incorrect.">
            <a:extLst>
              <a:ext uri="{FF2B5EF4-FFF2-40B4-BE49-F238E27FC236}">
                <a16:creationId xmlns:a16="http://schemas.microsoft.com/office/drawing/2014/main" id="{81BD21C9-A741-FF4D-66CB-1F41DDBCAD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72" y="304800"/>
            <a:ext cx="2080261" cy="720792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6C10138C-77FF-5F0C-ACFA-5CF0BFB17897}"/>
              </a:ext>
            </a:extLst>
          </p:cNvPr>
          <p:cNvSpPr/>
          <p:nvPr/>
        </p:nvSpPr>
        <p:spPr>
          <a:xfrm>
            <a:off x="3261360" y="465667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MED-EQUIP (USME)</a:t>
            </a:r>
            <a:endParaRPr lang="en-US" sz="15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FC36987A-F4A9-3F7D-28F6-E35B86979A4A}"/>
              </a:ext>
            </a:extLst>
          </p:cNvPr>
          <p:cNvSpPr/>
          <p:nvPr/>
        </p:nvSpPr>
        <p:spPr>
          <a:xfrm>
            <a:off x="2895601" y="5807439"/>
            <a:ext cx="41708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USME Executive Leadership 
</a:t>
            </a: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Durvah 
</a:t>
            </a: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 |  July 23, 2026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940694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42032" cy="3566160"/>
          </a:xfrm>
          <a:prstGeom prst="roundRect">
            <a:avLst>
              <a:gd name="adj" fmla="val 3597"/>
            </a:avLst>
          </a:prstGeom>
          <a:solidFill>
            <a:srgbClr val="5B9B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Text 3"/>
          <p:cNvSpPr/>
          <p:nvPr/>
        </p:nvSpPr>
        <p:spPr>
          <a:xfrm>
            <a:off x="777240" y="2267712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pic>
        <p:nvPicPr>
          <p:cNvPr id="6" name="Image 0" descr="/home/claude/proposal/icon_scope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1992" y="2304288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06324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Scope</a:t>
            </a:r>
          </a:p>
        </p:txBody>
      </p:sp>
      <p:sp>
        <p:nvSpPr>
          <p:cNvPr id="8" name="Text 5"/>
          <p:cNvSpPr/>
          <p:nvPr/>
        </p:nvSpPr>
        <p:spPr>
          <a:xfrm>
            <a:off x="777240" y="3520440"/>
            <a:ext cx="208483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build on Sales Cloud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346704" y="2011680"/>
            <a:ext cx="2542032" cy="3566160"/>
          </a:xfrm>
          <a:prstGeom prst="roundRect">
            <a:avLst>
              <a:gd name="adj" fmla="val 3597"/>
            </a:avLst>
          </a:prstGeom>
          <a:solidFill>
            <a:srgbClr val="F3F6FD"/>
          </a:solidFill>
          <a:ln/>
          <a:effectLst>
            <a:outerShdw blurRad="76200" dist="38100" dir="5400000" algn="bl" rotWithShape="0">
              <a:srgbClr val="6B728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575304" y="2267712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pic>
        <p:nvPicPr>
          <p:cNvPr id="11" name="Image 1" descr="/home/claude/proposal/icon_timelin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0056" y="2304288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75304" y="306324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Timelines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575304" y="3520440"/>
            <a:ext cx="208483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delivery across a 20-week program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144768" y="2011680"/>
            <a:ext cx="2542032" cy="3566160"/>
          </a:xfrm>
          <a:prstGeom prst="roundRect">
            <a:avLst>
              <a:gd name="adj" fmla="val 3597"/>
            </a:avLst>
          </a:prstGeom>
          <a:solidFill>
            <a:srgbClr val="F3F6FD"/>
          </a:solidFill>
          <a:ln/>
          <a:effectLst>
            <a:outerShdw blurRad="76200" dist="38100" dir="5400000" algn="bl" rotWithShape="0">
              <a:srgbClr val="6B7280">
                <a:alpha val="25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373368" y="2267712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pic>
        <p:nvPicPr>
          <p:cNvPr id="16" name="Image 2" descr="/home/claude/proposal/icon_commercials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2304288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73368" y="306324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Commercials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6373368" y="3520440"/>
            <a:ext cx="208483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Effort, rates and commercial terms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8942832" y="2011680"/>
            <a:ext cx="2542032" cy="3566160"/>
          </a:xfrm>
          <a:prstGeom prst="roundRect">
            <a:avLst>
              <a:gd name="adj" fmla="val 3597"/>
            </a:avLst>
          </a:prstGeom>
          <a:solidFill>
            <a:srgbClr val="F3F6FD"/>
          </a:solidFill>
          <a:ln/>
          <a:effectLst>
            <a:outerShdw blurRad="76200" dist="38100" dir="5400000" algn="bl" rotWithShape="0">
              <a:srgbClr val="6B7280">
                <a:alpha val="25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9171432" y="2267712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pic>
        <p:nvPicPr>
          <p:cNvPr id="21" name="Image 3" descr="/home/claude/proposal/icon_annexure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16184" y="2304288"/>
            <a:ext cx="548640" cy="5486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71432" y="306324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Annexure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9171432" y="3520440"/>
            <a:ext cx="208483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Architecture, solution Approach,  business flow &amp; Data Model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Durvah  |  USME Pricing &amp; Discount Authorization Proposal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E8DE680-ADD1-314C-F882-52A64F7137E6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0226" y="215547"/>
            <a:ext cx="1158373" cy="43121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Build on Sales Cloud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system-enforced framework so every discount is evaluated, routed, and audited the same way — no exceptions handled off-platform.</a:t>
            </a:r>
            <a:endParaRPr lang="en-US" sz="1350" dirty="0"/>
          </a:p>
        </p:txBody>
      </p:sp>
      <p:pic>
        <p:nvPicPr>
          <p:cNvPr id="5" name="Image 0" descr="/home/claude/proposal/icon_engin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0574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947672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Data Model &amp; Authority Matrix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532120" y="1947672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data model, automation, and UI to support Price Books, discount request &amp; reason codes, and the multi-dimension Authority Matrix.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788920"/>
            <a:ext cx="10881360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pic>
        <p:nvPicPr>
          <p:cNvPr id="9" name="Image 1" descr="/home/claude/proposal/icon_rout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953512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843784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Approval Routing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5532120" y="2843784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Automated, most-restrictive-factor-wins routing across tiers, a Deal Desk queue, SLA handling, and margin-floor enforcement with a hard Finance gate.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685032"/>
            <a:ext cx="10881360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pic>
        <p:nvPicPr>
          <p:cNvPr id="13" name="Image 2" descr="/home/claude/proposal/icon_shield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849624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739896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Controls, Expiration &amp; Audit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5532120" y="3739896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expiration and re-approval logic, plus a full audit/override log capturing who approved what, why, and until when.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4581144"/>
            <a:ext cx="10881360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pic>
        <p:nvPicPr>
          <p:cNvPr id="17" name="Image 3" descr="/home/claude/proposal/icon_chart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4745736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4636008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Value Score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5532120" y="4636008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informational 0–20 field set surfaced to approvers for context — explicitly non-gating, per the Strategic Value Score Guide.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" y="5477256"/>
            <a:ext cx="10881360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pic>
        <p:nvPicPr>
          <p:cNvPr id="21" name="Image 4" descr="/home/claude/proposal/icon_trend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5641848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34440" y="553212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Governance Dashboards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5532120" y="5532120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dashboards for the Pricing Council KPIs defined in the Commercial Deal Framework (auto-approval rate, cycle time, margin realization, leakage).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548640" y="6373368"/>
            <a:ext cx="10881360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Durvah  |  USME Pricing &amp; Discount Authorization Proposal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FBCD42A-FCA6-48CE-F9DD-703BDBD59D6C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0226" y="215547"/>
            <a:ext cx="1158373" cy="4312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PROJECT TIMELINES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Roadmap — 20-Week Program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246120"/>
            <a:ext cx="10881360" cy="0"/>
          </a:xfrm>
          <a:prstGeom prst="line">
            <a:avLst/>
          </a:prstGeom>
          <a:noFill/>
          <a:ln w="762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3163824"/>
            <a:ext cx="1632204" cy="164592"/>
          </a:xfrm>
          <a:prstGeom prst="roundRect">
            <a:avLst>
              <a:gd name="adj" fmla="val 27778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2272284" y="3163824"/>
            <a:ext cx="1632204" cy="164592"/>
          </a:xfrm>
          <a:prstGeom prst="roundRect">
            <a:avLst>
              <a:gd name="adj" fmla="val 27778"/>
            </a:avLst>
          </a:prstGeom>
          <a:solidFill>
            <a:srgbClr val="2C3E8C"/>
          </a:solidFill>
          <a:ln/>
        </p:spPr>
      </p:sp>
      <p:sp>
        <p:nvSpPr>
          <p:cNvPr id="7" name="Shape 5"/>
          <p:cNvSpPr/>
          <p:nvPr/>
        </p:nvSpPr>
        <p:spPr>
          <a:xfrm>
            <a:off x="3904488" y="3163824"/>
            <a:ext cx="2720340" cy="164592"/>
          </a:xfrm>
          <a:prstGeom prst="roundRect">
            <a:avLst>
              <a:gd name="adj" fmla="val 27778"/>
            </a:avLst>
          </a:prstGeom>
          <a:solidFill>
            <a:srgbClr val="3A4FA8"/>
          </a:solidFill>
          <a:ln/>
        </p:spPr>
      </p:sp>
      <p:sp>
        <p:nvSpPr>
          <p:cNvPr id="8" name="Shape 6"/>
          <p:cNvSpPr/>
          <p:nvPr/>
        </p:nvSpPr>
        <p:spPr>
          <a:xfrm>
            <a:off x="6624828" y="3163824"/>
            <a:ext cx="1632204" cy="164592"/>
          </a:xfrm>
          <a:prstGeom prst="roundRect">
            <a:avLst>
              <a:gd name="adj" fmla="val 27778"/>
            </a:avLst>
          </a:prstGeom>
          <a:solidFill>
            <a:srgbClr val="5468C4"/>
          </a:solidFill>
          <a:ln/>
        </p:spPr>
      </p:sp>
      <p:sp>
        <p:nvSpPr>
          <p:cNvPr id="9" name="Shape 7"/>
          <p:cNvSpPr/>
          <p:nvPr/>
        </p:nvSpPr>
        <p:spPr>
          <a:xfrm>
            <a:off x="8257032" y="3163824"/>
            <a:ext cx="1632204" cy="164592"/>
          </a:xfrm>
          <a:prstGeom prst="roundRect">
            <a:avLst>
              <a:gd name="adj" fmla="val 27778"/>
            </a:avLst>
          </a:prstGeom>
          <a:solidFill>
            <a:srgbClr val="C9A227"/>
          </a:solidFill>
          <a:ln/>
        </p:spPr>
      </p:sp>
      <p:sp>
        <p:nvSpPr>
          <p:cNvPr id="10" name="Shape 8"/>
          <p:cNvSpPr/>
          <p:nvPr/>
        </p:nvSpPr>
        <p:spPr>
          <a:xfrm>
            <a:off x="9889236" y="3163824"/>
            <a:ext cx="1632204" cy="164592"/>
          </a:xfrm>
          <a:prstGeom prst="roundRect">
            <a:avLst>
              <a:gd name="adj" fmla="val 27778"/>
            </a:avLst>
          </a:prstGeom>
          <a:solidFill>
            <a:srgbClr val="8A6D1A"/>
          </a:solidFill>
          <a:ln/>
        </p:spPr>
      </p:sp>
      <p:sp>
        <p:nvSpPr>
          <p:cNvPr id="11" name="Shape 9"/>
          <p:cNvSpPr/>
          <p:nvPr/>
        </p:nvSpPr>
        <p:spPr>
          <a:xfrm>
            <a:off x="1101852" y="3209544"/>
            <a:ext cx="237744" cy="23774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20724" y="2926080"/>
            <a:ext cx="0" cy="320040"/>
          </a:xfrm>
          <a:prstGeom prst="line">
            <a:avLst/>
          </a:prstGeom>
          <a:noFill/>
          <a:ln w="15875">
            <a:solidFill>
              <a:srgbClr val="C7CEDE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640080" y="1417320"/>
            <a:ext cx="1737360" cy="1508760"/>
          </a:xfrm>
          <a:prstGeom prst="roundRect">
            <a:avLst>
              <a:gd name="adj" fmla="val 4848"/>
            </a:avLst>
          </a:prstGeom>
          <a:solidFill>
            <a:srgbClr val="F3F6FD"/>
          </a:solidFill>
          <a:ln w="12700">
            <a:solidFill>
              <a:srgbClr val="E3E7F0"/>
            </a:solidFill>
            <a:prstDash val="solid"/>
          </a:ln>
        </p:spPr>
      </p:sp>
      <p:pic>
        <p:nvPicPr>
          <p:cNvPr id="14" name="Image 0" descr="/home/claude/proposal/icon_engin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563624"/>
            <a:ext cx="329184" cy="32918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70432" y="154533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W1–W3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86384" y="1947672"/>
            <a:ext cx="14447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Discounting Engine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2734056" y="3209544"/>
            <a:ext cx="237744" cy="237744"/>
          </a:xfrm>
          <a:prstGeom prst="ellipse">
            <a:avLst/>
          </a:prstGeom>
          <a:solidFill>
            <a:srgbClr val="2C3E8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852928" y="3364992"/>
            <a:ext cx="0" cy="429768"/>
          </a:xfrm>
          <a:prstGeom prst="line">
            <a:avLst/>
          </a:prstGeom>
          <a:noFill/>
          <a:ln w="15875">
            <a:solidFill>
              <a:srgbClr val="C7CEDE"/>
            </a:solidFill>
            <a:prstDash val="dash"/>
          </a:ln>
        </p:spPr>
      </p:sp>
      <p:sp>
        <p:nvSpPr>
          <p:cNvPr id="19" name="Shape 16"/>
          <p:cNvSpPr/>
          <p:nvPr/>
        </p:nvSpPr>
        <p:spPr>
          <a:xfrm>
            <a:off x="2468880" y="3794760"/>
            <a:ext cx="1737360" cy="1508760"/>
          </a:xfrm>
          <a:prstGeom prst="roundRect">
            <a:avLst>
              <a:gd name="adj" fmla="val 4848"/>
            </a:avLst>
          </a:prstGeom>
          <a:solidFill>
            <a:srgbClr val="F3F6FD"/>
          </a:solidFill>
          <a:ln w="12700">
            <a:solidFill>
              <a:srgbClr val="E3E7F0"/>
            </a:solidFill>
            <a:prstDash val="solid"/>
          </a:ln>
        </p:spPr>
      </p:sp>
      <p:pic>
        <p:nvPicPr>
          <p:cNvPr id="20" name="Image 1" descr="/home/claude/proposal/icon_char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5184" y="3941064"/>
            <a:ext cx="329184" cy="32918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999232" y="392277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W4–W6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2615184" y="4325112"/>
            <a:ext cx="14447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Value Score &amp; Reason Codes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4910328" y="3209544"/>
            <a:ext cx="237744" cy="237744"/>
          </a:xfrm>
          <a:prstGeom prst="ellipse">
            <a:avLst/>
          </a:prstGeom>
          <a:solidFill>
            <a:srgbClr val="3A4FA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029200" y="2926080"/>
            <a:ext cx="0" cy="320040"/>
          </a:xfrm>
          <a:prstGeom prst="line">
            <a:avLst/>
          </a:prstGeom>
          <a:noFill/>
          <a:ln w="15875">
            <a:solidFill>
              <a:srgbClr val="C7CEDE"/>
            </a:solidFill>
            <a:prstDash val="dash"/>
          </a:ln>
        </p:spPr>
      </p:sp>
      <p:sp>
        <p:nvSpPr>
          <p:cNvPr id="25" name="Shape 21"/>
          <p:cNvSpPr/>
          <p:nvPr/>
        </p:nvSpPr>
        <p:spPr>
          <a:xfrm>
            <a:off x="4297680" y="1417320"/>
            <a:ext cx="1737360" cy="1508760"/>
          </a:xfrm>
          <a:prstGeom prst="roundRect">
            <a:avLst>
              <a:gd name="adj" fmla="val 4848"/>
            </a:avLst>
          </a:prstGeom>
          <a:solidFill>
            <a:srgbClr val="F3F6FD"/>
          </a:solidFill>
          <a:ln w="12700">
            <a:solidFill>
              <a:srgbClr val="E3E7F0"/>
            </a:solidFill>
            <a:prstDash val="solid"/>
          </a:ln>
        </p:spPr>
      </p:sp>
      <p:pic>
        <p:nvPicPr>
          <p:cNvPr id="26" name="Image 2" descr="/home/claude/proposal/icon_route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3984" y="1563624"/>
            <a:ext cx="329184" cy="32918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4828032" y="154533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W7–W11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4443984" y="1947672"/>
            <a:ext cx="14447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Multi-Tier Approval &amp; SLA Escalation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7086600" y="3209544"/>
            <a:ext cx="237744" cy="237744"/>
          </a:xfrm>
          <a:prstGeom prst="ellipse">
            <a:avLst/>
          </a:prstGeom>
          <a:solidFill>
            <a:srgbClr val="5468C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205472" y="3364992"/>
            <a:ext cx="0" cy="429768"/>
          </a:xfrm>
          <a:prstGeom prst="line">
            <a:avLst/>
          </a:prstGeom>
          <a:noFill/>
          <a:ln w="15875">
            <a:solidFill>
              <a:srgbClr val="C7CEDE"/>
            </a:solidFill>
            <a:prstDash val="dash"/>
          </a:ln>
        </p:spPr>
      </p:sp>
      <p:sp>
        <p:nvSpPr>
          <p:cNvPr id="31" name="Shape 26"/>
          <p:cNvSpPr/>
          <p:nvPr/>
        </p:nvSpPr>
        <p:spPr>
          <a:xfrm>
            <a:off x="6126480" y="3794760"/>
            <a:ext cx="1737360" cy="1508760"/>
          </a:xfrm>
          <a:prstGeom prst="roundRect">
            <a:avLst>
              <a:gd name="adj" fmla="val 4848"/>
            </a:avLst>
          </a:prstGeom>
          <a:solidFill>
            <a:srgbClr val="F3F6FD"/>
          </a:solidFill>
          <a:ln w="12700">
            <a:solidFill>
              <a:srgbClr val="E3E7F0"/>
            </a:solidFill>
            <a:prstDash val="solid"/>
          </a:ln>
        </p:spPr>
      </p:sp>
      <p:pic>
        <p:nvPicPr>
          <p:cNvPr id="32" name="Image 3" descr="/home/claude/proposal/icon_shield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2784" y="3941064"/>
            <a:ext cx="329184" cy="32918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656832" y="392277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W12–W14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6272784" y="4325112"/>
            <a:ext cx="14447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Safeguards &amp; Validation Rules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8718804" y="3209544"/>
            <a:ext cx="237744" cy="237744"/>
          </a:xfrm>
          <a:prstGeom prst="ellipse">
            <a:avLst/>
          </a:prstGeom>
          <a:solidFill>
            <a:srgbClr val="C9A22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8837676" y="2926080"/>
            <a:ext cx="0" cy="320040"/>
          </a:xfrm>
          <a:prstGeom prst="line">
            <a:avLst/>
          </a:prstGeom>
          <a:noFill/>
          <a:ln w="15875">
            <a:solidFill>
              <a:srgbClr val="C7CEDE"/>
            </a:solidFill>
            <a:prstDash val="dash"/>
          </a:ln>
        </p:spPr>
      </p:sp>
      <p:sp>
        <p:nvSpPr>
          <p:cNvPr id="37" name="Shape 31"/>
          <p:cNvSpPr/>
          <p:nvPr/>
        </p:nvSpPr>
        <p:spPr>
          <a:xfrm>
            <a:off x="7955280" y="1417320"/>
            <a:ext cx="1737360" cy="1508760"/>
          </a:xfrm>
          <a:prstGeom prst="roundRect">
            <a:avLst>
              <a:gd name="adj" fmla="val 4848"/>
            </a:avLst>
          </a:prstGeom>
          <a:solidFill>
            <a:srgbClr val="F3F6FD"/>
          </a:solidFill>
          <a:ln w="12700">
            <a:solidFill>
              <a:srgbClr val="E3E7F0"/>
            </a:solidFill>
            <a:prstDash val="solid"/>
          </a:ln>
        </p:spPr>
      </p:sp>
      <p:pic>
        <p:nvPicPr>
          <p:cNvPr id="38" name="Image 4" descr="/home/claude/proposal/icon_trend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1584" y="1563624"/>
            <a:ext cx="329184" cy="329184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8485632" y="154533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W15–W17</a:t>
            </a:r>
            <a:endParaRPr lang="en-US" sz="1150" dirty="0"/>
          </a:p>
        </p:txBody>
      </p:sp>
      <p:sp>
        <p:nvSpPr>
          <p:cNvPr id="40" name="Text 33"/>
          <p:cNvSpPr/>
          <p:nvPr/>
        </p:nvSpPr>
        <p:spPr>
          <a:xfrm>
            <a:off x="8101584" y="1947672"/>
            <a:ext cx="14447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Reports &amp; Dashboards</a:t>
            </a:r>
            <a:endParaRPr lang="en-US" sz="1150" dirty="0"/>
          </a:p>
        </p:txBody>
      </p:sp>
      <p:sp>
        <p:nvSpPr>
          <p:cNvPr id="41" name="Shape 34"/>
          <p:cNvSpPr/>
          <p:nvPr/>
        </p:nvSpPr>
        <p:spPr>
          <a:xfrm>
            <a:off x="10351008" y="3209544"/>
            <a:ext cx="237744" cy="237744"/>
          </a:xfrm>
          <a:prstGeom prst="ellipse">
            <a:avLst/>
          </a:prstGeom>
          <a:solidFill>
            <a:srgbClr val="8A6D1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10469880" y="3364992"/>
            <a:ext cx="0" cy="429768"/>
          </a:xfrm>
          <a:prstGeom prst="line">
            <a:avLst/>
          </a:prstGeom>
          <a:noFill/>
          <a:ln w="15875">
            <a:solidFill>
              <a:srgbClr val="C7CEDE"/>
            </a:solidFill>
            <a:prstDash val="dash"/>
          </a:ln>
        </p:spPr>
      </p:sp>
      <p:sp>
        <p:nvSpPr>
          <p:cNvPr id="43" name="Shape 36"/>
          <p:cNvSpPr/>
          <p:nvPr/>
        </p:nvSpPr>
        <p:spPr>
          <a:xfrm>
            <a:off x="9784080" y="3794760"/>
            <a:ext cx="1737360" cy="1508760"/>
          </a:xfrm>
          <a:prstGeom prst="roundRect">
            <a:avLst>
              <a:gd name="adj" fmla="val 4848"/>
            </a:avLst>
          </a:prstGeom>
          <a:solidFill>
            <a:srgbClr val="F3F6FD"/>
          </a:solidFill>
          <a:ln w="12700">
            <a:solidFill>
              <a:srgbClr val="E3E7F0"/>
            </a:solidFill>
            <a:prstDash val="solid"/>
          </a:ln>
        </p:spPr>
      </p:sp>
      <p:pic>
        <p:nvPicPr>
          <p:cNvPr id="44" name="Image 5" descr="/home/claude/proposal/icon_database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30384" y="3941064"/>
            <a:ext cx="329184" cy="329184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10314432" y="392277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W18–W20</a:t>
            </a:r>
            <a:endParaRPr lang="en-US" sz="1150" dirty="0"/>
          </a:p>
        </p:txBody>
      </p:sp>
      <p:sp>
        <p:nvSpPr>
          <p:cNvPr id="46" name="Text 38"/>
          <p:cNvSpPr/>
          <p:nvPr/>
        </p:nvSpPr>
        <p:spPr>
          <a:xfrm>
            <a:off x="9930384" y="4325112"/>
            <a:ext cx="14447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Cleanup &amp; Core Schema</a:t>
            </a:r>
            <a:endParaRPr lang="en-US" sz="1150" dirty="0"/>
          </a:p>
        </p:txBody>
      </p:sp>
      <p:sp>
        <p:nvSpPr>
          <p:cNvPr id="47" name="Text 39"/>
          <p:cNvSpPr/>
          <p:nvPr/>
        </p:nvSpPr>
        <p:spPr>
          <a:xfrm>
            <a:off x="548640" y="61722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timeframe: 2–3 months (20 working weeks) from build kickoff to production-ready governance reporting.</a:t>
            </a:r>
            <a:endParaRPr lang="en-US" sz="1200" dirty="0"/>
          </a:p>
        </p:txBody>
      </p:sp>
      <p:sp>
        <p:nvSpPr>
          <p:cNvPr id="48" name="Text 4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Durvah  |  USME Pricing &amp; Discount Authorization Proposal</a:t>
            </a:r>
            <a:endParaRPr lang="en-US" sz="900" dirty="0"/>
          </a:p>
        </p:txBody>
      </p:sp>
      <p:sp>
        <p:nvSpPr>
          <p:cNvPr id="49" name="Text 4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12E42FAE-2FF0-98CE-4190-3F07D7B4FFBF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0226" y="215547"/>
            <a:ext cx="1158373" cy="4312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PROJECT TIMELINES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Governance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the USME SPOC to deliver the project on time, on scope, and with full visibility into risk.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257800" cy="3840480"/>
          </a:xfrm>
          <a:prstGeom prst="roundRect">
            <a:avLst>
              <a:gd name="adj" fmla="val 2143"/>
            </a:avLst>
          </a:prstGeom>
          <a:solidFill>
            <a:srgbClr val="F3F6FD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33172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pic>
        <p:nvPicPr>
          <p:cNvPr id="7" name="Image 0" descr="/home/claude/proposal/icon_timelin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450592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36192" y="2350008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536192" y="260604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Progress Review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310896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Participants: </a:t>
            </a: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Durvah + USME SPOC (Business &amp; IT)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22960" y="3657600"/>
            <a:ext cx="4709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status against plan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of meetings / planning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Issues, delays &amp; risk mitigation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22960" y="539496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</a:t>
            </a: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Durvah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72200" y="2057400"/>
            <a:ext cx="5257800" cy="3840480"/>
          </a:xfrm>
          <a:prstGeom prst="roundRect">
            <a:avLst>
              <a:gd name="adj" fmla="val 2143"/>
            </a:avLst>
          </a:prstGeom>
          <a:solidFill>
            <a:srgbClr val="F3F6FD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46520" y="233172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pic>
        <p:nvPicPr>
          <p:cNvPr id="15" name="Image 1" descr="/home/claude/proposal/icon_han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2450592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59752" y="2350008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7159752" y="260604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Session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446520" y="310896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Participants: </a:t>
            </a: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Durvah + USME SPOC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6446520" y="3657600"/>
            <a:ext cx="4709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as and when inputs, clarifications, or confirmations are required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Fast-turnaround decisions to keep the build unblocked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6446520" y="539496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</a:t>
            </a: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Durvah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Durvah  |  USME Pricing &amp; Discount Authorization Proposal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3A2560-0E81-F5C1-9B3F-CD6940353343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0226" y="215547"/>
            <a:ext cx="1158373" cy="4312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COMMERCIALS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Commercials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499470"/>
              </p:ext>
            </p:extLst>
          </p:nvPr>
        </p:nvGraphicFramePr>
        <p:xfrm>
          <a:off x="1143000" y="1693817"/>
          <a:ext cx="8778240" cy="1356360"/>
        </p:xfrm>
        <a:graphic>
          <a:graphicData uri="http://schemas.openxmlformats.org/drawingml/2006/table">
            <a:tbl>
              <a:tblPr/>
              <a:tblGrid>
                <a:gridCol w="4480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 Services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 Total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CURRENCY TOTAL 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703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Commercial Notes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4069080"/>
            <a:ext cx="10881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requirement outside the agreed scope will be treated as a Change Request (CR), estimated separately, and charged at the agreed person-day rate.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Costing is inclusive of professional fees and standard delivery expenses for remote delivery.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consultants are required to travel to a USME site, travel, local transport, accommodation and other incidental expenses will be charged to USME at actuals.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commercial proposal is valid for 30 days from the date of issue unless otherwise agreed in writing.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Durvah  |  USME Pricing &amp; Discount Authorization Proposal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E6F819A-3302-D84F-A3BF-E1146039DB0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0226" y="215547"/>
            <a:ext cx="1158373" cy="4312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ECBBA905-E256-92E9-8E11-8F276448EF0C}"/>
              </a:ext>
            </a:extLst>
          </p:cNvPr>
          <p:cNvGrpSpPr/>
          <p:nvPr/>
        </p:nvGrpSpPr>
        <p:grpSpPr>
          <a:xfrm>
            <a:off x="4168829" y="5420559"/>
            <a:ext cx="3494315" cy="1099457"/>
            <a:chOff x="8213271" y="1883229"/>
            <a:chExt cx="3494315" cy="109945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6A53F86-4BCB-9D44-B3FB-7590CD6C329D}"/>
                </a:ext>
              </a:extLst>
            </p:cNvPr>
            <p:cNvSpPr/>
            <p:nvPr/>
          </p:nvSpPr>
          <p:spPr>
            <a:xfrm>
              <a:off x="8213271" y="1883229"/>
              <a:ext cx="3494315" cy="109945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400" dirty="0">
                <a:solidFill>
                  <a:schemeClr val="tx1"/>
                </a:solidFill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B60E4F9-BA45-8E0B-BEB1-CABA5344E29B}"/>
                </a:ext>
              </a:extLst>
            </p:cNvPr>
            <p:cNvSpPr/>
            <p:nvPr/>
          </p:nvSpPr>
          <p:spPr>
            <a:xfrm>
              <a:off x="8420100" y="2336348"/>
              <a:ext cx="1768929" cy="50074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dirty="0">
                  <a:solidFill>
                    <a:schemeClr val="tx1"/>
                  </a:solidFill>
                </a:rPr>
                <a:t>GOUSME (ERP)</a:t>
              </a:r>
            </a:p>
            <a:p>
              <a:pPr algn="ctr"/>
              <a:r>
                <a:rPr lang="en-IN" sz="1000" dirty="0">
                  <a:solidFill>
                    <a:schemeClr val="tx1"/>
                  </a:solidFill>
                </a:rPr>
                <a:t>Masters &amp; Customer Data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D38FD0B-95A6-A33C-5BFB-9F28CC4D2312}"/>
                </a:ext>
              </a:extLst>
            </p:cNvPr>
            <p:cNvSpPr/>
            <p:nvPr/>
          </p:nvSpPr>
          <p:spPr>
            <a:xfrm>
              <a:off x="10341430" y="2341790"/>
              <a:ext cx="1110342" cy="50074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dirty="0">
                  <a:solidFill>
                    <a:schemeClr val="tx1"/>
                  </a:solidFill>
                </a:rPr>
                <a:t>Service NOW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2F99534-7FA7-4F82-A542-D0039848C14C}"/>
                </a:ext>
              </a:extLst>
            </p:cNvPr>
            <p:cNvSpPr txBox="1"/>
            <p:nvPr/>
          </p:nvSpPr>
          <p:spPr>
            <a:xfrm>
              <a:off x="9225643" y="1899302"/>
              <a:ext cx="167095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/>
                <a:t>External System</a:t>
              </a: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EF43FCA8-405E-F866-4843-42E0D9B697D7}"/>
              </a:ext>
            </a:extLst>
          </p:cNvPr>
          <p:cNvSpPr/>
          <p:nvPr/>
        </p:nvSpPr>
        <p:spPr>
          <a:xfrm>
            <a:off x="432066" y="1719689"/>
            <a:ext cx="9852894" cy="32629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C6FF8C0-73EA-931B-3B8E-589D1BFF58E7}"/>
              </a:ext>
            </a:extLst>
          </p:cNvPr>
          <p:cNvGrpSpPr/>
          <p:nvPr/>
        </p:nvGrpSpPr>
        <p:grpSpPr>
          <a:xfrm>
            <a:off x="7120800" y="1945431"/>
            <a:ext cx="2939143" cy="2797628"/>
            <a:chOff x="6382430" y="3734346"/>
            <a:chExt cx="2939143" cy="2797628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4FDD1B11-6BF1-956F-4968-EEB6AB8E0E29}"/>
                </a:ext>
              </a:extLst>
            </p:cNvPr>
            <p:cNvGrpSpPr/>
            <p:nvPr/>
          </p:nvGrpSpPr>
          <p:grpSpPr>
            <a:xfrm>
              <a:off x="6382430" y="3734346"/>
              <a:ext cx="2939143" cy="2797628"/>
              <a:chOff x="4789714" y="789215"/>
              <a:chExt cx="2939143" cy="2797628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6A578D26-D58A-4F11-0C21-E135C9B02105}"/>
                  </a:ext>
                </a:extLst>
              </p:cNvPr>
              <p:cNvSpPr/>
              <p:nvPr/>
            </p:nvSpPr>
            <p:spPr>
              <a:xfrm>
                <a:off x="4789714" y="789215"/>
                <a:ext cx="2939143" cy="279762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6EA5C73-0C1B-8669-283B-D002E311C8A6}"/>
                  </a:ext>
                </a:extLst>
              </p:cNvPr>
              <p:cNvSpPr/>
              <p:nvPr/>
            </p:nvSpPr>
            <p:spPr>
              <a:xfrm>
                <a:off x="5029200" y="1560735"/>
                <a:ext cx="1311729" cy="44087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000" dirty="0">
                    <a:solidFill>
                      <a:schemeClr val="tx1"/>
                    </a:solidFill>
                  </a:rPr>
                  <a:t>Native Approval Work flow Engine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28E8675-D7B3-3FFB-5447-2A23192A1279}"/>
                  </a:ext>
                </a:extLst>
              </p:cNvPr>
              <p:cNvSpPr/>
              <p:nvPr/>
            </p:nvSpPr>
            <p:spPr>
              <a:xfrm>
                <a:off x="6547757" y="1925406"/>
                <a:ext cx="887186" cy="315687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000" dirty="0">
                    <a:solidFill>
                      <a:schemeClr val="tx1"/>
                    </a:solidFill>
                  </a:rPr>
                  <a:t>Price Books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3C731B5-7310-6C37-CCA3-5F4E30C29F11}"/>
                  </a:ext>
                </a:extLst>
              </p:cNvPr>
              <p:cNvSpPr/>
              <p:nvPr/>
            </p:nvSpPr>
            <p:spPr>
              <a:xfrm>
                <a:off x="6547757" y="1402891"/>
                <a:ext cx="887186" cy="315686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000" dirty="0">
                    <a:solidFill>
                      <a:schemeClr val="tx1"/>
                    </a:solidFill>
                  </a:rPr>
                  <a:t>Opportunity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358FA6F2-5E5C-BA69-BE63-2EDD542570D0}"/>
                  </a:ext>
                </a:extLst>
              </p:cNvPr>
              <p:cNvSpPr/>
              <p:nvPr/>
            </p:nvSpPr>
            <p:spPr>
              <a:xfrm>
                <a:off x="6547757" y="2486020"/>
                <a:ext cx="887186" cy="315687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000" dirty="0">
                    <a:solidFill>
                      <a:schemeClr val="tx1"/>
                    </a:solidFill>
                  </a:rPr>
                  <a:t>Quote / Quote Line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7847D10-C8FF-8971-DB94-D6C945FA6B12}"/>
                  </a:ext>
                </a:extLst>
              </p:cNvPr>
              <p:cNvSpPr/>
              <p:nvPr/>
            </p:nvSpPr>
            <p:spPr>
              <a:xfrm>
                <a:off x="5029200" y="2285998"/>
                <a:ext cx="1311729" cy="31568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000" dirty="0">
                    <a:solidFill>
                      <a:schemeClr val="tx1"/>
                    </a:solidFill>
                  </a:rPr>
                  <a:t>Role Hierarchy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1824814-F7D4-9B4C-D20B-A2212CC2243E}"/>
                  </a:ext>
                </a:extLst>
              </p:cNvPr>
              <p:cNvSpPr/>
              <p:nvPr/>
            </p:nvSpPr>
            <p:spPr>
              <a:xfrm>
                <a:off x="5029200" y="2879271"/>
                <a:ext cx="1311729" cy="31568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000" dirty="0">
                    <a:solidFill>
                      <a:schemeClr val="tx1"/>
                    </a:solidFill>
                  </a:rPr>
                  <a:t>Reports &amp; Dashboards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49DBB4E-E8B9-54DC-4930-5686CF4B7B11}"/>
                  </a:ext>
                </a:extLst>
              </p:cNvPr>
              <p:cNvSpPr txBox="1"/>
              <p:nvPr/>
            </p:nvSpPr>
            <p:spPr>
              <a:xfrm>
                <a:off x="5097233" y="1004075"/>
                <a:ext cx="263162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dirty="0"/>
                  <a:t>Out-of-Box / Native Platform</a:t>
                </a:r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AD1A26-7874-CC96-03BB-6085C7781D6C}"/>
                </a:ext>
              </a:extLst>
            </p:cNvPr>
            <p:cNvSpPr/>
            <p:nvPr/>
          </p:nvSpPr>
          <p:spPr>
            <a:xfrm>
              <a:off x="8140473" y="5907968"/>
              <a:ext cx="887186" cy="31568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dirty="0">
                  <a:solidFill>
                    <a:schemeClr val="tx1"/>
                  </a:solidFill>
                </a:rPr>
                <a:t>Contracts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DB0D687-ED1E-A736-1BC8-F09E08424028}"/>
              </a:ext>
            </a:extLst>
          </p:cNvPr>
          <p:cNvGrpSpPr/>
          <p:nvPr/>
        </p:nvGrpSpPr>
        <p:grpSpPr>
          <a:xfrm>
            <a:off x="597515" y="2625106"/>
            <a:ext cx="6089195" cy="1868266"/>
            <a:chOff x="251734" y="1414324"/>
            <a:chExt cx="6089195" cy="1868266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981953CC-B7DA-AB58-410A-B4A7BED73A78}"/>
                </a:ext>
              </a:extLst>
            </p:cNvPr>
            <p:cNvGrpSpPr/>
            <p:nvPr/>
          </p:nvGrpSpPr>
          <p:grpSpPr>
            <a:xfrm>
              <a:off x="251734" y="1414324"/>
              <a:ext cx="6089195" cy="1868266"/>
              <a:chOff x="1257978" y="5296517"/>
              <a:chExt cx="6644369" cy="1868266"/>
            </a:xfrm>
          </p:grpSpPr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EB95ED1A-4A76-BAC9-A368-0C9AA7C907B2}"/>
                  </a:ext>
                </a:extLst>
              </p:cNvPr>
              <p:cNvSpPr/>
              <p:nvPr/>
            </p:nvSpPr>
            <p:spPr>
              <a:xfrm>
                <a:off x="1257978" y="5296517"/>
                <a:ext cx="6644369" cy="186826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4B4A307B-0F25-D76B-8B47-2C1369DE05B3}"/>
                  </a:ext>
                </a:extLst>
              </p:cNvPr>
              <p:cNvSpPr/>
              <p:nvPr/>
            </p:nvSpPr>
            <p:spPr>
              <a:xfrm>
                <a:off x="2332263" y="6442923"/>
                <a:ext cx="1355271" cy="44087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000" dirty="0">
                    <a:solidFill>
                      <a:schemeClr val="tx1"/>
                    </a:solidFill>
                  </a:rPr>
                  <a:t>Strategic Value Score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747FB1D9-23A9-2F6A-4EC7-6B059B450727}"/>
                  </a:ext>
                </a:extLst>
              </p:cNvPr>
              <p:cNvSpPr/>
              <p:nvPr/>
            </p:nvSpPr>
            <p:spPr>
              <a:xfrm>
                <a:off x="6214855" y="5784338"/>
                <a:ext cx="1181101" cy="43542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000" dirty="0">
                    <a:solidFill>
                      <a:schemeClr val="tx1"/>
                    </a:solidFill>
                  </a:rPr>
                  <a:t>Authority Matrix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4025B438-ECCF-69DB-F4C3-DB017A0A6FBE}"/>
                  </a:ext>
                </a:extLst>
              </p:cNvPr>
              <p:cNvSpPr/>
              <p:nvPr/>
            </p:nvSpPr>
            <p:spPr>
              <a:xfrm>
                <a:off x="2038140" y="5784337"/>
                <a:ext cx="1181099" cy="44087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000" dirty="0">
                    <a:solidFill>
                      <a:schemeClr val="tx1"/>
                    </a:solidFill>
                  </a:rPr>
                  <a:t>Bundle Discounting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BC674B54-20FE-C44A-0A7A-FFF288EB2313}"/>
                  </a:ext>
                </a:extLst>
              </p:cNvPr>
              <p:cNvSpPr/>
              <p:nvPr/>
            </p:nvSpPr>
            <p:spPr>
              <a:xfrm>
                <a:off x="3409743" y="5778894"/>
                <a:ext cx="1104898" cy="44087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000" dirty="0">
                    <a:solidFill>
                      <a:schemeClr val="tx1"/>
                    </a:solidFill>
                  </a:rPr>
                  <a:t>Discount Request</a:t>
                </a: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17DA6729-E729-4A6A-4C9F-C6F46A13D5D0}"/>
                  </a:ext>
                </a:extLst>
              </p:cNvPr>
              <p:cNvSpPr/>
              <p:nvPr/>
            </p:nvSpPr>
            <p:spPr>
              <a:xfrm>
                <a:off x="4770453" y="5784336"/>
                <a:ext cx="1226684" cy="43542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000" dirty="0">
                    <a:solidFill>
                      <a:schemeClr val="tx1"/>
                    </a:solidFill>
                  </a:rPr>
                  <a:t>Deal Desk Queue</a:t>
                </a: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87B0FC02-5D33-61B9-7D2D-37AC59E90CAE}"/>
                  </a:ext>
                </a:extLst>
              </p:cNvPr>
              <p:cNvSpPr/>
              <p:nvPr/>
            </p:nvSpPr>
            <p:spPr>
              <a:xfrm>
                <a:off x="5725885" y="6421151"/>
                <a:ext cx="1355271" cy="44087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000" dirty="0">
                    <a:solidFill>
                      <a:schemeClr val="tx1"/>
                    </a:solidFill>
                  </a:rPr>
                  <a:t>Tier Evaluation Flow</a:t>
                </a: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3C039145-4411-2FD5-C134-F00BED9AA86F}"/>
                  </a:ext>
                </a:extLst>
              </p:cNvPr>
              <p:cNvSpPr/>
              <p:nvPr/>
            </p:nvSpPr>
            <p:spPr>
              <a:xfrm>
                <a:off x="4073978" y="6421152"/>
                <a:ext cx="1355271" cy="44087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000" dirty="0">
                    <a:solidFill>
                      <a:schemeClr val="tx1"/>
                    </a:solidFill>
                  </a:rPr>
                  <a:t>Custom Masters</a:t>
                </a:r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C147566-13A5-1A84-AB52-9BDB656C1734}"/>
                </a:ext>
              </a:extLst>
            </p:cNvPr>
            <p:cNvSpPr txBox="1"/>
            <p:nvPr/>
          </p:nvSpPr>
          <p:spPr>
            <a:xfrm>
              <a:off x="2712402" y="1495284"/>
              <a:ext cx="20011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/>
                <a:t>Custom Build</a:t>
              </a:r>
            </a:p>
          </p:txBody>
        </p:sp>
      </p:grp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C5CCB14-F7F1-7D03-396F-D36D168E9F9F}"/>
              </a:ext>
            </a:extLst>
          </p:cNvPr>
          <p:cNvCxnSpPr/>
          <p:nvPr/>
        </p:nvCxnSpPr>
        <p:spPr>
          <a:xfrm>
            <a:off x="5374781" y="5062113"/>
            <a:ext cx="0" cy="358446"/>
          </a:xfrm>
          <a:prstGeom prst="straightConnector1">
            <a:avLst/>
          </a:prstGeom>
          <a:ln w="9525" cap="flat" cmpd="sng" algn="ctr">
            <a:solidFill>
              <a:schemeClr val="accent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A0D4674-EC62-4C3A-6876-C936C930A1C8}"/>
              </a:ext>
            </a:extLst>
          </p:cNvPr>
          <p:cNvCxnSpPr/>
          <p:nvPr/>
        </p:nvCxnSpPr>
        <p:spPr>
          <a:xfrm>
            <a:off x="6681067" y="5035290"/>
            <a:ext cx="0" cy="358446"/>
          </a:xfrm>
          <a:prstGeom prst="straightConnector1">
            <a:avLst/>
          </a:prstGeom>
          <a:ln w="9525" cap="flat" cmpd="sng" algn="ctr">
            <a:solidFill>
              <a:schemeClr val="accent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7830AAE3-9B32-53AE-3BFC-B9D1DA2A96C9}"/>
              </a:ext>
            </a:extLst>
          </p:cNvPr>
          <p:cNvSpPr txBox="1"/>
          <p:nvPr/>
        </p:nvSpPr>
        <p:spPr>
          <a:xfrm>
            <a:off x="432065" y="552117"/>
            <a:ext cx="106387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High Level Architecture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8AD1C9D-D8CE-9071-E265-003EF82E95AB}"/>
              </a:ext>
            </a:extLst>
          </p:cNvPr>
          <p:cNvSpPr txBox="1"/>
          <p:nvPr/>
        </p:nvSpPr>
        <p:spPr>
          <a:xfrm>
            <a:off x="2132057" y="2017359"/>
            <a:ext cx="4222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Salesforce – Sales Cloud Platform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4E78048-8C79-2E56-4303-6008B7B5CC03}"/>
              </a:ext>
            </a:extLst>
          </p:cNvPr>
          <p:cNvCxnSpPr>
            <a:cxnSpLocks/>
          </p:cNvCxnSpPr>
          <p:nvPr/>
        </p:nvCxnSpPr>
        <p:spPr>
          <a:xfrm flipV="1">
            <a:off x="6700117" y="3123812"/>
            <a:ext cx="386841" cy="5444"/>
          </a:xfrm>
          <a:prstGeom prst="straightConnector1">
            <a:avLst/>
          </a:prstGeom>
          <a:ln w="9525" cap="flat" cmpd="sng" algn="ctr">
            <a:solidFill>
              <a:schemeClr val="accent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FF2224D0-0F30-E2EB-5937-8B4B220DDF13}"/>
              </a:ext>
            </a:extLst>
          </p:cNvPr>
          <p:cNvCxnSpPr>
            <a:cxnSpLocks/>
          </p:cNvCxnSpPr>
          <p:nvPr/>
        </p:nvCxnSpPr>
        <p:spPr>
          <a:xfrm flipV="1">
            <a:off x="6687038" y="3766068"/>
            <a:ext cx="386841" cy="5444"/>
          </a:xfrm>
          <a:prstGeom prst="straightConnector1">
            <a:avLst/>
          </a:prstGeom>
          <a:ln w="9525" cap="flat" cmpd="sng" algn="ctr">
            <a:solidFill>
              <a:schemeClr val="accent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7" name="Text 0">
            <a:extLst>
              <a:ext uri="{FF2B5EF4-FFF2-40B4-BE49-F238E27FC236}">
                <a16:creationId xmlns:a16="http://schemas.microsoft.com/office/drawing/2014/main" id="{2AE90BE8-FE7F-E2E9-8E62-89850D6C72BF}"/>
              </a:ext>
            </a:extLst>
          </p:cNvPr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ANNEXURE A</a:t>
            </a:r>
            <a:endParaRPr lang="en-US" sz="1200" dirty="0"/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DCDDD027-412C-98DC-7BC5-FDF50A96E5B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0226" y="215547"/>
            <a:ext cx="1158373" cy="431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999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ANNEXURE 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Approach — Out-of-the-Box vs. Custom Build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9630778"/>
              </p:ext>
            </p:extLst>
          </p:nvPr>
        </p:nvGraphicFramePr>
        <p:xfrm>
          <a:off x="548640" y="1371600"/>
          <a:ext cx="10789920" cy="409194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Out-of-the-Box (Sales Cloud)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Build Required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Books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kern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Price Book &amp; Entry objects; multiple price books per product.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kern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Rental-term &amp; product-family fields; CPQ Price Rules if licensed.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 capture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kern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Quote Line Item standard Discount % field.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kern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 Request object for Reason Code, concessions, expiration, justification.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 calculation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kern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native on standard Quotes.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kern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Formula/Flow for Gross Margin %/$; Margin Floor Custom Metadata Type.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Authority Matrix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kern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native.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kern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Metadata Type + Record-Triggered Flow evaluating 5 dimensions.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Approval routing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kern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Approval Process engine (multi-step).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kern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criteria on calculated tier; Deal Desk queue for Tier 3–4.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8451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IN" sz="1050" b="1" kern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Strategic Value Score</a:t>
                      </a:r>
                      <a:endParaRPr lang="en-US" sz="1050" b="1" kern="1200" dirty="0">
                        <a:solidFill>
                          <a:srgbClr val="1E2761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IN" sz="1050" kern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native.</a:t>
                      </a:r>
                      <a:endParaRPr lang="en-US" sz="1050" kern="1200" dirty="0">
                        <a:solidFill>
                          <a:srgbClr val="1F2933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kern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build of strategic value score feature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7593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1050" b="1" kern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/ override log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1050" kern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history (limited retention).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1050" kern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Approval/Override Log object, independent of history limits.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1651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kern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 expiration &amp; re-approval</a:t>
                      </a: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IN" sz="1050" kern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native.</a:t>
                      </a: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kern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Expiration Date field + scheduled Flow (batch or Flow with schedule trigger) that flags/deactivates expired discounts and forces re-approval at renewal.</a:t>
                      </a: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2550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050" b="1" kern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Deal Desk queue &amp; SLA</a:t>
                      </a: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IN" sz="1050" kern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Queues (native); Case/Task assignment.</a:t>
                      </a: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kern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 timers (Flow + time-based actions) per tier per the SLA table in the deck; Deal Desk-specific list views/queue.</a:t>
                      </a: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319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kern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Reporting &amp; Dashboards</a:t>
                      </a: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IN" sz="1050" kern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Reports &amp; Dashboards.</a:t>
                      </a: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kern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report types joining Quote, Discount Request, Approval Log to surface auto-approval rate, cycle time, discount depth, leakage, and exception rate.</a:t>
                      </a: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320997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26364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mapping (12 capabilities) is provided in the accompanying Technical Design Document.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Durvah  |  USME Pricing &amp; Discount Authorization Proposal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BE77BD-414B-227F-AF21-8EE7BB19210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0226" y="215547"/>
            <a:ext cx="1158373" cy="43121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ANNEXURE 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Flow — Quote to Approval</a:t>
            </a:r>
            <a:endParaRPr lang="en-US" sz="3000" dirty="0"/>
          </a:p>
        </p:txBody>
      </p:sp>
      <p:pic>
        <p:nvPicPr>
          <p:cNvPr id="4" name="Image 0" descr="/home/claude/tdd/process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4102" y="1399032"/>
            <a:ext cx="4177776" cy="5212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Durvah  |  USME Pricing &amp; Discount Authorization Proposal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7D71B8-55A3-E282-6D40-75686117A16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0226" y="215547"/>
            <a:ext cx="1158373" cy="43121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0EDA1B6-06C9-E6FA-6804-8859B7EE1F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42508" y="1112339"/>
            <a:ext cx="4206240" cy="527558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5731D9A7-65BF-2265-2325-CCA2C90FC7AA}"/>
              </a:ext>
            </a:extLst>
          </p:cNvPr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</a:t>
            </a:r>
            <a:endParaRPr lang="en-US" sz="3000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701B8792-23B1-7F39-0DBE-43A0FA4B6E07}"/>
              </a:ext>
            </a:extLst>
          </p:cNvPr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ANNEXURE D</a:t>
            </a:r>
            <a:endParaRPr lang="en-US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52AEA8-ED4E-C5F7-9A03-99176F8050B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0226" y="215547"/>
            <a:ext cx="1158373" cy="431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69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5618C-8159-080B-85C9-A6BF9A0D0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Closeup of a cup of coffee, a notebook and pen, and a smartphone on a white desk, indoors">
            <a:extLst>
              <a:ext uri="{FF2B5EF4-FFF2-40B4-BE49-F238E27FC236}">
                <a16:creationId xmlns:a16="http://schemas.microsoft.com/office/drawing/2014/main" id="{7377E9B5-C573-C0D7-F746-019349E441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558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16BDC8B-9D44-8810-19FF-D301754BD92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0226" y="215547"/>
            <a:ext cx="1158373" cy="431219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7CC912EC-CFA0-6C5F-8292-1C3ECE4A7091}"/>
              </a:ext>
            </a:extLst>
          </p:cNvPr>
          <p:cNvGrpSpPr/>
          <p:nvPr/>
        </p:nvGrpSpPr>
        <p:grpSpPr>
          <a:xfrm>
            <a:off x="839247" y="977257"/>
            <a:ext cx="10513506" cy="2337444"/>
            <a:chOff x="3788229" y="1084121"/>
            <a:chExt cx="6320413" cy="3819475"/>
          </a:xfrm>
          <a:solidFill>
            <a:srgbClr val="5B9BD4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0F9E1F-5471-4936-BCA0-5610DA2B191E}"/>
                </a:ext>
              </a:extLst>
            </p:cNvPr>
            <p:cNvSpPr/>
            <p:nvPr/>
          </p:nvSpPr>
          <p:spPr>
            <a:xfrm>
              <a:off x="3788229" y="1084121"/>
              <a:ext cx="6320413" cy="381947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9584411-A25F-14E7-AA01-E582A0564281}"/>
                </a:ext>
              </a:extLst>
            </p:cNvPr>
            <p:cNvSpPr txBox="1"/>
            <p:nvPr/>
          </p:nvSpPr>
          <p:spPr>
            <a:xfrm>
              <a:off x="4777725" y="1624271"/>
              <a:ext cx="4341421" cy="203682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500" b="1" dirty="0">
                  <a:solidFill>
                    <a:schemeClr val="bg1"/>
                  </a:solidFill>
                </a:rPr>
                <a:t>Thank You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836B6C0-7300-A3C0-6B9C-8F005796D887}"/>
              </a:ext>
            </a:extLst>
          </p:cNvPr>
          <p:cNvSpPr txBox="1"/>
          <p:nvPr/>
        </p:nvSpPr>
        <p:spPr>
          <a:xfrm>
            <a:off x="3579070" y="2592102"/>
            <a:ext cx="5033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For your valuable time and attention !!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C47F89-A3AA-D872-77FF-671F0FC94D0B}"/>
              </a:ext>
            </a:extLst>
          </p:cNvPr>
          <p:cNvSpPr txBox="1"/>
          <p:nvPr/>
        </p:nvSpPr>
        <p:spPr>
          <a:xfrm>
            <a:off x="4539735" y="6019944"/>
            <a:ext cx="3112530" cy="402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b="1" dirty="0">
                <a:solidFill>
                  <a:srgbClr val="5B9BD4"/>
                </a:solidFill>
              </a:rPr>
              <a:t>www.durvah.com</a:t>
            </a:r>
          </a:p>
        </p:txBody>
      </p:sp>
    </p:spTree>
    <p:extLst>
      <p:ext uri="{BB962C8B-B14F-4D97-AF65-F5344CB8AC3E}">
        <p14:creationId xmlns:p14="http://schemas.microsoft.com/office/powerpoint/2010/main" val="767135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982</Words>
  <Application>Microsoft Office PowerPoint</Application>
  <PresentationFormat>Widescreen</PresentationFormat>
  <Paragraphs>164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MV Boli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Durvah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Technical &amp; Commercial Proposal - USME Custom Pricing &amp; Discount Authorization Framework</dc:title>
  <dc:subject>PptxGenJS Presentation</dc:subject>
  <dc:creator>Durvah</dc:creator>
  <cp:lastModifiedBy>Srinivas</cp:lastModifiedBy>
  <cp:revision>4</cp:revision>
  <dcterms:created xsi:type="dcterms:W3CDTF">2026-07-23T10:25:39Z</dcterms:created>
  <dcterms:modified xsi:type="dcterms:W3CDTF">2026-07-23T11:11:38Z</dcterms:modified>
</cp:coreProperties>
</file>