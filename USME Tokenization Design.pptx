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4064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98C76-5B5F-4331-C901-A73752687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9A4519-97C5-A41C-F9B5-0B3D14CB57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485B94-0EB0-9124-F545-C20A7A6B15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C38ED-5B5D-93FF-CC57-2A3A59CAD4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984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63E76-31E6-81F7-4FAD-B5CD4577D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E9516-4D3F-79D7-8794-B6501DF28D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2E134-0FA9-903D-79FF-7A8EFC8CA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7AF18-4E49-4228-BE1E-C85F4AB44C6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96FF8-0086-114B-EEA3-95EDE711D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4BBAC-0861-39B9-6513-ED304137C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4B59B-7B57-4A4A-9F9D-2630F5054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065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2C5B9D-89AB-4139-E7FD-9BEBEF441AA6}"/>
              </a:ext>
            </a:extLst>
          </p:cNvPr>
          <p:cNvSpPr/>
          <p:nvPr/>
        </p:nvSpPr>
        <p:spPr>
          <a:xfrm>
            <a:off x="7485126" y="2516273"/>
            <a:ext cx="4706875" cy="43417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F4664B6-1845-117A-EBE1-15FFC919DED9}"/>
              </a:ext>
            </a:extLst>
          </p:cNvPr>
          <p:cNvSpPr txBox="1"/>
          <p:nvPr/>
        </p:nvSpPr>
        <p:spPr>
          <a:xfrm>
            <a:off x="607921" y="2516273"/>
            <a:ext cx="5052649" cy="1451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250"/>
              </a:lnSpc>
            </a:pPr>
            <a:r>
              <a:rPr lang="en-US" sz="4800" b="1" dirty="0"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Tokenization for Billing Information</a:t>
            </a:r>
            <a:endParaRPr lang="en-US" sz="4800" dirty="0"/>
          </a:p>
        </p:txBody>
      </p:sp>
      <p:pic>
        <p:nvPicPr>
          <p:cNvPr id="1032" name="Picture 8" descr="Standard quality control concept m">
            <a:extLst>
              <a:ext uri="{FF2B5EF4-FFF2-40B4-BE49-F238E27FC236}">
                <a16:creationId xmlns:a16="http://schemas.microsoft.com/office/drawing/2014/main" id="{6B25B582-C38C-FE15-5799-06F176262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0217" y="1552064"/>
            <a:ext cx="5354183" cy="4062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43DBC6-2242-0073-9770-5844DF166D76}"/>
              </a:ext>
            </a:extLst>
          </p:cNvPr>
          <p:cNvSpPr txBox="1"/>
          <p:nvPr/>
        </p:nvSpPr>
        <p:spPr>
          <a:xfrm>
            <a:off x="872568" y="6065137"/>
            <a:ext cx="2026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www.durvah.com</a:t>
            </a:r>
          </a:p>
        </p:txBody>
      </p:sp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:a16="http://schemas.microsoft.com/office/drawing/2014/main" id="{BCE737E0-ECA9-5412-C642-B35157415A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580" y="319179"/>
            <a:ext cx="2432853" cy="842962"/>
          </a:xfrm>
          <a:prstGeom prst="rect">
            <a:avLst/>
          </a:prstGeom>
        </p:spPr>
      </p:pic>
      <p:pic>
        <p:nvPicPr>
          <p:cNvPr id="3" name="Picture 2" descr="Salesforce | MWC Barcelona 2024">
            <a:extLst>
              <a:ext uri="{FF2B5EF4-FFF2-40B4-BE49-F238E27FC236}">
                <a16:creationId xmlns:a16="http://schemas.microsoft.com/office/drawing/2014/main" id="{38E083EF-D648-C22B-4964-E3AC950E5D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94" b="11797"/>
          <a:stretch/>
        </p:blipFill>
        <p:spPr bwMode="auto">
          <a:xfrm>
            <a:off x="10725912" y="220385"/>
            <a:ext cx="1101351" cy="832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EA1152-2159-28FC-D676-29D39D4EBD9F}"/>
              </a:ext>
            </a:extLst>
          </p:cNvPr>
          <p:cNvSpPr txBox="1"/>
          <p:nvPr/>
        </p:nvSpPr>
        <p:spPr>
          <a:xfrm>
            <a:off x="653143" y="4554796"/>
            <a:ext cx="2699657" cy="357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Conceptualized Design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9178D1F2-CFA6-891D-8E82-3F44463F5BD3}"/>
              </a:ext>
            </a:extLst>
          </p:cNvPr>
          <p:cNvSpPr/>
          <p:nvPr/>
        </p:nvSpPr>
        <p:spPr>
          <a:xfrm>
            <a:off x="1117600" y="2195524"/>
            <a:ext cx="276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chemeClr val="accent1">
                    <a:lumMod val="75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SALESFORCE + GOTRANSVERSE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239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7F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COMPLIANCE BOUNDARY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02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Neither GT nor Ascent is HIPAA compliant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48420"/>
            <a:ext cx="9483725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 err="1">
                <a:solidFill>
                  <a:srgbClr val="4B5A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GoTransverse</a:t>
            </a:r>
            <a:r>
              <a:rPr lang="en-US" sz="1400" dirty="0">
                <a:solidFill>
                  <a:srgbClr val="4B5A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all patient data must reside solely in Salesforce. Everything downstream sees only an opaque token.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5975" y="2454176"/>
            <a:ext cx="3376067" cy="3384649"/>
          </a:xfrm>
          <a:prstGeom prst="roundRect">
            <a:avLst>
              <a:gd name="adj" fmla="val 2915"/>
            </a:avLst>
          </a:prstGeom>
          <a:solidFill>
            <a:srgbClr val="FFFFFF"/>
          </a:solidFill>
          <a:ln w="6350">
            <a:solidFill>
              <a:srgbClr val="DDE3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3150" y="2711351"/>
            <a:ext cx="294756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6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Ascent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3150" y="3056781"/>
            <a:ext cx="2947568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A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Rental platform. Captures the patient/bed assignment — PHI first enters here.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1592" y="2454176"/>
            <a:ext cx="3376116" cy="3384649"/>
          </a:xfrm>
          <a:prstGeom prst="roundRect">
            <a:avLst>
              <a:gd name="adj" fmla="val 2915"/>
            </a:avLst>
          </a:prstGeom>
          <a:solidFill>
            <a:srgbClr val="FFFFFF"/>
          </a:solidFill>
          <a:ln w="6350">
            <a:solidFill>
              <a:srgbClr val="DDE3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8767" y="2711351"/>
            <a:ext cx="294761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6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GoTransverse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58767" y="3056781"/>
            <a:ext cx="2947619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A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Billing authority. Receives only the token and non-PHI data; calculates every financial figure. Not HIPAA compliant.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90433" y="2457351"/>
            <a:ext cx="3382417" cy="3378299"/>
          </a:xfrm>
          <a:prstGeom prst="roundRect">
            <a:avLst>
              <a:gd name="adj" fmla="val 2819"/>
            </a:avLst>
          </a:prstGeom>
          <a:solidFill>
            <a:srgbClr val="2C7FA3">
              <a:alpha val="10000"/>
            </a:srgbClr>
          </a:solidFill>
          <a:ln w="12700">
            <a:solidFill>
              <a:srgbClr val="2C7F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0783" y="2717701"/>
            <a:ext cx="294756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6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CRM - Salesforce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50783" y="3063131"/>
            <a:ext cx="2947568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026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Sole home of PHI. Encrypts, tokenizes, and is the only system permitted to hold patient-identifiable data end to end.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7F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CONFIRMED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102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SFDC owns both ends — GT never renders the PDF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5975" y="1858863"/>
            <a:ext cx="2305050" cy="1000671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6350">
            <a:solidFill>
              <a:srgbClr val="DDE3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2039838"/>
            <a:ext cx="2001393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026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Ascent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6950" y="2301429"/>
            <a:ext cx="2001393" cy="402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100" dirty="0">
                <a:solidFill>
                  <a:srgbClr val="4B5A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Rental order created; explicit activation sets billing-start</a:t>
            </a:r>
            <a:endParaRPr lang="en-US" sz="1100" dirty="0"/>
          </a:p>
        </p:txBody>
      </p:sp>
      <p:pic>
        <p:nvPicPr>
          <p:cNvPr id="7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75000" y="2295723"/>
            <a:ext cx="330200" cy="127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562350" y="1855688"/>
            <a:ext cx="2311400" cy="1007021"/>
          </a:xfrm>
          <a:prstGeom prst="roundRect">
            <a:avLst>
              <a:gd name="adj" fmla="val 9459"/>
            </a:avLst>
          </a:prstGeom>
          <a:solidFill>
            <a:srgbClr val="2C7FA3">
              <a:alpha val="10000"/>
            </a:srgbClr>
          </a:solidFill>
          <a:ln w="12700">
            <a:solidFill>
              <a:srgbClr val="2C7FA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46500" y="2039838"/>
            <a:ext cx="2001393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026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SFDC — tokenize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746500" y="2301429"/>
            <a:ext cx="2001393" cy="402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100" dirty="0">
                <a:solidFill>
                  <a:srgbClr val="1026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Order ID + opaque patient token, BTS lines only</a:t>
            </a:r>
            <a:endParaRPr lang="en-US" sz="1100" dirty="0"/>
          </a:p>
        </p:txBody>
      </p:sp>
      <p:pic>
        <p:nvPicPr>
          <p:cNvPr id="11" name="Image 1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30900" y="2295723"/>
            <a:ext cx="330200" cy="127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15075" y="1764605"/>
            <a:ext cx="2305050" cy="1189236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DDE3E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96050" y="1945580"/>
            <a:ext cx="2001393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026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GoTransverse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96050" y="2207171"/>
            <a:ext cx="2001393" cy="591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100" dirty="0">
                <a:solidFill>
                  <a:srgbClr val="4B5A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Applies rates/tax; generates header + line charges — no PDF</a:t>
            </a:r>
            <a:endParaRPr lang="en-US" sz="1100" dirty="0"/>
          </a:p>
        </p:txBody>
      </p:sp>
      <p:pic>
        <p:nvPicPr>
          <p:cNvPr id="15" name="Image 2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74100" y="2295723"/>
            <a:ext cx="330200" cy="1270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61450" y="1855688"/>
            <a:ext cx="2311400" cy="1007021"/>
          </a:xfrm>
          <a:prstGeom prst="roundRect">
            <a:avLst>
              <a:gd name="adj" fmla="val 9459"/>
            </a:avLst>
          </a:prstGeom>
          <a:solidFill>
            <a:srgbClr val="2C7FA3">
              <a:alpha val="10000"/>
            </a:srgbClr>
          </a:solidFill>
          <a:ln w="12700">
            <a:solidFill>
              <a:srgbClr val="2C7FA3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245600" y="2039838"/>
            <a:ext cx="2001393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026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SFDC — render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9245600" y="2301429"/>
            <a:ext cx="2001393" cy="402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100" dirty="0">
                <a:solidFill>
                  <a:srgbClr val="1026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Resolves token, pulls PHI, renders PDF, stores as a file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198070" y="3239591"/>
            <a:ext cx="6177955" cy="379710"/>
          </a:xfrm>
          <a:prstGeom prst="roundRect">
            <a:avLst>
              <a:gd name="adj" fmla="val 50000"/>
            </a:avLst>
          </a:prstGeom>
          <a:solidFill>
            <a:srgbClr val="C0552E">
              <a:alpha val="12000"/>
            </a:srgbClr>
          </a:solidFill>
          <a:ln w="6350">
            <a:solidFill>
              <a:srgbClr val="C0552E">
                <a:alpha val="40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379045" y="3331666"/>
            <a:ext cx="5990485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8B4A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Experience Cloud today shows a preliminary preview only — final invoice view is an open item</a:t>
            </a:r>
            <a:endParaRPr lang="en-US" sz="11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44C99AA-9DF6-77ED-3123-ED7F8DEA1232}"/>
              </a:ext>
            </a:extLst>
          </p:cNvPr>
          <p:cNvSpPr/>
          <p:nvPr/>
        </p:nvSpPr>
        <p:spPr>
          <a:xfrm>
            <a:off x="707259" y="4760687"/>
            <a:ext cx="6177955" cy="131172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Clarification Points:</a:t>
            </a:r>
          </a:p>
          <a:p>
            <a:pPr marL="342900" indent="-342900">
              <a:buAutoNum type="arabicPeriod"/>
            </a:pPr>
            <a:r>
              <a:rPr lang="en-IN" sz="1200" dirty="0">
                <a:solidFill>
                  <a:schemeClr val="accent1">
                    <a:lumMod val="50000"/>
                  </a:schemeClr>
                </a:solidFill>
              </a:rPr>
              <a:t>one patient per order with multiple Lines</a:t>
            </a:r>
          </a:p>
          <a:p>
            <a:pPr marL="342900" indent="-342900">
              <a:buAutoNum type="arabicPeriod"/>
            </a:pPr>
            <a:r>
              <a:rPr lang="en-IN" sz="1200" dirty="0">
                <a:solidFill>
                  <a:schemeClr val="accent1">
                    <a:lumMod val="50000"/>
                  </a:schemeClr>
                </a:solidFill>
              </a:rPr>
              <a:t>How will the Order Data Flow to GT, Triggering point?</a:t>
            </a:r>
          </a:p>
          <a:p>
            <a:pPr marL="342900" indent="-342900">
              <a:buAutoNum type="arabicPeriod"/>
            </a:pPr>
            <a:r>
              <a:rPr lang="en-IN" sz="1200" dirty="0">
                <a:solidFill>
                  <a:schemeClr val="accent1">
                    <a:lumMod val="50000"/>
                  </a:schemeClr>
                </a:solidFill>
              </a:rPr>
              <a:t>Should SFDC CRM store the pdf? Can it be dynamic on click rendering of pdf </a:t>
            </a:r>
          </a:p>
          <a:p>
            <a:endParaRPr lang="en-IN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7F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TOKENIZATION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02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Only patient-linked lines are tokenized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620441"/>
            <a:ext cx="981075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B5A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Tokenization scope is narrower than “all data” — only the linkage between an invoice line and a patient needs to be opaque. Rates and non-patient charges go to GT normally.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9150" y="2429371"/>
            <a:ext cx="5175250" cy="1793528"/>
          </a:xfrm>
          <a:prstGeom prst="roundRect">
            <a:avLst>
              <a:gd name="adj" fmla="val 5311"/>
            </a:avLst>
          </a:prstGeom>
          <a:solidFill>
            <a:srgbClr val="2C7FA3">
              <a:alpha val="10000"/>
            </a:srgbClr>
          </a:solidFill>
          <a:ln w="12700">
            <a:solidFill>
              <a:srgbClr val="2C7F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9500" y="2689721"/>
            <a:ext cx="4794187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50" dirty="0">
                <a:solidFill>
                  <a:srgbClr val="2C7F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TOKENIZED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79500" y="2986881"/>
            <a:ext cx="479418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026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BTS modality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9500" y="3362771"/>
            <a:ext cx="479418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026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Bed-to-shift, patient-linked equipment. Every line carries the opaque patient key; GT stores only the reference.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07125" y="2426196"/>
            <a:ext cx="5168900" cy="1799878"/>
          </a:xfrm>
          <a:prstGeom prst="roundRect">
            <a:avLst>
              <a:gd name="adj" fmla="val 5468"/>
            </a:avLst>
          </a:prstGeom>
          <a:solidFill>
            <a:srgbClr val="FFFFFF"/>
          </a:solidFill>
          <a:ln w="6350">
            <a:solidFill>
              <a:srgbClr val="DDE3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300" y="2683371"/>
            <a:ext cx="4794187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50" dirty="0">
                <a:solidFill>
                  <a:srgbClr val="4B5A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TOKENIZED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64300" y="2980531"/>
            <a:ext cx="479418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026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MME modality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64300" y="3356421"/>
            <a:ext cx="479418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A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Bulk, department-linked equipment with no patient tie. Sent to GT normally, like any other billing line.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5975" y="4537224"/>
            <a:ext cx="10560050" cy="1301601"/>
          </a:xfrm>
          <a:prstGeom prst="roundRect">
            <a:avLst>
              <a:gd name="adj" fmla="val 7562"/>
            </a:avLst>
          </a:prstGeom>
          <a:solidFill>
            <a:srgbClr val="FFFFFF"/>
          </a:solidFill>
          <a:ln w="6350">
            <a:solidFill>
              <a:srgbClr val="DDE3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2350" y="4743599"/>
            <a:ext cx="10451719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026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unique key (open design item)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2350" y="4992489"/>
            <a:ext cx="10451719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A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patient-specific key, generated on the Ascent/Salesforce side, must be stored alongside a patient’s related services in GT — GT’s own line-item IDs can’t relate multiple lines back to one patient. GT never stores patient data itself, only a resolvable reference. Exact key format is a later design discussion.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6184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GT confirmed: no data elements beyond the patient-linkage currently need tokenization.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7F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SFDC BUILD · PRE-GT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02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Token creation — 7 steps, on activation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41636"/>
              </p:ext>
            </p:extLst>
          </p:nvPr>
        </p:nvGraphicFramePr>
        <p:xfrm>
          <a:off x="825500" y="1760141"/>
          <a:ext cx="10553700" cy="2874568"/>
        </p:xfrm>
        <a:graphic>
          <a:graphicData uri="http://schemas.openxmlformats.org/drawingml/2006/table">
            <a:tbl>
              <a:tblPr/>
              <a:tblGrid>
                <a:gridCol w="844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9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321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3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happens</a:t>
                      </a:r>
                      <a:endParaRPr lang="en-US" sz="13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7B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C7FA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63F"/>
                          </a:solidFill>
                          <a:latin typeface="IBM Plex Sans" pitchFamily="34" charset="0"/>
                          <a:ea typeface="IBM Plex Sans" charset="0"/>
                          <a:cs typeface="IBM Plex Sans" charset="0"/>
                        </a:rPr>
                        <a:t>Patient Master Tokenization, when a record is created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544678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C7FA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6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 customer/contract/order/episode/PHI fields are complete on a BTS Order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C7FA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6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Build an idempotency key — Order ID + Line ID + Patient 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C7FA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6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Check for an existing active Billing Context — reuse if found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C7FA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6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Insert the Billing Context 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C7FA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6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Encrypt PHI fields  apply sharing, write the audit trail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C7FA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6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Publish the tokenized fulfillment event to GoTransverse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56503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BTS (patient-linked) lines run this procedure — MME lines skip tokenization.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7F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GOTRANSVERSE SIDE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02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order types, three billing triggers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569641"/>
            <a:ext cx="981075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B5A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GT owns the real-time-vs-monthly and auto-approve-vs-review logic entirely, keyed off customer-specific rules.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5975" y="2083346"/>
            <a:ext cx="3380284" cy="1207691"/>
          </a:xfrm>
          <a:prstGeom prst="roundRect">
            <a:avLst>
              <a:gd name="adj" fmla="val 8150"/>
            </a:avLst>
          </a:prstGeom>
          <a:solidFill>
            <a:srgbClr val="FFFFFF"/>
          </a:solidFill>
          <a:ln w="6350">
            <a:solidFill>
              <a:srgbClr val="DDE3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7750" y="2315121"/>
            <a:ext cx="300423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6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Sales orders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7750" y="2632621"/>
            <a:ext cx="300423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A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Optional “invoice on order” flag for immediate billing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5809" y="2083346"/>
            <a:ext cx="3380333" cy="1207691"/>
          </a:xfrm>
          <a:prstGeom prst="roundRect">
            <a:avLst>
              <a:gd name="adj" fmla="val 8150"/>
            </a:avLst>
          </a:prstGeom>
          <a:solidFill>
            <a:srgbClr val="FFFFFF"/>
          </a:solidFill>
          <a:ln w="6350">
            <a:solidFill>
              <a:srgbClr val="DDE3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7584" y="2315121"/>
            <a:ext cx="30042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6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Rental orders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37584" y="2632621"/>
            <a:ext cx="300428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A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Billed in arrears via a scheduled GT “bill cycle”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95692" y="2083346"/>
            <a:ext cx="3380333" cy="1207691"/>
          </a:xfrm>
          <a:prstGeom prst="roundRect">
            <a:avLst>
              <a:gd name="adj" fmla="val 8150"/>
            </a:avLst>
          </a:prstGeom>
          <a:solidFill>
            <a:srgbClr val="FFFFFF"/>
          </a:solidFill>
          <a:ln w="6350">
            <a:solidFill>
              <a:srgbClr val="DDE3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7467" y="2315121"/>
            <a:ext cx="30042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6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7467" y="2632621"/>
            <a:ext cx="300428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A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Billing timing follows customer-specific GT rules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5975" y="3576786"/>
            <a:ext cx="5175250" cy="1052761"/>
          </a:xfrm>
          <a:prstGeom prst="roundRect">
            <a:avLst>
              <a:gd name="adj" fmla="val 9349"/>
            </a:avLst>
          </a:prstGeom>
          <a:solidFill>
            <a:srgbClr val="C0552E">
              <a:alpha val="10000"/>
            </a:srgbClr>
          </a:solidFill>
          <a:ln w="6350">
            <a:solidFill>
              <a:srgbClr val="C0552E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2350" y="3783161"/>
            <a:ext cx="490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8B4A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Approval workflow — TBD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2350" y="4032052"/>
            <a:ext cx="490537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8B4A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GT has an internal invoice-approval process; the detailed workflow still needs to be worked out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00775" y="3576786"/>
            <a:ext cx="5175250" cy="1052761"/>
          </a:xfrm>
          <a:prstGeom prst="roundRect">
            <a:avLst>
              <a:gd name="adj" fmla="val 9349"/>
            </a:avLst>
          </a:prstGeom>
          <a:solidFill>
            <a:srgbClr val="FFFFFF"/>
          </a:solidFill>
          <a:ln w="6350">
            <a:solidFill>
              <a:srgbClr val="DDE3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7150" y="3783161"/>
            <a:ext cx="490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026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Tax &amp; rates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7150" y="4032052"/>
            <a:ext cx="490537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4B5A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GT sources its own tax/rate data — SFDC does not need to send tax/rate information to GT</a:t>
            </a:r>
            <a:endParaRPr lang="en-US" sz="11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F657DB2-3C82-0B53-384E-CD9630110D57}"/>
              </a:ext>
            </a:extLst>
          </p:cNvPr>
          <p:cNvSpPr/>
          <p:nvPr/>
        </p:nvSpPr>
        <p:spPr>
          <a:xfrm>
            <a:off x="707259" y="5076252"/>
            <a:ext cx="6177955" cy="85469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Clarification Points:</a:t>
            </a:r>
          </a:p>
          <a:p>
            <a:pPr marL="342900" indent="-342900">
              <a:buAutoNum type="arabicPeriod"/>
            </a:pPr>
            <a:r>
              <a:rPr lang="en-IN" sz="1200" dirty="0">
                <a:solidFill>
                  <a:schemeClr val="accent1">
                    <a:lumMod val="50000"/>
                  </a:schemeClr>
                </a:solidFill>
              </a:rPr>
              <a:t>How will the Order Data Flow to GT, Triggering point?</a:t>
            </a:r>
          </a:p>
          <a:p>
            <a:endParaRPr lang="en-IN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7F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SFDC BUILD · POST-GT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dirty="0">
                <a:solidFill>
                  <a:srgbClr val="102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Invoice rendering — 8 steps, on GT’s InvoiceFinalized event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097672"/>
              </p:ext>
            </p:extLst>
          </p:nvPr>
        </p:nvGraphicFramePr>
        <p:xfrm>
          <a:off x="825500" y="1706811"/>
          <a:ext cx="10553700" cy="2874024"/>
        </p:xfrm>
        <a:graphic>
          <a:graphicData uri="http://schemas.openxmlformats.org/drawingml/2006/table">
            <a:tbl>
              <a:tblPr/>
              <a:tblGrid>
                <a:gridCol w="844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9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9336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15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5C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happens</a:t>
                      </a:r>
                      <a:endParaRPr lang="en-US" sz="115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B7B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336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2C7FA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5C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026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GT sends header + line charges (not a PDF)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336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2C7FA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5C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026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Workato </a:t>
                      </a:r>
                      <a:r>
                        <a:rPr lang="en-US" sz="1150" dirty="0" err="1">
                          <a:solidFill>
                            <a:srgbClr val="1026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upserts</a:t>
                      </a:r>
                      <a:r>
                        <a:rPr lang="en-US" sz="1150" dirty="0">
                          <a:solidFill>
                            <a:srgbClr val="1026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SFDC Invoice Presentment/Line via GT external IDs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336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2C7FA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5C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026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Confirm the token resolves once; records match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336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2C7FA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5C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026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Pre-render reconciliation vs. the GT payload — no SFDC recalculation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336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2C7FA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5C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026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Render the  Invoice PDF on the invoice Record Click of a button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9336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2C7FA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5C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026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Pulls approved PHI + immutable GT financials into the PDF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9336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2C7FA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5C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Invoice Record and PDF rendering visibility to Customer Portal</a:t>
                      </a: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9336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8</a:t>
                      </a: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5C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Option to store the PDF in SFDC Document/Content File System</a:t>
                      </a: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38471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55328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SFDC may never recalculate a GT-derived amount — only render and present it.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7F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OF RECORD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02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authoritative record per stage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16318"/>
              </p:ext>
            </p:extLst>
          </p:nvPr>
        </p:nvGraphicFramePr>
        <p:xfrm>
          <a:off x="825500" y="1785541"/>
          <a:ext cx="10553700" cy="2155926"/>
        </p:xfrm>
        <a:graphic>
          <a:graphicData uri="http://schemas.openxmlformats.org/drawingml/2006/table">
            <a:tbl>
              <a:tblPr/>
              <a:tblGrid>
                <a:gridCol w="2321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1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System</a:t>
                      </a:r>
                      <a:endParaRPr lang="en-US" sz="13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Authoritative for</a:t>
                      </a:r>
                      <a:endParaRPr lang="en-US" sz="13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7B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C7FA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Ascent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6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Rental &amp; asset data — asset master, install base, delivery/pickup/swap, work orders, Interface to GT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C7FA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Salesforce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6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Billing Context &amp; PHI-to-token mapping,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C7FA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GoTransverse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6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financial invoice — rate, lines, taxes, credits, balance, payment status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820"/>
                        </a:lnSpc>
                        <a:buNone/>
                      </a:pPr>
                      <a:r>
                        <a:rPr lang="en-US" sz="1300" kern="1200" dirty="0">
                          <a:solidFill>
                            <a:srgbClr val="2C7FA3"/>
                          </a:solidFill>
                          <a:latin typeface="IBM Plex Sans" pitchFamily="34" charset="0"/>
                          <a:ea typeface="IBM Plex Sans" charset="0"/>
                          <a:cs typeface="IBM Plex Sans" charset="0"/>
                        </a:rPr>
                        <a:t>Ascent</a:t>
                      </a: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Interface back from GT to Salesforce</a:t>
                      </a: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249954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C7FA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Salesforce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6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Invoice presentment — the rendered PDF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1546" y="4357145"/>
            <a:ext cx="10560050" cy="626070"/>
          </a:xfrm>
          <a:prstGeom prst="roundRect">
            <a:avLst>
              <a:gd name="adj" fmla="val 15721"/>
            </a:avLst>
          </a:prstGeom>
          <a:solidFill>
            <a:srgbClr val="2C7FA3">
              <a:alpha val="10000"/>
            </a:srgbClr>
          </a:solidFill>
          <a:ln w="6350">
            <a:solidFill>
              <a:srgbClr val="2C7FA3">
                <a:alpha val="4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735" y="4550820"/>
            <a:ext cx="1045171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026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Workato never stores PHI and is never a system of record — it only routes and reconciles events between the three masters above.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1985A-1C78-BD7B-2E2D-064A5F7D3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EFAF8DA8-1347-84E9-F36F-C8C11E2282CB}"/>
              </a:ext>
            </a:extLst>
          </p:cNvPr>
          <p:cNvSpPr/>
          <p:nvPr/>
        </p:nvSpPr>
        <p:spPr>
          <a:xfrm>
            <a:off x="699371" y="812800"/>
            <a:ext cx="4047671" cy="321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C7FA3"/>
                </a:solidFill>
                <a:latin typeface="IBM Plex Sans" pitchFamily="34" charset="0"/>
              </a:rPr>
              <a:t>BEFORE THE BUILD STARTS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EAD031B2-E825-C763-8866-C45C615148CD}"/>
              </a:ext>
            </a:extLst>
          </p:cNvPr>
          <p:cNvSpPr/>
          <p:nvPr/>
        </p:nvSpPr>
        <p:spPr>
          <a:xfrm>
            <a:off x="699371" y="1235812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Open items &amp; next steps</a:t>
            </a:r>
            <a:endParaRPr lang="en-US" sz="28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42A2B659-A5F5-8CBC-310E-1B02BF2AF7F0}"/>
              </a:ext>
            </a:extLst>
          </p:cNvPr>
          <p:cNvSpPr/>
          <p:nvPr/>
        </p:nvSpPr>
        <p:spPr>
          <a:xfrm>
            <a:off x="699371" y="1906333"/>
            <a:ext cx="528472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Still open</a:t>
            </a:r>
            <a:endParaRPr lang="en-US" sz="1500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DE765F07-3BAC-9156-261C-398BD7CEAE3A}"/>
              </a:ext>
            </a:extLst>
          </p:cNvPr>
          <p:cNvSpPr/>
          <p:nvPr/>
        </p:nvSpPr>
        <p:spPr>
          <a:xfrm>
            <a:off x="699371" y="2261933"/>
            <a:ext cx="5284724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5519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Patient-key format &amp; generation logic</a:t>
            </a:r>
            <a:endParaRPr lang="en-US" sz="1200" dirty="0"/>
          </a:p>
          <a:p>
            <a:pPr marL="182880" indent="-15519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GT’s internal invoice-approval workflow</a:t>
            </a:r>
            <a:endParaRPr lang="en-US" sz="1200" dirty="0"/>
          </a:p>
          <a:p>
            <a:pPr marL="182880" indent="-15519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Final invoice visibility in the customer portal</a:t>
            </a:r>
            <a:endParaRPr lang="en-US" sz="1200" dirty="0"/>
          </a:p>
          <a:p>
            <a:pPr marL="182880" indent="-15519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GT–SFDC interface direction (push / pull / trigger)</a:t>
            </a:r>
            <a:endParaRPr lang="en-US" sz="1200" dirty="0"/>
          </a:p>
          <a:p>
            <a:pPr marL="182880" indent="-15519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SFDC storage capacity for archival planning</a:t>
            </a:r>
            <a:endParaRPr lang="en-US" sz="12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B2D1C554-BC58-24A5-CB60-0A4D5630F26C}"/>
              </a:ext>
            </a:extLst>
          </p:cNvPr>
          <p:cNvSpPr/>
          <p:nvPr/>
        </p:nvSpPr>
        <p:spPr>
          <a:xfrm>
            <a:off x="6134971" y="1906333"/>
            <a:ext cx="528472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44CE86C5-49DF-820E-216C-8EA2AECD9D48}"/>
              </a:ext>
            </a:extLst>
          </p:cNvPr>
          <p:cNvSpPr/>
          <p:nvPr/>
        </p:nvSpPr>
        <p:spPr>
          <a:xfrm>
            <a:off x="6134971" y="2261933"/>
            <a:ext cx="5284724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5519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GT to share order data attributes SFDC must send</a:t>
            </a:r>
            <a:endParaRPr lang="en-US" sz="1200" dirty="0"/>
          </a:p>
          <a:p>
            <a:pPr marL="182880" indent="-15519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schema discussion with IT/Eric on the GT side</a:t>
            </a:r>
            <a:endParaRPr lang="en-US" sz="1200" dirty="0"/>
          </a:p>
          <a:p>
            <a:pPr marL="182880" indent="-15519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Lock the patient-key design in a dedicated session</a:t>
            </a:r>
            <a:endParaRPr lang="en-US" sz="1200" dirty="0"/>
          </a:p>
          <a:p>
            <a:pPr marL="182880" indent="-15519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Decide the GT–SFDC interface pattern</a:t>
            </a:r>
            <a:endParaRPr lang="en-US" sz="1200" dirty="0"/>
          </a:p>
          <a:p>
            <a:pPr marL="182880" indent="-15519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Carry this list into the workshop deep-dive for sign-off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42076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929</Words>
  <Application>Microsoft Office PowerPoint</Application>
  <PresentationFormat>Widescreen</PresentationFormat>
  <Paragraphs>132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IBM Plex Sans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USME Tokenization Design</dc:title>
  <dc:subject>PptxGenJS Presentation</dc:subject>
  <dc:creator>PptxGenJS</dc:creator>
  <cp:lastModifiedBy>Srinivas</cp:lastModifiedBy>
  <cp:revision>5</cp:revision>
  <dcterms:created xsi:type="dcterms:W3CDTF">2026-09-28T17:02:47Z</dcterms:created>
  <dcterms:modified xsi:type="dcterms:W3CDTF">2026-09-29T12:56:01Z</dcterms:modified>
</cp:coreProperties>
</file>