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46740-6059-B24D-A3F5-608B251C6B33}" v="54" dt="2026-08-07T15:15:52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Chauhan" userId="S::c-mchauhan@usmedequip.com::b1653df6-2654-426e-81b7-1abf3865895a" providerId="AD" clId="Web-{A1646740-6059-B24D-A3F5-608B251C6B33}"/>
    <pc:docChg chg="modSld">
      <pc:chgData name="Mohit Chauhan" userId="S::c-mchauhan@usmedequip.com::b1653df6-2654-426e-81b7-1abf3865895a" providerId="AD" clId="Web-{A1646740-6059-B24D-A3F5-608B251C6B33}" dt="2026-08-07T15:15:50.302" v="24" actId="20577"/>
      <pc:docMkLst>
        <pc:docMk/>
      </pc:docMkLst>
      <pc:sldChg chg="modSp">
        <pc:chgData name="Mohit Chauhan" userId="S::c-mchauhan@usmedequip.com::b1653df6-2654-426e-81b7-1abf3865895a" providerId="AD" clId="Web-{A1646740-6059-B24D-A3F5-608B251C6B33}" dt="2026-08-07T15:12:10.622" v="6" actId="20577"/>
        <pc:sldMkLst>
          <pc:docMk/>
          <pc:sldMk cId="0" sldId="258"/>
        </pc:sldMkLst>
        <pc:spChg chg="mod">
          <ac:chgData name="Mohit Chauhan" userId="S::c-mchauhan@usmedequip.com::b1653df6-2654-426e-81b7-1abf3865895a" providerId="AD" clId="Web-{A1646740-6059-B24D-A3F5-608B251C6B33}" dt="2026-08-07T15:12:10.622" v="6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">
        <pc:chgData name="Mohit Chauhan" userId="S::c-mchauhan@usmedequip.com::b1653df6-2654-426e-81b7-1abf3865895a" providerId="AD" clId="Web-{A1646740-6059-B24D-A3F5-608B251C6B33}" dt="2026-08-07T15:13:29.406" v="11" actId="20577"/>
        <pc:sldMkLst>
          <pc:docMk/>
          <pc:sldMk cId="0" sldId="259"/>
        </pc:sldMkLst>
        <pc:spChg chg="mod">
          <ac:chgData name="Mohit Chauhan" userId="S::c-mchauhan@usmedequip.com::b1653df6-2654-426e-81b7-1abf3865895a" providerId="AD" clId="Web-{A1646740-6059-B24D-A3F5-608B251C6B33}" dt="2026-08-07T15:13:29.406" v="11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">
        <pc:chgData name="Mohit Chauhan" userId="S::c-mchauhan@usmedequip.com::b1653df6-2654-426e-81b7-1abf3865895a" providerId="AD" clId="Web-{A1646740-6059-B24D-A3F5-608B251C6B33}" dt="2026-08-07T15:15:08.191" v="22" actId="20577"/>
        <pc:sldMkLst>
          <pc:docMk/>
          <pc:sldMk cId="0" sldId="261"/>
        </pc:sldMkLst>
        <pc:spChg chg="mod">
          <ac:chgData name="Mohit Chauhan" userId="S::c-mchauhan@usmedequip.com::b1653df6-2654-426e-81b7-1abf3865895a" providerId="AD" clId="Web-{A1646740-6059-B24D-A3F5-608B251C6B33}" dt="2026-08-07T15:15:08.191" v="22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ohit Chauhan" userId="S::c-mchauhan@usmedequip.com::b1653df6-2654-426e-81b7-1abf3865895a" providerId="AD" clId="Web-{A1646740-6059-B24D-A3F5-608B251C6B33}" dt="2026-08-07T15:14:23.955" v="12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ohit Chauhan" userId="S::c-mchauhan@usmedequip.com::b1653df6-2654-426e-81b7-1abf3865895a" providerId="AD" clId="Web-{A1646740-6059-B24D-A3F5-608B251C6B33}" dt="2026-08-07T15:14:30.127" v="13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ohit Chauhan" userId="S::c-mchauhan@usmedequip.com::b1653df6-2654-426e-81b7-1abf3865895a" providerId="AD" clId="Web-{A1646740-6059-B24D-A3F5-608B251C6B33}" dt="2026-08-07T15:14:33.456" v="14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ohit Chauhan" userId="S::c-mchauhan@usmedequip.com::b1653df6-2654-426e-81b7-1abf3865895a" providerId="AD" clId="Web-{A1646740-6059-B24D-A3F5-608B251C6B33}" dt="2026-08-07T15:14:36.362" v="15" actId="1076"/>
          <ac:spMkLst>
            <pc:docMk/>
            <pc:sldMk cId="0" sldId="261"/>
            <ac:spMk id="34" creationId="{00000000-0000-0000-0000-000000000000}"/>
          </ac:spMkLst>
        </pc:spChg>
      </pc:sldChg>
      <pc:sldChg chg="modSp">
        <pc:chgData name="Mohit Chauhan" userId="S::c-mchauhan@usmedequip.com::b1653df6-2654-426e-81b7-1abf3865895a" providerId="AD" clId="Web-{A1646740-6059-B24D-A3F5-608B251C6B33}" dt="2026-08-07T15:15:50.302" v="24" actId="20577"/>
        <pc:sldMkLst>
          <pc:docMk/>
          <pc:sldMk cId="0" sldId="263"/>
        </pc:sldMkLst>
        <pc:spChg chg="mod">
          <ac:chgData name="Mohit Chauhan" userId="S::c-mchauhan@usmedequip.com::b1653df6-2654-426e-81b7-1abf3865895a" providerId="AD" clId="Web-{A1646740-6059-B24D-A3F5-608B251C6B33}" dt="2026-08-07T15:15:50.302" v="24" actId="20577"/>
          <ac:spMkLst>
            <pc:docMk/>
            <pc:sldMk cId="0" sldId="263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BLANKET 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800">
                <a:solidFill>
                  <a:srgbClr val="BDD7EE"/>
                </a:solidFill>
                <a:latin typeface="Calibri"/>
              </a:rPr>
              <a:t>BUSINESS REQUIREMENT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Calibri"/>
              </a:rPr>
              <a:t>Business Requirement &amp; Solution Approach  ·  ServiceNow Sales Order  ·  POC: Account-Level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64008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BDD7EE"/>
                </a:solidFill>
                <a:latin typeface="Calibri"/>
              </a:rPr>
              <a:t>Proof Of Concept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601200" y="914400"/>
            <a:ext cx="1828800" cy="2103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0" y="1097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57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BLANKET
TRACKING</a:t>
            </a:r>
          </a:p>
        </p:txBody>
      </p:sp>
      <p:pic>
        <p:nvPicPr>
          <p:cNvPr id="13" name="Picture 12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7F430F01-89C1-A55A-296D-ADBCCA8D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04661" y="3208404"/>
            <a:ext cx="1828324" cy="1219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1066A3B-7466-7F28-FAC3-F9BBE0BB8B4D}"/>
              </a:ext>
            </a:extLst>
          </p:cNvPr>
          <p:cNvSpPr/>
          <p:nvPr/>
        </p:nvSpPr>
        <p:spPr>
          <a:xfrm rot="16200000">
            <a:off x="5815641" y="3404735"/>
            <a:ext cx="6869575" cy="546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is a Blanket PO?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11521440" cy="82296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Blanket PO is a customer-issued Purchase Order that acts as a PRE-AUTHORIZED SPENDING ENVELOPE — not a one-time PO tied to a single order. Multiple orders draw down against it until the amount is consumed or the PO expires.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57400"/>
            <a:ext cx="56235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305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STANDARD 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06040"/>
            <a:ext cx="5623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761488"/>
            <a:ext cx="219456" cy="21945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Tied to a single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27832"/>
            <a:ext cx="5623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219456" cy="21945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4670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One-time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49624"/>
            <a:ext cx="5623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005072"/>
            <a:ext cx="219456" cy="21945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96849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684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Amount consumed in one transaction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71416"/>
            <a:ext cx="5623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626864"/>
            <a:ext cx="219456" cy="21945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59028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No expiration tracking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057400"/>
            <a:ext cx="5623560" cy="45720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1305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BLANKET 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06040"/>
            <a:ext cx="5623560" cy="530352"/>
          </a:xfrm>
          <a:prstGeom prst="rect">
            <a:avLst/>
          </a:prstGeom>
          <a:solidFill>
            <a:srgbClr val="FDF3E0"/>
          </a:solidFill>
          <a:ln w="1016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2761488"/>
            <a:ext cx="219456" cy="21945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743200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7249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Spans multiple orders over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227832"/>
            <a:ext cx="5623560" cy="530352"/>
          </a:xfrm>
          <a:prstGeom prst="rect">
            <a:avLst/>
          </a:prstGeom>
          <a:solidFill>
            <a:srgbClr val="FDF3E0"/>
          </a:solidFill>
          <a:ln w="1016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3383280"/>
            <a:ext cx="219456" cy="21945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3649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467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Reusable until amount exhausted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9624"/>
            <a:ext cx="5623560" cy="530352"/>
          </a:xfrm>
          <a:prstGeom prst="rect">
            <a:avLst/>
          </a:prstGeom>
          <a:solidFill>
            <a:srgbClr val="FDF3E0"/>
          </a:solidFill>
          <a:ln w="1016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005072"/>
            <a:ext cx="219456" cy="21945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398678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9684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Amount drawn down progressively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71416"/>
            <a:ext cx="5623560" cy="530352"/>
          </a:xfrm>
          <a:prstGeom prst="rect">
            <a:avLst/>
          </a:prstGeom>
          <a:solidFill>
            <a:srgbClr val="FDF3E0"/>
          </a:solidFill>
          <a:ln w="1016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55080" y="4626864"/>
            <a:ext cx="219456" cy="21945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460857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5902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Has an expiration date that must be tracked</a:t>
            </a:r>
          </a:p>
        </p:txBody>
      </p:sp>
      <p:pic>
        <p:nvPicPr>
          <p:cNvPr id="42" name="Picture 41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B2E28459-B2F8-A3E7-4B99-2F813BA1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Data Model – PO Table &amp; Tracking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9377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937760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7548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SALES ORDER – </a:t>
            </a:r>
            <a:r>
              <a:rPr lang="en-GB" sz="1400" b="1">
                <a:solidFill>
                  <a:srgbClr val="FFFFFF"/>
                </a:solidFill>
                <a:latin typeface="Calibri"/>
              </a:rPr>
              <a:t>CONTRACT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46634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PO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92807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Unique PO identifier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4663440" cy="502920"/>
          </a:xfrm>
          <a:prstGeom prst="rect">
            <a:avLst/>
          </a:prstGeom>
          <a:solidFill>
            <a:srgbClr val="FDF3E0"/>
          </a:solidFill>
          <a:ln w="762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4414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PO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5973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Total authorized spend envelope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441448"/>
            <a:ext cx="164592" cy="41148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4663440" cy="502920"/>
          </a:xfrm>
          <a:prstGeom prst="rect">
            <a:avLst/>
          </a:prstGeom>
          <a:solidFill>
            <a:srgbClr val="FDF3E0"/>
          </a:solidFill>
          <a:ln w="762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0083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Blanket 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266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Boolean flag = true/false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008376"/>
            <a:ext cx="164592" cy="41148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29584"/>
            <a:ext cx="4663440" cy="502920"/>
          </a:xfrm>
          <a:prstGeom prst="rect">
            <a:avLst/>
          </a:prstGeom>
          <a:solidFill>
            <a:srgbClr val="FDF3E0"/>
          </a:solidFill>
          <a:ln w="762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57530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Expiration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593591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Date the PO becomes invalid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575303"/>
            <a:ext cx="164592" cy="41148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4663440" cy="502920"/>
          </a:xfrm>
          <a:prstGeom prst="rect">
            <a:avLst/>
          </a:prstGeom>
          <a:solidFill>
            <a:srgbClr val="FDF3E0"/>
          </a:solidFill>
          <a:ln w="762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14223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Tracking Scope (ref)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160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Account / Location / Product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142232"/>
            <a:ext cx="164592" cy="41148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663440"/>
            <a:ext cx="46634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709159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Remaining 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27448"/>
            <a:ext cx="2468880" cy="2385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rgbClr val="606060"/>
                </a:solidFill>
                <a:latin typeface="Calibri"/>
              </a:rPr>
              <a:t>Automatically Calculated</a:t>
            </a:r>
            <a:r>
              <a:rPr sz="950" b="0" i="0" dirty="0">
                <a:solidFill>
                  <a:srgbClr val="606060"/>
                </a:solidFill>
                <a:latin typeface="Calibri"/>
              </a:rPr>
              <a:t> (TBD)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TRACKING SCOPE — Reference Field Points To: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1828800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06440" y="1828800"/>
            <a:ext cx="128016" cy="96012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53328" y="19202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Customer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224942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Blanket PO applies to entire account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1938528"/>
            <a:ext cx="2194560" cy="310896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0" y="19659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POC — ACTIVE NOW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2971800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06440" y="2971800"/>
            <a:ext cx="128016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53328" y="3063240"/>
            <a:ext cx="41148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300" b="1">
                <a:solidFill>
                  <a:srgbClr val="0D2841"/>
                </a:solidFill>
                <a:latin typeface="Calibri"/>
              </a:rPr>
              <a:t>Department</a:t>
            </a:r>
            <a:endParaRPr sz="1300" b="1" i="0">
              <a:solidFill>
                <a:srgbClr val="0D2841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53328" y="3392424"/>
            <a:ext cx="45720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Blanket PO applies to a specific </a:t>
            </a:r>
            <a:r>
              <a:rPr lang="en-US" sz="1100">
                <a:solidFill>
                  <a:srgbClr val="606060"/>
                </a:solidFill>
                <a:latin typeface="Calibri"/>
              </a:rPr>
              <a:t>department</a:t>
            </a:r>
            <a:endParaRPr sz="1100" b="0" i="0">
              <a:solidFill>
                <a:srgbClr val="606060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418320" y="3081528"/>
            <a:ext cx="2194560" cy="31089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18320" y="31089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DOCUMENTED — FUTURE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4114800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06440" y="4114800"/>
            <a:ext cx="128016" cy="9601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3328" y="42062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Product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453542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Blanket PO applies to a product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4224528"/>
            <a:ext cx="2194560" cy="31089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0" y="42519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DOCUMENTED — FUTURE</a:t>
            </a:r>
          </a:p>
        </p:txBody>
      </p:sp>
      <p:pic>
        <p:nvPicPr>
          <p:cNvPr id="49" name="Picture 48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79BA31E9-6BC0-E067-8CBC-8968FB14E2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PO Submission – Timing &amp;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Customers may submit a PO at different stages of the order lifecycle. Both paths record the PO into the Sales Order PO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29184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BEFORE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Customer sends PO before any order exists. PO recorded and available to link when order is created.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011680"/>
            <a:ext cx="3200400" cy="137160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Order created. PO reference field allows manual selection of an existing PO on the Rental Order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011680"/>
            <a:ext cx="3291840" cy="137160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14884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AFTER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146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Customer sends PO after order exists. PO recorded and can be associated to the already-created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114800"/>
            <a:ext cx="7589520" cy="457200"/>
          </a:xfrm>
          <a:prstGeom prst="rect">
            <a:avLst/>
          </a:prstGeom>
          <a:solidFill>
            <a:srgbClr val="0D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4187952"/>
            <a:ext cx="7315200" cy="3108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ALL PATHS RECORD INTO →  Sales Order </a:t>
            </a:r>
            <a:r>
              <a:rPr lang="en-GB" sz="1400" b="1">
                <a:solidFill>
                  <a:srgbClr val="FFFFFF"/>
                </a:solidFill>
                <a:latin typeface="Calibri"/>
              </a:rPr>
              <a:t>Contract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8600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8600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5074920"/>
            <a:ext cx="5029200" cy="548640"/>
          </a:xfrm>
          <a:prstGeom prst="rect">
            <a:avLst/>
          </a:prstGeom>
          <a:solidFill>
            <a:srgbClr val="FDF3E0"/>
          </a:solidFill>
          <a:ln w="1524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519379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2841"/>
                </a:solidFill>
                <a:latin typeface="Calibri"/>
              </a:rPr>
              <a:t>Blanket PO?  →  Set Blanket PO = true  +  Expiration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A PO becomes a Blanket PO when the Blanket PO flag is set to true and an expiration date is provided.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769E837C-D831-12C4-A6BE-2D3977516494}"/>
              </a:ext>
            </a:extLst>
          </p:cNvPr>
          <p:cNvSpPr/>
          <p:nvPr/>
        </p:nvSpPr>
        <p:spPr>
          <a:xfrm>
            <a:off x="9092100" y="843133"/>
            <a:ext cx="2220344" cy="859391"/>
          </a:xfrm>
          <a:prstGeom prst="wedgeRoundRect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ea typeface="Calibri"/>
                <a:cs typeface="Calibri"/>
              </a:rPr>
              <a:t>Business decision required to define the maximum permissible stage of the Rental Sales Order process at which the Purchase Order (PO) must be available</a:t>
            </a:r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9A90A2-C3C2-35A5-5CDE-67D8279B612E}"/>
              </a:ext>
            </a:extLst>
          </p:cNvPr>
          <p:cNvCxnSpPr/>
          <p:nvPr/>
        </p:nvCxnSpPr>
        <p:spPr>
          <a:xfrm flipH="1">
            <a:off x="9734811" y="1808390"/>
            <a:ext cx="57803" cy="203200"/>
          </a:xfrm>
          <a:prstGeom prst="straightConnector1">
            <a:avLst/>
          </a:prstGeom>
          <a:ln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6" name="Picture 25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616BDC76-E5FB-7920-AEE9-8E8249B40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Real-Time Info Message – Trigger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365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C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7899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Interaction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2841"/>
                </a:solidFill>
                <a:latin typeface="Calibri"/>
              </a:rPr>
              <a:t>New Interaction record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Calibri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841"/>
                </a:solidFill>
                <a:latin typeface="Calibri"/>
              </a:rPr>
              <a:t>Account selected on the Interaction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4864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10528" y="1069848"/>
            <a:ext cx="365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07899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97855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07899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Rental Order (Portal)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727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855"/>
                </a:solidFill>
                <a:latin typeface="Calibri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8105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2841"/>
                </a:solidFill>
                <a:latin typeface="Calibri"/>
              </a:rPr>
              <a:t>New Rental Order via Business / Customer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12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855"/>
                </a:solidFill>
                <a:latin typeface="Calibri"/>
              </a:rP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50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841"/>
                </a:solidFill>
                <a:latin typeface="Calibri"/>
              </a:rPr>
              <a:t>Account populated on the Rental Order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MESSAGE DISPLAYED ON FORM (blue, informational — does not block submission)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1384280" cy="822960"/>
          </a:xfrm>
          <a:prstGeom prst="rect">
            <a:avLst/>
          </a:prstGeom>
          <a:solidFill>
            <a:srgbClr val="E1F0FB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4572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58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767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508A"/>
                </a:solidFill>
                <a:latin typeface="Calibri"/>
              </a:rPr>
              <a:t>$36,700 left to be used under Blanket 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062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06060"/>
                </a:solidFill>
                <a:latin typeface="Calibri"/>
              </a:rPr>
              <a:t>Example message — dollar amount is dynamically calculated from active Blanket PO(s) for the selected account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60"/>
            <a:ext cx="26974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269748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764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Informational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D2841"/>
                </a:solidFill>
                <a:latin typeface="Calibri"/>
              </a:rPr>
              <a:t>Blue info styling — not a warning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9272" y="4709160"/>
            <a:ext cx="26974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19272" y="4709160"/>
            <a:ext cx="2697480" cy="36576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4764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D2841"/>
                </a:solidFill>
                <a:latin typeface="Calibri"/>
              </a:rPr>
              <a:t>Does not prevent form submission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4709160"/>
            <a:ext cx="26974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81344" y="4709160"/>
            <a:ext cx="2697480" cy="36576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91072" y="4764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Dynamic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D2841"/>
                </a:solidFill>
                <a:latin typeface="Calibri"/>
              </a:rPr>
              <a:t>Amount pulled from PO Amount / remaining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43416" y="4709160"/>
            <a:ext cx="26974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43416" y="4709160"/>
            <a:ext cx="26974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53144" y="4764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Account-Triggered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D2841"/>
                </a:solidFill>
                <a:latin typeface="Calibri"/>
              </a:rPr>
              <a:t>Fires when account is populated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55080"/>
            <a:ext cx="114300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 b="0" i="1" dirty="0">
                <a:solidFill>
                  <a:srgbClr val="606060"/>
                </a:solidFill>
                <a:latin typeface="Calibri"/>
              </a:rPr>
              <a:t>For the POC, the message fires only for Account-level Blanket </a:t>
            </a:r>
            <a:r>
              <a:rPr sz="1100" b="0" i="1" err="1">
                <a:solidFill>
                  <a:srgbClr val="606060"/>
                </a:solidFill>
                <a:latin typeface="Calibri"/>
              </a:rPr>
              <a:t>POs.</a:t>
            </a:r>
            <a:r>
              <a:rPr sz="1100" b="0" i="1" dirty="0">
                <a:solidFill>
                  <a:srgbClr val="606060"/>
                </a:solidFill>
                <a:latin typeface="Calibri"/>
              </a:rPr>
              <a:t> </a:t>
            </a:r>
            <a:r>
              <a:rPr lang="en-US" sz="1100" i="1">
                <a:solidFill>
                  <a:srgbClr val="606060"/>
                </a:solidFill>
                <a:latin typeface="Calibri"/>
              </a:rPr>
              <a:t>Department</a:t>
            </a:r>
            <a:r>
              <a:rPr sz="1100" b="0" i="1">
                <a:solidFill>
                  <a:srgbClr val="606060"/>
                </a:solidFill>
                <a:latin typeface="Calibri"/>
              </a:rPr>
              <a:t>/ Product Model triggers are </a:t>
            </a:r>
            <a:r>
              <a:rPr lang="en-US" sz="1100" i="1">
                <a:solidFill>
                  <a:srgbClr val="606060"/>
                </a:solidFill>
                <a:latin typeface="Calibri"/>
              </a:rPr>
              <a:t>in </a:t>
            </a:r>
            <a:r>
              <a:rPr sz="1100" b="0" i="1">
                <a:solidFill>
                  <a:srgbClr val="606060"/>
                </a:solidFill>
                <a:latin typeface="Calibri"/>
              </a:rPr>
              <a:t>scope</a:t>
            </a:r>
            <a:r>
              <a:rPr lang="en-US" sz="1100" i="1">
                <a:solidFill>
                  <a:srgbClr val="606060"/>
                </a:solidFill>
                <a:latin typeface="Calibri"/>
              </a:rPr>
              <a:t> for actual implementation</a:t>
            </a:r>
            <a:r>
              <a:rPr sz="1100" b="0" i="1">
                <a:solidFill>
                  <a:srgbClr val="606060"/>
                </a:solidFill>
                <a:latin typeface="Calibri"/>
              </a:rPr>
              <a:t>.</a:t>
            </a:r>
          </a:p>
        </p:txBody>
      </p:sp>
      <p:pic>
        <p:nvPicPr>
          <p:cNvPr id="46" name="Picture 45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D1DA6956-7F1F-4E9C-5A31-3FFCD47C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Remaining Balance – Aggregation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841"/>
                </a:solidFill>
                <a:latin typeface="Calibri"/>
              </a:rPr>
              <a:t>When an account is selected, the system aggregates the remaining balance across all qualifying Blanket POs for that account.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583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" cy="658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45336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475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Account Selected on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User populates the account field on Interaction or Rental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855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30552"/>
            <a:ext cx="6583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30552"/>
            <a:ext cx="54864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20370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Find Blanket POs for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96312"/>
            <a:ext cx="5760720" cy="2560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06060"/>
                </a:solidFill>
                <a:latin typeface="Calibri"/>
              </a:rPr>
              <a:t>Query </a:t>
            </a:r>
            <a:r>
              <a:rPr lang="en-GB" sz="1000">
                <a:solidFill>
                  <a:srgbClr val="606060"/>
                </a:solidFill>
                <a:latin typeface="Calibri"/>
              </a:rPr>
              <a:t>Contract</a:t>
            </a:r>
            <a:r>
              <a:rPr sz="1000" b="0" i="0" dirty="0">
                <a:solidFill>
                  <a:srgbClr val="606060"/>
                </a:solidFill>
                <a:latin typeface="Calibri"/>
              </a:rPr>
              <a:t> table where Tracking Scope (Account) = selected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9665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9504"/>
            <a:ext cx="6583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889504"/>
            <a:ext cx="548640" cy="658368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063240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6265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Filter: Blanket PO =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5526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Include only records flagged as Blanket 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4840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8600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48456"/>
            <a:ext cx="6583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48456"/>
            <a:ext cx="548640" cy="658368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22191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721607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Filter: Expiration Date &gt;=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014215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Exclude expired Blanket POs from the calculation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20014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00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07408"/>
            <a:ext cx="6583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407408"/>
            <a:ext cx="548640" cy="658368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581144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48056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Sum Remaining Amounts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77316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Aggregate remaining balance across all qualifying POs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9518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97855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66359"/>
            <a:ext cx="6583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C2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166359"/>
            <a:ext cx="548640" cy="658368"/>
          </a:xfrm>
          <a:prstGeom prst="rect">
            <a:avLst/>
          </a:prstGeom>
          <a:solidFill>
            <a:srgbClr val="5C2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340096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23951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841"/>
                </a:solidFill>
                <a:latin typeface="Calibri"/>
              </a:rPr>
              <a:t>Display Info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5321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Show combined remaining balance in blue banner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1371600"/>
            <a:ext cx="4526280" cy="2011680"/>
          </a:xfrm>
          <a:prstGeom prst="rect">
            <a:avLst/>
          </a:prstGeom>
          <a:solidFill>
            <a:srgbClr val="0D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52360" y="146304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AGGREGATION FORMULA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1810512"/>
            <a:ext cx="4251960" cy="146304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0" y="179057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8600"/>
                </a:solidFill>
                <a:latin typeface="Calibri"/>
              </a:rPr>
              <a:t>Remaining Balance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05298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=  Σ (Remaining Amount)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2405717"/>
            <a:ext cx="3977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DD7EE"/>
                </a:solidFill>
                <a:latin typeface="Calibri"/>
              </a:rPr>
              <a:t>WHERE: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617969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Account = selected account
• Blanket PO = true
• Expiration Date ≥ Today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3566160"/>
            <a:ext cx="4526280" cy="41148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52360" y="363016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3977639"/>
            <a:ext cx="4526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5236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PO-1001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855"/>
                </a:solidFill>
                <a:latin typeface="Calibri"/>
              </a:rPr>
              <a:t>$20,000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114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  <a:latin typeface="Calibri"/>
              </a:rPr>
              <a:t>Valid (exp. 2026)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PO-1002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855"/>
                </a:solidFill>
                <a:latin typeface="Calibri"/>
              </a:rPr>
              <a:t>$16,700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  <a:latin typeface="Calibri"/>
              </a:rPr>
              <a:t>Valid (exp. 2026)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PO-1003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$12,000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00000"/>
                </a:solidFill>
                <a:latin typeface="Calibri"/>
              </a:rPr>
              <a:t>EXPIRED — excluded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2360" y="5532120"/>
            <a:ext cx="4251960" cy="457200"/>
          </a:xfrm>
          <a:prstGeom prst="rect">
            <a:avLst/>
          </a:prstGeom>
          <a:solidFill>
            <a:srgbClr val="E1F0FB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89520" y="561441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508A"/>
                </a:solidFill>
                <a:latin typeface="Calibri"/>
              </a:rPr>
              <a:t>Displayed:  $36,700 remaining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6378" y="6066929"/>
            <a:ext cx="44359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Expired PO-1003 is excluded — only $20,000 + $16,700 = $36,700 is shown as available.</a:t>
            </a:r>
          </a:p>
        </p:txBody>
      </p:sp>
      <p:pic>
        <p:nvPicPr>
          <p:cNvPr id="63" name="Picture 62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05B28ED0-E705-1288-2928-4336983AC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Rental Order Form – Manual PO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338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RENTAL ORDER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1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255744"/>
            <a:ext cx="2880360" cy="384048"/>
          </a:xfrm>
          <a:prstGeom prst="rect">
            <a:avLst/>
          </a:prstGeom>
          <a:solidFill>
            <a:srgbClr val="E1F0FB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2319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841"/>
                </a:solidFill>
                <a:latin typeface="Calibri"/>
              </a:rPr>
              <a:t>Memorial 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04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Contact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859248"/>
            <a:ext cx="2880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29232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  <a:latin typeface="Calibri"/>
              </a:rPr>
              <a:t>J. 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08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Patient 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462752"/>
            <a:ext cx="2880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3526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  <a:latin typeface="Calibri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1976"/>
            <a:ext cx="219456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100" b="1">
                <a:solidFill>
                  <a:srgbClr val="0D2841"/>
                </a:solidFill>
                <a:latin typeface="Calibri"/>
              </a:rPr>
              <a:t>Department</a:t>
            </a:r>
            <a:endParaRPr sz="1100" b="1" i="0">
              <a:solidFill>
                <a:srgbClr val="0D2841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80360" y="4066256"/>
            <a:ext cx="2880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9232" y="4130264"/>
            <a:ext cx="2651760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050">
                <a:solidFill>
                  <a:srgbClr val="606060"/>
                </a:solidFill>
                <a:latin typeface="Calibri"/>
              </a:rPr>
              <a:t>Respiratory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0080" y="4715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PO (reference field)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4669760"/>
            <a:ext cx="2880360" cy="384048"/>
          </a:xfrm>
          <a:prstGeom prst="rect">
            <a:avLst/>
          </a:prstGeom>
          <a:solidFill>
            <a:srgbClr val="E1F0FB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99232" y="47337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841"/>
                </a:solidFill>
                <a:latin typeface="Calibri"/>
              </a:rPr>
              <a:t>▼ Select PO...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18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Products / Bundles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5273264"/>
            <a:ext cx="2880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9232" y="53372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  <a:latin typeface="Calibri"/>
              </a:rPr>
              <a:t>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1591076"/>
            <a:ext cx="5120640" cy="411480"/>
          </a:xfrm>
          <a:prstGeom prst="rect">
            <a:avLst/>
          </a:prstGeom>
          <a:solidFill>
            <a:srgbClr val="E1F0FB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1591076"/>
            <a:ext cx="32004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16642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16642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508A"/>
                </a:solidFill>
                <a:latin typeface="Calibri"/>
              </a:rPr>
              <a:t>$36,700 left under Blanket 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841"/>
                </a:solidFill>
                <a:latin typeface="Calibri"/>
              </a:rPr>
              <a:t>PO REFERENCE FIELD BEHAVIOR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91640"/>
            <a:ext cx="55321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1691640"/>
            <a:ext cx="128016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18013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Reference Field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13055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Rental Order form has a reference field pointing to the PO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743200"/>
            <a:ext cx="55321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2743200"/>
            <a:ext cx="128016" cy="91440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8529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Manual Selection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182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CEC / Partner manually selects the applicable PO — not auto-assigned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794760"/>
            <a:ext cx="55321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3794760"/>
            <a:ext cx="128016" cy="91440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39044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Account-Filtered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233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PO picker should show POs linked to the selected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846320"/>
            <a:ext cx="55321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4846320"/>
            <a:ext cx="128016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4956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841"/>
                </a:solidFill>
                <a:latin typeface="Calibri"/>
              </a:rPr>
              <a:t>Info Message Parallel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285231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Blanket PO remaining-balance message shows once account is populated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The PO reference field and the info message work together: the message informs, while the reference field records the actual PO-to-order link.</a:t>
            </a:r>
          </a:p>
        </p:txBody>
      </p:sp>
      <p:pic>
        <p:nvPicPr>
          <p:cNvPr id="48" name="Picture 47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23762CB0-6C69-64A5-2F1D-8AFC56EA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End-to-End Blanket PO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" y="126187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2710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86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27101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 Received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Customer sends PO (before or after order)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805939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18872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73552" y="1188720"/>
            <a:ext cx="265176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26187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2710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C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271016"/>
            <a:ext cx="201168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Record in </a:t>
            </a:r>
            <a:r>
              <a:rPr lang="en-GB" sz="1300" b="1">
                <a:solidFill>
                  <a:srgbClr val="FFFFFF"/>
                </a:solidFill>
                <a:latin typeface="Calibri"/>
              </a:rPr>
              <a:t>Contract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Create PO record with Blanket PO = true + expiration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9196" y="1805939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18872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1188720"/>
            <a:ext cx="26517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91072" y="126187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2710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27101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Link Tracking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Reference field → Account (POC) / Location /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8181" y="1805939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118872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89136" y="1188720"/>
            <a:ext cx="2651760" cy="457200"/>
          </a:xfrm>
          <a:prstGeom prst="rect">
            <a:avLst/>
          </a:prstGeom>
          <a:solidFill>
            <a:srgbClr val="5C2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98864" y="126187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98864" y="12710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278A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4" y="127101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 Selected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On Interaction or Rental Order 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56616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0" y="3566160"/>
            <a:ext cx="2651760" cy="457200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938528" y="363931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38528" y="364845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00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36484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Aggregate Balance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160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Sum non-expired Blanket PO remaining amounts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1646" y="418338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36592" y="356616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36592" y="3566160"/>
            <a:ext cx="2651760" cy="45720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46320" y="363931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0" y="364845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97855"/>
                </a:solidFill>
                <a:latin typeface="Calibr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36484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Display Info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160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Blue banner: '$X left under Blanket PO'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7832" y="418338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44384" y="3566160"/>
            <a:ext cx="26517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644384" y="3566160"/>
            <a:ext cx="2651760" cy="45720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754112" y="3639312"/>
            <a:ext cx="38404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54112" y="364845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70"/>
                </a:solidFill>
                <a:latin typeface="Calibri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36484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Select PO on Order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160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Manual PO reference selection on Rental Order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669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Steps 01–03 are PO setup. Steps 04–06 are the real-time messaging. Step 07 records the PO-to-order link at order creation.</a:t>
            </a:r>
          </a:p>
        </p:txBody>
      </p:sp>
      <p:pic>
        <p:nvPicPr>
          <p:cNvPr id="53" name="Picture 52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745C8B21-06A6-EB1C-ED46-F7C7268504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Open Items, Assumptions &amp; POC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62356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 ITEMS – TO BE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23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27048"/>
            <a:ext cx="310896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How is consumed PO spend calculated? (Sum of linked order amounts vs manual update) — approach not yet defined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50008"/>
            <a:ext cx="5623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59736"/>
            <a:ext cx="310896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7802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What happens when a Blanket PO expires mid-order lifecycle?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82696"/>
            <a:ext cx="5623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392424"/>
            <a:ext cx="310896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74136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Should expired POs be filtered out of / hidden from the order form PO picker?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15384"/>
            <a:ext cx="5623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325112"/>
            <a:ext cx="310896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06824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Handling when multiple POs apply and an order exceeds a single PO's remaining 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960120"/>
            <a:ext cx="5623560" cy="411480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0241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POC SCOPE (THIS PHASE)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17320"/>
            <a:ext cx="5623560" cy="438912"/>
          </a:xfrm>
          <a:prstGeom prst="rect">
            <a:avLst/>
          </a:prstGeom>
          <a:solidFill>
            <a:srgbClr val="E8F8F0"/>
          </a:solidFill>
          <a:ln w="1016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1536192"/>
            <a:ext cx="201168" cy="201168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4667" y="151790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50876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Account-level Blanket PO tracking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920240"/>
            <a:ext cx="5623560" cy="438912"/>
          </a:xfrm>
          <a:prstGeom prst="rect">
            <a:avLst/>
          </a:prstGeom>
          <a:solidFill>
            <a:srgbClr val="E8F8F0"/>
          </a:solidFill>
          <a:ln w="1016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2039112"/>
            <a:ext cx="201168" cy="201168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4667" y="202082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0116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Info message on Interaction Record 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423160"/>
            <a:ext cx="5623560" cy="438912"/>
          </a:xfrm>
          <a:prstGeom prst="rect">
            <a:avLst/>
          </a:prstGeom>
          <a:solidFill>
            <a:srgbClr val="E8F8F0"/>
          </a:solidFill>
          <a:ln w="1016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542032"/>
            <a:ext cx="201168" cy="201168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4667" y="252374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5146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Info message on Rental Order (Portal) 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926080"/>
            <a:ext cx="5623560" cy="438912"/>
          </a:xfrm>
          <a:prstGeom prst="rect">
            <a:avLst/>
          </a:prstGeom>
          <a:solidFill>
            <a:srgbClr val="E8F8F0"/>
          </a:solidFill>
          <a:ln w="1016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55080" y="3044952"/>
            <a:ext cx="201168" cy="201168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4667" y="302666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017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Manual PO reference selection on Rental Order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429000"/>
            <a:ext cx="5623560" cy="438912"/>
          </a:xfrm>
          <a:prstGeom prst="rect">
            <a:avLst/>
          </a:prstGeom>
          <a:solidFill>
            <a:srgbClr val="E8F8F0"/>
          </a:solidFill>
          <a:ln w="10160">
            <a:solidFill>
              <a:srgbClr val="19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547872"/>
            <a:ext cx="201168" cy="201168"/>
          </a:xfrm>
          <a:prstGeom prst="rect">
            <a:avLst/>
          </a:prstGeom>
          <a:solidFill>
            <a:srgbClr val="19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1869" y="352958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5204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841"/>
                </a:solidFill>
                <a:latin typeface="Calibri"/>
              </a:rPr>
              <a:t>Aggregation of non-expired Blanket POs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114800"/>
            <a:ext cx="562356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41788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ASSUMPTIONS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572000"/>
            <a:ext cx="56235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55080" y="4690872"/>
            <a:ext cx="201168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4667" y="465429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663440"/>
            <a:ext cx="50292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dirty="0">
                <a:solidFill>
                  <a:srgbClr val="0D2841"/>
                </a:solidFill>
                <a:latin typeface="Calibri"/>
              </a:rPr>
              <a:t>Department </a:t>
            </a:r>
            <a:r>
              <a:rPr sz="1100" b="0" i="0" dirty="0">
                <a:solidFill>
                  <a:srgbClr val="0D2841"/>
                </a:solidFill>
                <a:latin typeface="Calibri"/>
              </a:rPr>
              <a:t>&amp; Product Model scopes are </a:t>
            </a:r>
            <a:r>
              <a:rPr lang="en-US" sz="1100" dirty="0">
                <a:solidFill>
                  <a:srgbClr val="0D2841"/>
                </a:solidFill>
                <a:latin typeface="Calibri"/>
              </a:rPr>
              <a:t>in scope for actual </a:t>
            </a:r>
            <a:r>
              <a:rPr lang="en-US" sz="1100">
                <a:solidFill>
                  <a:srgbClr val="0D2841"/>
                </a:solidFill>
                <a:latin typeface="Calibri"/>
              </a:rPr>
              <a:t>implementation</a:t>
            </a:r>
            <a:endParaRPr sz="1100" b="0" i="0">
              <a:solidFill>
                <a:srgbClr val="0D2841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217920" y="5074920"/>
            <a:ext cx="56235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55080" y="5193792"/>
            <a:ext cx="201168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4667" y="51572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166359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Message is informational only — never blocks submission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577840"/>
            <a:ext cx="56235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55080" y="5696712"/>
            <a:ext cx="201168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4667" y="566013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669279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841"/>
                </a:solidFill>
                <a:latin typeface="Calibri"/>
              </a:rPr>
              <a:t>Remaining amount is system-calculated (method TBD)</a:t>
            </a:r>
          </a:p>
        </p:txBody>
      </p:sp>
      <p:pic>
        <p:nvPicPr>
          <p:cNvPr id="59" name="Picture 58" descr="A red and blue logo with a bird wing&#10;&#10;AI-generated content may be incorrect.">
            <a:extLst>
              <a:ext uri="{FF2B5EF4-FFF2-40B4-BE49-F238E27FC236}">
                <a16:creationId xmlns:a16="http://schemas.microsoft.com/office/drawing/2014/main" id="{897D5DB6-A00F-0DBF-554F-2AFDF022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"/>
          <a:stretch>
            <a:fillRect/>
          </a:stretch>
        </p:blipFill>
        <p:spPr>
          <a:xfrm>
            <a:off x="11089654" y="6166757"/>
            <a:ext cx="1011633" cy="64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133</cp:revision>
  <dcterms:created xsi:type="dcterms:W3CDTF">2013-01-27T09:14:16Z</dcterms:created>
  <dcterms:modified xsi:type="dcterms:W3CDTF">2026-08-07T15:16:00Z</dcterms:modified>
  <cp:category/>
</cp:coreProperties>
</file>