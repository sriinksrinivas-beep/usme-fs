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37744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IVALUA REVERSE AUCTION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DEMONSTRATION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Demo Script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292608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572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45720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Limited — Central Procurement, Packaging &amp; Indirect Sourcing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37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49377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IT Consulting — Ivalua Functional Consulting Team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03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53035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Ivalua Sourcing — Reverse Auction (e-Auction) Module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69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5669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Demo Purposes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11096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7647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Business Context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09397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Zomato's packaging category, current pain points, and sourcing goals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1109441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3288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7523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2606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293522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Ivalua's Sourcing and Reverse Auction modules address the use case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19272"/>
            <a:ext cx="1109441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37413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5935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57400" y="34472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Script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057400" y="37764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 — auction setup through live competitive bidding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421538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443484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057400" y="428853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Award, Contracts &amp; Savings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2057400" y="46177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award logic, contract handoff, and realized savings reporting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01768"/>
            <a:ext cx="1109441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8640" y="505663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5276088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057400" y="51297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2057400" y="545896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 and open discussion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Use Case Fits a Reverse Auction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Zomato's packaging category has the exact conditions where competitive, live price discovery outperforms manual negotiation.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14884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774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33172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Spend, High Volume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2660904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$9.2M annual category spend across recurring, repeat-buy SKUs.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78728" y="214884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3774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55968" y="233172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Commoditized Specification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7055968" y="2660904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GSM, material grade, and compliance certs are fixed — suppliers compete on price and lead time.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88620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406908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Qualified Suppliers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325880" y="4398264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pre-qualified vendors with proven capacity — a compelling live bidding ladder.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78728" y="388620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411480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55968" y="406908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Savings &amp; Sustainability Story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7055968" y="4398264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8–14% price compression, blended with Zomato's eco-packaging commitment in the award formula.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Business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916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1801368"/>
            <a:ext cx="256786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$9.2M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22576"/>
            <a:ext cx="2293544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category spend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0824" y="16916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390824" y="1801368"/>
            <a:ext cx="256786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527984" y="2322576"/>
            <a:ext cx="2293544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suppliers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3008" y="16916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33008" y="1801368"/>
            <a:ext cx="256786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days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370168" y="2322576"/>
            <a:ext cx="2293544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negotiation cycle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75191" y="1691640"/>
            <a:ext cx="2567864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075191" y="1801368"/>
            <a:ext cx="256786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mo.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212351" y="2322576"/>
            <a:ext cx="2293544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last price benchmark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686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Org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Procurement — Packaging &amp; Indirect Sourcing CoE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in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Food-grade packaging &amp; delivery consumables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negotiated annual rates; suppliers aware of last year's 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structured price discovery event; limited competitive tension; 6–8 week cycles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Sourcing 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cycle time to under 2 weeks; drive 8–14% cost reduction; hold sustainability &amp; SLA 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Event Scope — Three Auctioned Lots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97680"/>
                <a:gridCol w="2194560"/>
                <a:gridCol w="2103120"/>
                <a:gridCol w="19202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Annual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Unit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Annual 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Insulated Delivery Bags (medium, food-grade lining)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1,80,000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₹210 /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₹3.78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Biodegradable Food Containers (500ml, 3-compartment)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Cr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₹2.35 /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₹5.64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Compostable Cutlery Kits (spoon, napkin, sachet)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Cr kits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₹1.10 / kit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₹1.21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28523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5193792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spend in scope: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$9.2M annually across three standardized, comparable commodity lots — ideal reverse-auction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Pre-Qualified Supplier Panel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120640"/>
                <a:gridCol w="1463040"/>
                <a:gridCol w="25603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Eligible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EcoPack Industries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 packaging leader, FSSAI + compostability certified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Pune, MH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GreenLeaf Containers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container manufacturing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Hosur, TN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Vasavi Poly Packs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Insulated bag specialist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Hyderabad, 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Sundarban Biodegradables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Compostable materials, export-certified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Kolkata, WB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Packaging 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Broad-line incumbent supplier (2023 contract holder)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Bhiwandi, MH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 FlexPack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entrant, aggressive pricing, mid-size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Ahmedabad, GJ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56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0025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RFQ-to-auction handoff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2276856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pre-qualified RFQ shortlist directly into a governed reverse auction with no re-keying.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7157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competitive bidding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005840" y="2990088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rank visibility, automatic decrement rules, and anti-sniping controls in action.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0215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34290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award logic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005840" y="37033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price, sustainability score, and lead-time compliance — not lowest price alone.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15384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5840" y="414223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Source-to-Pay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1005840" y="441655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auction-to-contract-to-PO handoff on one platform.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94415" cy="914400"/>
        </p:xfrm>
        <a:graphic>
          <a:graphicData uri="http://schemas.openxmlformats.org/drawingml/2006/table">
            <a:tbl>
              <a:tblPr/>
              <a:tblGrid>
                <a:gridCol w="9052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bid ladder re-ranks correctly in real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dashboard shows &gt; 8% reduction vs.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 reflects weighted, not lowest-price-only,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Ivalua Modules Used in This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Ivalua 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Use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Sourcing / RFx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the original RFQ, technical specs, and supplier responses that qualify the auction panel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Auction (e-Auction)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live competitive bidding event across the three lots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Supplier-facing bid entry screen with live rank and bid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&amp; Award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weighted criteria — price, sustainability, lead time — to recommend an award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the awarded auction result into a contract workspace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/ Savings Tracker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realized savings against baseline and tracked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 Configuration Used in the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572000"/>
                <a:gridCol w="4206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 Type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Multi-lot English Reverse Auction (rank-visible)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competitive behavior without revealing confidential pricing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Visibility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Zomato's supplier-confidentiality policy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Decrement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 of current best bid, per lot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each round produces meaningful price movement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/ Soft Close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min, auto-extend 3 min on late bids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last-second sniping, rewards sustained competition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 Method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70% / Sustainability 20% / Lead Time 10%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Ivalua isn't a blind lowest-price tool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/ Ceiling Price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at current baseline unit price per lot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Guarantees a savings floor — no bid clears above today's rate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LIVE DEMO 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~32-34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96596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8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258775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80720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→ Auction-Ready Shortlist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04495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38218" y="196596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21488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39386" y="258775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539386" y="280720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Auction Event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39386" y="304495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127797" y="196596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965" y="21488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28965" y="258775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328965" y="280720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View — Joining the Auction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8328965" y="304495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61188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79476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9808" y="423367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49808" y="445312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 Round (centerpiece)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749808" y="469087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338218" y="361188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386" y="379476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539386" y="423367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4539386" y="445312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Close &amp; Award Recommendation</a:t>
            </a:r>
            <a:endParaRPr lang="en-US" sz="1150" dirty="0"/>
          </a:p>
        </p:txBody>
      </p:sp>
      <p:sp>
        <p:nvSpPr>
          <p:cNvPr id="32" name="Text 24"/>
          <p:cNvSpPr txBox="1"/>
          <p:nvPr/>
        </p:nvSpPr>
        <p:spPr>
          <a:xfrm>
            <a:off x="4539386" y="469087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127797" y="361188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965" y="379476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328965" y="423367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445312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→ Contract &amp; PO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8328965" y="469087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48640" y="5257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440680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49808" y="587959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749808" y="609904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Reporting &amp; Wrap-Up</a:t>
            </a:r>
            <a:endParaRPr lang="en-US" sz="1150" dirty="0"/>
          </a:p>
        </p:txBody>
      </p:sp>
      <p:sp>
        <p:nvSpPr>
          <p:cNvPr id="42" name="Text 32"/>
          <p:cNvSpPr txBox="1"/>
          <p:nvPr/>
        </p:nvSpPr>
        <p:spPr>
          <a:xfrm>
            <a:off x="749808" y="6336792"/>
            <a:ext cx="314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LIVE DEMO 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Centerpiece — Live Bidding Round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1: Insulated Delivery Bags — narrate the ladder as it moves in real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286000"/>
                <a:gridCol w="310896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(₹/unit)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/ Ceiling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₹202.50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Packaging 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T+3:10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EcoPack Industries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T+7:45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₹189.20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 FlexPack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T+14:30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4 (soft-close triggered)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₹183.75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EcoPack Industries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T+18:05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₹181.90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EcoPack Industries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T+21:00 (auto-extended)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48640" y="5458968"/>
            <a:ext cx="1109441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13.4% savings vs. baseline on Lot 1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760720"/>
            <a:ext cx="108200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soft-close auto-extension — typically adds another 2–4% vs. a hard-close auction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AWARD, CONTRACTS &amp; SAVINGS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Award Recommendation — Weighted, Not Lowest-Price-Only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3108960"/>
                <a:gridCol w="164592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Bid Supplier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Award (Weighted)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Price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1 — Delivery Bags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EcoPack Industries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EcoPack Industries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₹181.90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2 — Containers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 FlexPack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GreenLeaf Containers*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3 — Cutlery Kits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Sundarban Biodegradables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Sundarban Biodegradables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₹0.97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251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*Not the lowest bidder — recommended for a materially higher sustainability score, with full audit trail of the buyer's decision.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6460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479145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→ Contract → PO in one flow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005840" y="5065776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auction result flows directly into a pre-populated contract workspace and can trigger PO / catalog updates — no re-entry, full traceability from RFQ to PO.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AWARD, CONTRACTS &amp; SAVINGS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&amp; Cycle-Time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031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2212848"/>
            <a:ext cx="256786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$9.2M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2608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spend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0824" y="21031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390824" y="2212848"/>
            <a:ext cx="256786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527984" y="292608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savings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3008" y="21031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33008" y="2212848"/>
            <a:ext cx="256786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$1.14M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370168" y="292608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savings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75191" y="21031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075191" y="2212848"/>
            <a:ext cx="256786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days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212351" y="292608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(vs. 52-day historical avg.)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023360"/>
            <a:ext cx="11094415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463040" y="4206240"/>
            <a:ext cx="9905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nine days — versus the seven-plus weeks this category normally takes — Zomato ran a fully transparent, competitive event and locked in roughly $1.1M in annualized savings, without compromising the sustainability commitments that matter to the brand.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Q&amp;A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0911535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 |  Ivalua Reverse Auction Demo — Zomato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9456"/>
            <a:ext cx="116128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965960"/>
            <a:ext cx="5364328" cy="169164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67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130552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suppliers see each other's prices?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587752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bid visibility is configurable (rank-only, price-blind, or full transparency). This demo used rank-only.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78728" y="1965960"/>
            <a:ext cx="5364328" cy="169164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1671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64528" y="2130552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last-second sniping?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553048" y="2587752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Soft-close auto-extension reopens bidding whenever a bid lands inside a configurable final window.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5364328" cy="169164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330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096512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system force lowest-bid award?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553712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award uses a configurable weighted model; the lowest bid is one input, and buyers can override with a logged reason.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78728" y="3931920"/>
            <a:ext cx="5364328" cy="1691640"/>
          </a:xfrm>
          <a:prstGeom prst="roundRect">
            <a:avLst>
              <a:gd name="adj" fmla="val 3243"/>
            </a:avLst>
          </a:prstGeom>
          <a:solidFill>
            <a:srgbClr val="F7F8FA"/>
          </a:solidFill>
          <a:ln w="9525">
            <a:solidFill>
              <a:srgbClr val="E3E7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41330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64528" y="4096512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integrate with contracts/PO?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6553048" y="4553712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awarded result generates a contract workspace and can trigger PO/catalog updates from the same record.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248" y="1965960"/>
            <a:ext cx="2743200" cy="9509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981048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how Ivalua's Reverse Auction can drive competitive, transparent sourcing for Zomato's packaging category.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24248" y="4709160"/>
            <a:ext cx="274320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Durvah IT Consulting  |  Ivalua Functional Consulting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Durvah IT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Ivalua Reverse Auction Demo — Zomato</dc:title>
  <dc:subject>PptxGenJS Presentation</dc:subject>
  <dc:creator>Durvah IT Consulting</dc:creator>
  <cp:lastModifiedBy>Durvah IT Consulting</cp:lastModifiedBy>
  <cp:revision>1</cp:revision>
  <dcterms:created xsi:type="dcterms:W3CDTF">2026-09-07T12:02:50Z</dcterms:created>
  <dcterms:modified xsi:type="dcterms:W3CDTF">2026-09-07T12:02:50Z</dcterms:modified>
</cp:coreProperties>
</file>