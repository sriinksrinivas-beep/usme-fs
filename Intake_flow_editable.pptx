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5660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61533" y="1109133"/>
            <a:ext cx="1041400" cy="745067"/>
          </a:xfrm>
          <a:prstGeom prst="roundRect">
            <a:avLst>
              <a:gd name="adj" fmla="val 12273"/>
            </a:avLst>
          </a:prstGeom>
          <a:solidFill>
            <a:srgbClr val="FFFFFF"/>
          </a:solidFill>
          <a:ln w="19050">
            <a:solidFill>
              <a:srgbClr val="5F6B7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61533" y="1109133"/>
            <a:ext cx="1041400" cy="745067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arrives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portal, EDI,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fax, SFTP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650067" y="1109133"/>
            <a:ext cx="1049867" cy="745067"/>
          </a:xfrm>
          <a:prstGeom prst="roundRect">
            <a:avLst>
              <a:gd name="adj" fmla="val 12273"/>
            </a:avLst>
          </a:prstGeom>
          <a:solidFill>
            <a:srgbClr val="FFFFFF"/>
          </a:solidFill>
          <a:ln w="19050">
            <a:solidFill>
              <a:srgbClr val="1B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650067" y="1109133"/>
            <a:ext cx="1049867" cy="745067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check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Active? alerts, PO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required, after hours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047067" y="1109133"/>
            <a:ext cx="1041400" cy="745067"/>
          </a:xfrm>
          <a:prstGeom prst="roundRect">
            <a:avLst>
              <a:gd name="adj" fmla="val 12273"/>
            </a:avLst>
          </a:prstGeom>
          <a:solidFill>
            <a:srgbClr val="FFFFFF"/>
          </a:solidFill>
          <a:ln w="19050">
            <a:solidFill>
              <a:srgbClr val="1B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47067" y="1109133"/>
            <a:ext cx="1041400" cy="745067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request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number,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user, time</a:t>
            </a:r>
            <a:endParaRPr lang="en-US" sz="9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A3BCA00-E0F1-3DE3-4609-A5EAB41EAB8E}"/>
              </a:ext>
            </a:extLst>
          </p:cNvPr>
          <p:cNvGrpSpPr/>
          <p:nvPr/>
        </p:nvGrpSpPr>
        <p:grpSpPr>
          <a:xfrm>
            <a:off x="5435600" y="1035504"/>
            <a:ext cx="1176868" cy="818696"/>
            <a:chOff x="5435600" y="1035504"/>
            <a:chExt cx="1176868" cy="818696"/>
          </a:xfrm>
        </p:grpSpPr>
        <p:sp>
          <p:nvSpPr>
            <p:cNvPr id="8" name="Shape 6"/>
            <p:cNvSpPr/>
            <p:nvPr/>
          </p:nvSpPr>
          <p:spPr>
            <a:xfrm>
              <a:off x="5435600" y="1109133"/>
              <a:ext cx="1168400" cy="745067"/>
            </a:xfrm>
            <a:prstGeom prst="roundRect">
              <a:avLst>
                <a:gd name="adj" fmla="val 12273"/>
              </a:avLst>
            </a:prstGeom>
            <a:solidFill>
              <a:srgbClr val="A0661A"/>
            </a:solidFill>
            <a:ln w="19050">
              <a:solidFill>
                <a:srgbClr val="A0661A"/>
              </a:solidFill>
              <a:prstDash val="solid"/>
            </a:ln>
          </p:spPr>
        </p:sp>
        <p:sp>
          <p:nvSpPr>
            <p:cNvPr id="9" name="Text 7"/>
            <p:cNvSpPr txBox="1"/>
            <p:nvPr/>
          </p:nvSpPr>
          <p:spPr>
            <a:xfrm>
              <a:off x="5444068" y="1035504"/>
              <a:ext cx="1168400" cy="745067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PENDING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CEC and branch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can edit</a:t>
              </a:r>
              <a:endParaRPr lang="en-US" sz="900" dirty="0"/>
            </a:p>
          </p:txBody>
        </p:sp>
      </p:grpSp>
      <p:sp>
        <p:nvSpPr>
          <p:cNvPr id="10" name="Shape 8"/>
          <p:cNvSpPr/>
          <p:nvPr/>
        </p:nvSpPr>
        <p:spPr>
          <a:xfrm>
            <a:off x="6883400" y="1109133"/>
            <a:ext cx="1168400" cy="745067"/>
          </a:xfrm>
          <a:prstGeom prst="roundRect">
            <a:avLst>
              <a:gd name="adj" fmla="val 12273"/>
            </a:avLst>
          </a:prstGeom>
          <a:solidFill>
            <a:srgbClr val="2B7A4B"/>
          </a:solidFill>
          <a:ln w="19050">
            <a:solidFill>
              <a:srgbClr val="2B7A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83400" y="1109133"/>
            <a:ext cx="1168400" cy="745067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preparing;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cancel, qty,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only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50067" y="2531533"/>
            <a:ext cx="1049867" cy="677333"/>
          </a:xfrm>
          <a:prstGeom prst="roundRect">
            <a:avLst>
              <a:gd name="adj" fmla="val 13500"/>
            </a:avLst>
          </a:prstGeom>
          <a:solidFill>
            <a:srgbClr val="FFFFFF"/>
          </a:solidFill>
          <a:ln w="19050">
            <a:solidFill>
              <a:srgbClr val="9C3A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50067" y="2531533"/>
            <a:ext cx="1049867" cy="67733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active: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request created,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to Sales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updates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47067" y="2667000"/>
            <a:ext cx="1041400" cy="677333"/>
          </a:xfrm>
          <a:prstGeom prst="roundRect">
            <a:avLst>
              <a:gd name="adj" fmla="val 13500"/>
            </a:avLst>
          </a:prstGeom>
          <a:solidFill>
            <a:srgbClr val="FFFFFF"/>
          </a:solidFill>
          <a:ln w="19050">
            <a:solidFill>
              <a:srgbClr val="9C3A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47067" y="2667000"/>
            <a:ext cx="1041400" cy="677333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reason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35600" y="2599267"/>
            <a:ext cx="1168400" cy="745067"/>
          </a:xfrm>
          <a:prstGeom prst="roundRect">
            <a:avLst>
              <a:gd name="adj" fmla="val 12273"/>
            </a:avLst>
          </a:prstGeom>
          <a:solidFill>
            <a:srgbClr val="FFFFFF"/>
          </a:solidFill>
          <a:ln w="19050">
            <a:solidFill>
              <a:srgbClr val="1B3F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35600" y="2599268"/>
            <a:ext cx="1168400" cy="62230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assigns CSR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substitution, qty,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exclusion (ROM)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83400" y="2599267"/>
            <a:ext cx="1168400" cy="745067"/>
          </a:xfrm>
          <a:prstGeom prst="roundRect">
            <a:avLst>
              <a:gd name="adj" fmla="val 12273"/>
            </a:avLst>
          </a:prstGeom>
          <a:solidFill>
            <a:srgbClr val="2B7A4B"/>
          </a:solidFill>
          <a:ln w="19050">
            <a:solidFill>
              <a:srgbClr val="2B7A4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25733" y="2458660"/>
            <a:ext cx="1168400" cy="745067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scan 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check-in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35600" y="3649133"/>
            <a:ext cx="1168400" cy="609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B3F6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35600" y="3649133"/>
            <a:ext cx="1168400" cy="50240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and lines created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start / end stamp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83400" y="3649133"/>
            <a:ext cx="1168400" cy="609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1B3F6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83400" y="3649133"/>
            <a:ext cx="1168400" cy="6096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reconciles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(second step)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02933" y="1481667"/>
            <a:ext cx="347133" cy="0"/>
          </a:xfrm>
          <a:prstGeom prst="line">
            <a:avLst/>
          </a:prstGeom>
          <a:noFill/>
          <a:ln w="15875">
            <a:solidFill>
              <a:srgbClr val="5F6B7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699933" y="1481667"/>
            <a:ext cx="347133" cy="0"/>
          </a:xfrm>
          <a:prstGeom prst="line">
            <a:avLst/>
          </a:prstGeom>
          <a:noFill/>
          <a:ln w="15875">
            <a:solidFill>
              <a:srgbClr val="5F6B7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088467" y="1481667"/>
            <a:ext cx="347133" cy="0"/>
          </a:xfrm>
          <a:prstGeom prst="line">
            <a:avLst/>
          </a:prstGeom>
          <a:noFill/>
          <a:ln w="15875">
            <a:solidFill>
              <a:srgbClr val="5F6B7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04000" y="1481667"/>
            <a:ext cx="279400" cy="0"/>
          </a:xfrm>
          <a:prstGeom prst="line">
            <a:avLst/>
          </a:prstGeom>
          <a:noFill/>
          <a:ln w="15875">
            <a:solidFill>
              <a:srgbClr val="5F6B7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175000" y="1854200"/>
            <a:ext cx="0" cy="643467"/>
          </a:xfrm>
          <a:prstGeom prst="line">
            <a:avLst/>
          </a:prstGeom>
          <a:noFill/>
          <a:ln w="15875">
            <a:solidFill>
              <a:srgbClr val="9C3A3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019800" y="1854200"/>
            <a:ext cx="0" cy="745067"/>
          </a:xfrm>
          <a:prstGeom prst="line">
            <a:avLst/>
          </a:prstGeom>
          <a:noFill/>
          <a:ln w="15875">
            <a:solidFill>
              <a:srgbClr val="5F6B7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>
            <a:off x="5113867" y="2971800"/>
            <a:ext cx="321733" cy="16933"/>
          </a:xfrm>
          <a:prstGeom prst="line">
            <a:avLst/>
          </a:prstGeom>
          <a:noFill/>
          <a:ln w="15875">
            <a:solidFill>
              <a:srgbClr val="9C3A3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6604000" y="1879600"/>
            <a:ext cx="448733" cy="905933"/>
          </a:xfrm>
          <a:prstGeom prst="line">
            <a:avLst/>
          </a:prstGeom>
          <a:noFill/>
          <a:ln w="15875">
            <a:solidFill>
              <a:srgbClr val="5F6B7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467600" y="1854200"/>
            <a:ext cx="0" cy="745067"/>
          </a:xfrm>
          <a:prstGeom prst="line">
            <a:avLst/>
          </a:prstGeom>
          <a:noFill/>
          <a:ln w="15875">
            <a:solidFill>
              <a:srgbClr val="5F6B7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H="1">
            <a:off x="6604000" y="2988733"/>
            <a:ext cx="279400" cy="905933"/>
          </a:xfrm>
          <a:prstGeom prst="line">
            <a:avLst/>
          </a:prstGeom>
          <a:noFill/>
          <a:ln w="15875">
            <a:solidFill>
              <a:srgbClr val="5F6B7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604000" y="3953933"/>
            <a:ext cx="279400" cy="0"/>
          </a:xfrm>
          <a:prstGeom prst="line">
            <a:avLst/>
          </a:prstGeom>
          <a:noFill/>
          <a:ln w="15875">
            <a:solidFill>
              <a:srgbClr val="5F6B78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3767667" y="1295400"/>
            <a:ext cx="3386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2997200" y="2015067"/>
            <a:ext cx="50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Active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5156200" y="2810933"/>
            <a:ext cx="3386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C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6646333" y="2218267"/>
            <a:ext cx="4233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7535333" y="2116667"/>
            <a:ext cx="14393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done / pickup scanned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1261533" y="3742267"/>
            <a:ext cx="406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Pickups are Active at once and complete only when the branch scans the equipment back in.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end for a pickup is stamped when the pickup is logged; billing start for a delivery when it is completed.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8D17AC10-323C-8047-895E-33BA19BA7AEA}"/>
              </a:ext>
            </a:extLst>
          </p:cNvPr>
          <p:cNvGrpSpPr/>
          <p:nvPr/>
        </p:nvGrpSpPr>
        <p:grpSpPr>
          <a:xfrm>
            <a:off x="469597" y="1095677"/>
            <a:ext cx="3826934" cy="2099733"/>
            <a:chOff x="1261533" y="1109133"/>
            <a:chExt cx="3826934" cy="2099733"/>
          </a:xfrm>
        </p:grpSpPr>
        <p:sp>
          <p:nvSpPr>
            <p:cNvPr id="3" name="Shape 0">
              <a:extLst>
                <a:ext uri="{FF2B5EF4-FFF2-40B4-BE49-F238E27FC236}">
                  <a16:creationId xmlns:a16="http://schemas.microsoft.com/office/drawing/2014/main" id="{3A6EC6E8-0996-A0F5-20B4-F2C1DB5A1007}"/>
                </a:ext>
              </a:extLst>
            </p:cNvPr>
            <p:cNvSpPr/>
            <p:nvPr/>
          </p:nvSpPr>
          <p:spPr>
            <a:xfrm>
              <a:off x="1261533" y="1109133"/>
              <a:ext cx="1041400" cy="745067"/>
            </a:xfrm>
            <a:prstGeom prst="roundRect">
              <a:avLst>
                <a:gd name="adj" fmla="val 12273"/>
              </a:avLst>
            </a:prstGeom>
            <a:solidFill>
              <a:srgbClr val="FFFFFF"/>
            </a:solidFill>
            <a:ln w="19050">
              <a:solidFill>
                <a:srgbClr val="5F6B78"/>
              </a:solidFill>
              <a:prstDash val="solid"/>
            </a:ln>
          </p:spPr>
        </p:sp>
        <p:sp>
          <p:nvSpPr>
            <p:cNvPr id="5" name="Text 1">
              <a:extLst>
                <a:ext uri="{FF2B5EF4-FFF2-40B4-BE49-F238E27FC236}">
                  <a16:creationId xmlns:a16="http://schemas.microsoft.com/office/drawing/2014/main" id="{D9A7E933-8046-106D-F885-4569E596A8B7}"/>
                </a:ext>
              </a:extLst>
            </p:cNvPr>
            <p:cNvSpPr txBox="1"/>
            <p:nvPr/>
          </p:nvSpPr>
          <p:spPr>
            <a:xfrm>
              <a:off x="1261533" y="1109133"/>
              <a:ext cx="1041400" cy="745067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F2A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Request arrives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1F2A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phone, portal, EDI,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1F2A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email, fax, SFTP</a:t>
              </a:r>
              <a:endParaRPr lang="en-US" sz="900" dirty="0"/>
            </a:p>
          </p:txBody>
        </p:sp>
        <p:sp>
          <p:nvSpPr>
            <p:cNvPr id="7" name="Shape 2">
              <a:extLst>
                <a:ext uri="{FF2B5EF4-FFF2-40B4-BE49-F238E27FC236}">
                  <a16:creationId xmlns:a16="http://schemas.microsoft.com/office/drawing/2014/main" id="{69B273F1-26E7-6079-4E3E-CADF58DC5F6F}"/>
                </a:ext>
              </a:extLst>
            </p:cNvPr>
            <p:cNvSpPr/>
            <p:nvPr/>
          </p:nvSpPr>
          <p:spPr>
            <a:xfrm>
              <a:off x="2650067" y="1109133"/>
              <a:ext cx="1049867" cy="745067"/>
            </a:xfrm>
            <a:prstGeom prst="roundRect">
              <a:avLst>
                <a:gd name="adj" fmla="val 12273"/>
              </a:avLst>
            </a:prstGeom>
            <a:solidFill>
              <a:srgbClr val="FFFFFF"/>
            </a:solidFill>
            <a:ln w="19050">
              <a:solidFill>
                <a:srgbClr val="1B3F6E"/>
              </a:solidFill>
              <a:prstDash val="solid"/>
            </a:ln>
          </p:spPr>
        </p:sp>
        <p:sp>
          <p:nvSpPr>
            <p:cNvPr id="9" name="Text 3">
              <a:extLst>
                <a:ext uri="{FF2B5EF4-FFF2-40B4-BE49-F238E27FC236}">
                  <a16:creationId xmlns:a16="http://schemas.microsoft.com/office/drawing/2014/main" id="{E70CA92F-CD68-BECC-7962-0BC8DA6B8C75}"/>
                </a:ext>
              </a:extLst>
            </p:cNvPr>
            <p:cNvSpPr txBox="1"/>
            <p:nvPr/>
          </p:nvSpPr>
          <p:spPr>
            <a:xfrm>
              <a:off x="2650067" y="1109133"/>
              <a:ext cx="1049867" cy="745067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F2A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Account check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1F2A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Active? alerts, PO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1F2A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required, after hours</a:t>
              </a:r>
              <a:endParaRPr lang="en-US" sz="900" dirty="0"/>
            </a:p>
          </p:txBody>
        </p:sp>
        <p:sp>
          <p:nvSpPr>
            <p:cNvPr id="11" name="Shape 4">
              <a:extLst>
                <a:ext uri="{FF2B5EF4-FFF2-40B4-BE49-F238E27FC236}">
                  <a16:creationId xmlns:a16="http://schemas.microsoft.com/office/drawing/2014/main" id="{8674E80E-9042-F6A2-4E20-8EFE936E2059}"/>
                </a:ext>
              </a:extLst>
            </p:cNvPr>
            <p:cNvSpPr/>
            <p:nvPr/>
          </p:nvSpPr>
          <p:spPr>
            <a:xfrm>
              <a:off x="4047067" y="1109133"/>
              <a:ext cx="1041400" cy="745067"/>
            </a:xfrm>
            <a:prstGeom prst="roundRect">
              <a:avLst>
                <a:gd name="adj" fmla="val 12273"/>
              </a:avLst>
            </a:prstGeom>
            <a:solidFill>
              <a:srgbClr val="FFFFFF"/>
            </a:solidFill>
            <a:ln w="19050">
              <a:solidFill>
                <a:srgbClr val="1B3F6E"/>
              </a:solidFill>
              <a:prstDash val="solid"/>
            </a:ln>
          </p:spPr>
        </p:sp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369CAA53-1E67-3B20-4E1D-D6398960FA17}"/>
                </a:ext>
              </a:extLst>
            </p:cNvPr>
            <p:cNvSpPr txBox="1"/>
            <p:nvPr/>
          </p:nvSpPr>
          <p:spPr>
            <a:xfrm>
              <a:off x="4047067" y="1109133"/>
              <a:ext cx="1041400" cy="745067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F2A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Create request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1F2A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confirmation number,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1F2A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source, user, time</a:t>
              </a:r>
              <a:endParaRPr lang="en-US" sz="900" dirty="0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0228AFFF-BBEE-8CFC-261C-B7304FB0F7B8}"/>
                </a:ext>
              </a:extLst>
            </p:cNvPr>
            <p:cNvSpPr txBox="1"/>
            <p:nvPr/>
          </p:nvSpPr>
          <p:spPr>
            <a:xfrm>
              <a:off x="2650067" y="2531533"/>
              <a:ext cx="1049867" cy="677333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F2A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Not active: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1F2A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request created,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1F2A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refer to Sales /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1F2A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customer updates</a:t>
              </a:r>
              <a:endParaRPr lang="en-US" sz="900" dirty="0"/>
            </a:p>
          </p:txBody>
        </p:sp>
        <p:sp>
          <p:nvSpPr>
            <p:cNvPr id="17" name="Shape 22">
              <a:extLst>
                <a:ext uri="{FF2B5EF4-FFF2-40B4-BE49-F238E27FC236}">
                  <a16:creationId xmlns:a16="http://schemas.microsoft.com/office/drawing/2014/main" id="{F4B53914-AE32-22CE-408E-45E58977EEFC}"/>
                </a:ext>
              </a:extLst>
            </p:cNvPr>
            <p:cNvSpPr/>
            <p:nvPr/>
          </p:nvSpPr>
          <p:spPr>
            <a:xfrm>
              <a:off x="2302933" y="1481667"/>
              <a:ext cx="347133" cy="0"/>
            </a:xfrm>
            <a:prstGeom prst="line">
              <a:avLst/>
            </a:prstGeom>
            <a:noFill/>
            <a:ln w="15875">
              <a:solidFill>
                <a:srgbClr val="5F6B78"/>
              </a:solidFill>
              <a:prstDash val="solid"/>
              <a:tailEnd type="triangle"/>
            </a:ln>
          </p:spPr>
        </p:sp>
        <p:sp>
          <p:nvSpPr>
            <p:cNvPr id="19" name="Shape 23">
              <a:extLst>
                <a:ext uri="{FF2B5EF4-FFF2-40B4-BE49-F238E27FC236}">
                  <a16:creationId xmlns:a16="http://schemas.microsoft.com/office/drawing/2014/main" id="{95BCD57B-5236-508B-5A67-3075BC9FBD43}"/>
                </a:ext>
              </a:extLst>
            </p:cNvPr>
            <p:cNvSpPr/>
            <p:nvPr/>
          </p:nvSpPr>
          <p:spPr>
            <a:xfrm>
              <a:off x="3699933" y="1481667"/>
              <a:ext cx="347133" cy="0"/>
            </a:xfrm>
            <a:prstGeom prst="line">
              <a:avLst/>
            </a:prstGeom>
            <a:noFill/>
            <a:ln w="15875">
              <a:solidFill>
                <a:srgbClr val="5F6B78"/>
              </a:solidFill>
              <a:prstDash val="solid"/>
              <a:tailEnd type="triangle"/>
            </a:ln>
          </p:spPr>
        </p:sp>
        <p:sp>
          <p:nvSpPr>
            <p:cNvPr id="21" name="Shape 26">
              <a:extLst>
                <a:ext uri="{FF2B5EF4-FFF2-40B4-BE49-F238E27FC236}">
                  <a16:creationId xmlns:a16="http://schemas.microsoft.com/office/drawing/2014/main" id="{2C2E46DD-927D-218A-FBB9-48724B7A9C4B}"/>
                </a:ext>
              </a:extLst>
            </p:cNvPr>
            <p:cNvSpPr/>
            <p:nvPr/>
          </p:nvSpPr>
          <p:spPr>
            <a:xfrm>
              <a:off x="3175000" y="1854200"/>
              <a:ext cx="0" cy="643467"/>
            </a:xfrm>
            <a:prstGeom prst="line">
              <a:avLst/>
            </a:prstGeom>
            <a:noFill/>
            <a:ln w="15875">
              <a:solidFill>
                <a:srgbClr val="9C3A3A"/>
              </a:solidFill>
              <a:prstDash val="solid"/>
              <a:tailEnd type="triangle"/>
            </a:ln>
          </p:spPr>
        </p:sp>
        <p:sp>
          <p:nvSpPr>
            <p:cNvPr id="23" name="Text 33">
              <a:extLst>
                <a:ext uri="{FF2B5EF4-FFF2-40B4-BE49-F238E27FC236}">
                  <a16:creationId xmlns:a16="http://schemas.microsoft.com/office/drawing/2014/main" id="{4F6E58A2-7F55-8C17-643E-A4E2B697123E}"/>
                </a:ext>
              </a:extLst>
            </p:cNvPr>
            <p:cNvSpPr txBox="1"/>
            <p:nvPr/>
          </p:nvSpPr>
          <p:spPr>
            <a:xfrm>
              <a:off x="3767667" y="1295400"/>
              <a:ext cx="338667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i="1" dirty="0">
                  <a:solidFill>
                    <a:srgbClr val="5F6B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Active</a:t>
              </a:r>
              <a:endParaRPr lang="en-US" sz="750" dirty="0"/>
            </a:p>
          </p:txBody>
        </p:sp>
        <p:sp>
          <p:nvSpPr>
            <p:cNvPr id="25" name="Text 34">
              <a:extLst>
                <a:ext uri="{FF2B5EF4-FFF2-40B4-BE49-F238E27FC236}">
                  <a16:creationId xmlns:a16="http://schemas.microsoft.com/office/drawing/2014/main" id="{AA2C172E-5726-6A86-1762-CA1BB9791303}"/>
                </a:ext>
              </a:extLst>
            </p:cNvPr>
            <p:cNvSpPr txBox="1"/>
            <p:nvPr/>
          </p:nvSpPr>
          <p:spPr>
            <a:xfrm>
              <a:off x="2997200" y="2015067"/>
              <a:ext cx="5080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i="1" dirty="0">
                  <a:solidFill>
                    <a:srgbClr val="9C3A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not Active</a:t>
              </a:r>
              <a:endParaRPr lang="en-US" sz="750" dirty="0"/>
            </a:p>
          </p:txBody>
        </p:sp>
      </p:grpSp>
      <p:sp>
        <p:nvSpPr>
          <p:cNvPr id="28" name="Text 7">
            <a:extLst>
              <a:ext uri="{FF2B5EF4-FFF2-40B4-BE49-F238E27FC236}">
                <a16:creationId xmlns:a16="http://schemas.microsoft.com/office/drawing/2014/main" id="{16C202BF-7B24-81DF-BF43-B682D77290DD}"/>
              </a:ext>
            </a:extLst>
          </p:cNvPr>
          <p:cNvSpPr txBox="1"/>
          <p:nvPr/>
        </p:nvSpPr>
        <p:spPr>
          <a:xfrm>
            <a:off x="5435600" y="1109133"/>
            <a:ext cx="1168400" cy="745067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 and branch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edit</a:t>
            </a:r>
            <a:endParaRPr lang="en-US" sz="9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9F74756-40E8-FDE1-FF74-C0C560C7B703}"/>
              </a:ext>
            </a:extLst>
          </p:cNvPr>
          <p:cNvGrpSpPr/>
          <p:nvPr/>
        </p:nvGrpSpPr>
        <p:grpSpPr>
          <a:xfrm>
            <a:off x="4673600" y="1075447"/>
            <a:ext cx="1168400" cy="761910"/>
            <a:chOff x="5435600" y="1092290"/>
            <a:chExt cx="1168400" cy="761910"/>
          </a:xfrm>
        </p:grpSpPr>
        <p:sp>
          <p:nvSpPr>
            <p:cNvPr id="30" name="Shape 6">
              <a:extLst>
                <a:ext uri="{FF2B5EF4-FFF2-40B4-BE49-F238E27FC236}">
                  <a16:creationId xmlns:a16="http://schemas.microsoft.com/office/drawing/2014/main" id="{ECBD28B1-ECCA-412A-DAE0-C0AAAB4F2AA5}"/>
                </a:ext>
              </a:extLst>
            </p:cNvPr>
            <p:cNvSpPr/>
            <p:nvPr/>
          </p:nvSpPr>
          <p:spPr>
            <a:xfrm>
              <a:off x="5435600" y="1109133"/>
              <a:ext cx="1168400" cy="745067"/>
            </a:xfrm>
            <a:prstGeom prst="roundRect">
              <a:avLst>
                <a:gd name="adj" fmla="val 12273"/>
              </a:avLst>
            </a:prstGeom>
            <a:solidFill>
              <a:srgbClr val="A0661A"/>
            </a:solidFill>
            <a:ln w="19050">
              <a:solidFill>
                <a:srgbClr val="A0661A"/>
              </a:solidFill>
              <a:prstDash val="solid"/>
            </a:ln>
          </p:spPr>
        </p:sp>
        <p:sp>
          <p:nvSpPr>
            <p:cNvPr id="31" name="Text 7">
              <a:extLst>
                <a:ext uri="{FF2B5EF4-FFF2-40B4-BE49-F238E27FC236}">
                  <a16:creationId xmlns:a16="http://schemas.microsoft.com/office/drawing/2014/main" id="{8D14DD09-B665-AA14-14C2-75BA57E96739}"/>
                </a:ext>
              </a:extLst>
            </p:cNvPr>
            <p:cNvSpPr txBox="1"/>
            <p:nvPr/>
          </p:nvSpPr>
          <p:spPr>
            <a:xfrm>
              <a:off x="5435600" y="1092290"/>
              <a:ext cx="1168400" cy="745067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Confirm Intake</a:t>
              </a:r>
              <a:endParaRPr lang="en-US" sz="900" dirty="0"/>
            </a:p>
          </p:txBody>
        </p:sp>
      </p:grpSp>
      <p:sp>
        <p:nvSpPr>
          <p:cNvPr id="33" name="Shape 22">
            <a:extLst>
              <a:ext uri="{FF2B5EF4-FFF2-40B4-BE49-F238E27FC236}">
                <a16:creationId xmlns:a16="http://schemas.microsoft.com/office/drawing/2014/main" id="{ABF4F96E-12B6-9A52-F20E-6AF832C29ABB}"/>
              </a:ext>
            </a:extLst>
          </p:cNvPr>
          <p:cNvSpPr/>
          <p:nvPr/>
        </p:nvSpPr>
        <p:spPr>
          <a:xfrm>
            <a:off x="4296531" y="1468211"/>
            <a:ext cx="347133" cy="0"/>
          </a:xfrm>
          <a:prstGeom prst="line">
            <a:avLst/>
          </a:prstGeom>
          <a:noFill/>
          <a:ln w="15875">
            <a:solidFill>
              <a:srgbClr val="5F6B78"/>
            </a:solidFill>
            <a:prstDash val="solid"/>
            <a:tailEnd type="triangle"/>
          </a:ln>
        </p:spPr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2091119-FCF1-A64C-C4AD-BE601D358F56}"/>
              </a:ext>
            </a:extLst>
          </p:cNvPr>
          <p:cNvGrpSpPr/>
          <p:nvPr/>
        </p:nvGrpSpPr>
        <p:grpSpPr>
          <a:xfrm>
            <a:off x="4673600" y="2258528"/>
            <a:ext cx="1225550" cy="626443"/>
            <a:chOff x="5530850" y="3784690"/>
            <a:chExt cx="1225550" cy="626443"/>
          </a:xfrm>
        </p:grpSpPr>
        <p:sp>
          <p:nvSpPr>
            <p:cNvPr id="39" name="Shape 18">
              <a:extLst>
                <a:ext uri="{FF2B5EF4-FFF2-40B4-BE49-F238E27FC236}">
                  <a16:creationId xmlns:a16="http://schemas.microsoft.com/office/drawing/2014/main" id="{00D7FDCB-BA5B-6CEE-296A-5932E0ACB87D}"/>
                </a:ext>
              </a:extLst>
            </p:cNvPr>
            <p:cNvSpPr/>
            <p:nvPr/>
          </p:nvSpPr>
          <p:spPr>
            <a:xfrm>
              <a:off x="5588000" y="3801533"/>
              <a:ext cx="1168400" cy="6096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9050">
              <a:solidFill>
                <a:srgbClr val="1B3F6E"/>
              </a:solidFill>
              <a:prstDash val="solid"/>
            </a:ln>
          </p:spPr>
        </p:sp>
        <p:sp>
          <p:nvSpPr>
            <p:cNvPr id="35" name="Text 19">
              <a:extLst>
                <a:ext uri="{FF2B5EF4-FFF2-40B4-BE49-F238E27FC236}">
                  <a16:creationId xmlns:a16="http://schemas.microsoft.com/office/drawing/2014/main" id="{D8A57FAF-BE58-2B77-384E-9B80F4669D8A}"/>
                </a:ext>
              </a:extLst>
            </p:cNvPr>
            <p:cNvSpPr txBox="1"/>
            <p:nvPr/>
          </p:nvSpPr>
          <p:spPr>
            <a:xfrm>
              <a:off x="5530850" y="3784690"/>
              <a:ext cx="1168400" cy="609600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F2A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Order and lines created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dirty="0">
                  <a:solidFill>
                    <a:srgbClr val="1F2A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billing start / end stamp</a:t>
              </a:r>
              <a:endParaRPr lang="en-US" sz="900" dirty="0"/>
            </a:p>
          </p:txBody>
        </p:sp>
      </p:grpSp>
      <p:sp>
        <p:nvSpPr>
          <p:cNvPr id="43" name="Shape 22">
            <a:extLst>
              <a:ext uri="{FF2B5EF4-FFF2-40B4-BE49-F238E27FC236}">
                <a16:creationId xmlns:a16="http://schemas.microsoft.com/office/drawing/2014/main" id="{F9604AEE-9225-D878-2941-896F800F9004}"/>
              </a:ext>
            </a:extLst>
          </p:cNvPr>
          <p:cNvSpPr/>
          <p:nvPr/>
        </p:nvSpPr>
        <p:spPr>
          <a:xfrm>
            <a:off x="5257801" y="1854200"/>
            <a:ext cx="0" cy="404328"/>
          </a:xfrm>
          <a:prstGeom prst="line">
            <a:avLst/>
          </a:prstGeom>
          <a:noFill/>
          <a:ln w="15875">
            <a:solidFill>
              <a:srgbClr val="5F6B78"/>
            </a:solidFill>
            <a:prstDash val="solid"/>
            <a:tailEnd type="triangle"/>
          </a:ln>
        </p:spPr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1A65FBF-98B3-2005-D405-3F41E4D86882}"/>
              </a:ext>
            </a:extLst>
          </p:cNvPr>
          <p:cNvGrpSpPr/>
          <p:nvPr/>
        </p:nvGrpSpPr>
        <p:grpSpPr>
          <a:xfrm>
            <a:off x="4722282" y="3195410"/>
            <a:ext cx="1176868" cy="818696"/>
            <a:chOff x="5435600" y="1035504"/>
            <a:chExt cx="1176868" cy="818696"/>
          </a:xfrm>
        </p:grpSpPr>
        <p:sp>
          <p:nvSpPr>
            <p:cNvPr id="45" name="Shape 6">
              <a:extLst>
                <a:ext uri="{FF2B5EF4-FFF2-40B4-BE49-F238E27FC236}">
                  <a16:creationId xmlns:a16="http://schemas.microsoft.com/office/drawing/2014/main" id="{CEEA020B-4AF4-FE15-B4FF-7BA05A0C083C}"/>
                </a:ext>
              </a:extLst>
            </p:cNvPr>
            <p:cNvSpPr/>
            <p:nvPr/>
          </p:nvSpPr>
          <p:spPr>
            <a:xfrm>
              <a:off x="5435600" y="1109133"/>
              <a:ext cx="1168400" cy="745067"/>
            </a:xfrm>
            <a:prstGeom prst="roundRect">
              <a:avLst>
                <a:gd name="adj" fmla="val 12273"/>
              </a:avLst>
            </a:prstGeom>
            <a:solidFill>
              <a:srgbClr val="A0661A"/>
            </a:solidFill>
            <a:ln w="19050">
              <a:solidFill>
                <a:srgbClr val="A0661A"/>
              </a:solidFill>
              <a:prstDash val="solid"/>
            </a:ln>
          </p:spPr>
        </p:sp>
        <p:sp>
          <p:nvSpPr>
            <p:cNvPr id="46" name="Text 7">
              <a:extLst>
                <a:ext uri="{FF2B5EF4-FFF2-40B4-BE49-F238E27FC236}">
                  <a16:creationId xmlns:a16="http://schemas.microsoft.com/office/drawing/2014/main" id="{EA6B6F76-42A4-F5FD-F5C5-191F43FAD0D5}"/>
                </a:ext>
              </a:extLst>
            </p:cNvPr>
            <p:cNvSpPr txBox="1"/>
            <p:nvPr/>
          </p:nvSpPr>
          <p:spPr>
            <a:xfrm>
              <a:off x="5444068" y="1035504"/>
              <a:ext cx="1168400" cy="745067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PENDING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CEC and branch</a:t>
              </a:r>
              <a:endParaRPr lang="en-US" sz="900" dirty="0"/>
            </a:p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can edit</a:t>
              </a:r>
              <a:endParaRPr lang="en-US" sz="900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524BB15-E95C-0B24-54AB-C614BEEC0813}"/>
              </a:ext>
            </a:extLst>
          </p:cNvPr>
          <p:cNvGrpSpPr/>
          <p:nvPr/>
        </p:nvGrpSpPr>
        <p:grpSpPr>
          <a:xfrm>
            <a:off x="4791678" y="4244565"/>
            <a:ext cx="1168400" cy="776861"/>
            <a:chOff x="4791678" y="4261757"/>
            <a:chExt cx="1168400" cy="776861"/>
          </a:xfrm>
        </p:grpSpPr>
        <p:sp>
          <p:nvSpPr>
            <p:cNvPr id="50" name="Shape 14">
              <a:extLst>
                <a:ext uri="{FF2B5EF4-FFF2-40B4-BE49-F238E27FC236}">
                  <a16:creationId xmlns:a16="http://schemas.microsoft.com/office/drawing/2014/main" id="{EB1791D0-996F-D12C-BF4D-22904B09DF75}"/>
                </a:ext>
              </a:extLst>
            </p:cNvPr>
            <p:cNvSpPr/>
            <p:nvPr/>
          </p:nvSpPr>
          <p:spPr>
            <a:xfrm>
              <a:off x="4791678" y="4293551"/>
              <a:ext cx="1168400" cy="745067"/>
            </a:xfrm>
            <a:prstGeom prst="roundRect">
              <a:avLst>
                <a:gd name="adj" fmla="val 12273"/>
              </a:avLst>
            </a:prstGeom>
            <a:solidFill>
              <a:srgbClr val="FFFFFF"/>
            </a:solidFill>
            <a:ln w="19050">
              <a:solidFill>
                <a:srgbClr val="1B3F6E"/>
              </a:solidFill>
              <a:prstDash val="solid"/>
            </a:ln>
          </p:spPr>
        </p:sp>
        <p:sp>
          <p:nvSpPr>
            <p:cNvPr id="47" name="Text 15">
              <a:extLst>
                <a:ext uri="{FF2B5EF4-FFF2-40B4-BE49-F238E27FC236}">
                  <a16:creationId xmlns:a16="http://schemas.microsoft.com/office/drawing/2014/main" id="{A318028F-53ED-9E92-584E-30E7B4F102FE}"/>
                </a:ext>
              </a:extLst>
            </p:cNvPr>
            <p:cNvSpPr txBox="1"/>
            <p:nvPr/>
          </p:nvSpPr>
          <p:spPr>
            <a:xfrm>
              <a:off x="4791678" y="4261757"/>
              <a:ext cx="1168400" cy="745067"/>
            </a:xfrm>
            <a:prstGeom prst="rect">
              <a:avLst/>
            </a:prstGeom>
            <a:noFill/>
            <a:ln/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1F2A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Branch assigns CSR</a:t>
              </a:r>
              <a:endParaRPr lang="en-US" sz="900" dirty="0"/>
            </a:p>
          </p:txBody>
        </p:sp>
      </p:grpSp>
      <p:sp>
        <p:nvSpPr>
          <p:cNvPr id="48" name="Shape 27">
            <a:extLst>
              <a:ext uri="{FF2B5EF4-FFF2-40B4-BE49-F238E27FC236}">
                <a16:creationId xmlns:a16="http://schemas.microsoft.com/office/drawing/2014/main" id="{AC993E72-1A8B-D967-B72D-A0DDEC0C61BB}"/>
              </a:ext>
            </a:extLst>
          </p:cNvPr>
          <p:cNvSpPr/>
          <p:nvPr/>
        </p:nvSpPr>
        <p:spPr>
          <a:xfrm>
            <a:off x="5306482" y="4014106"/>
            <a:ext cx="0" cy="247651"/>
          </a:xfrm>
          <a:prstGeom prst="line">
            <a:avLst/>
          </a:prstGeom>
          <a:noFill/>
          <a:ln w="15875">
            <a:solidFill>
              <a:srgbClr val="5F6B78"/>
            </a:solidFill>
            <a:prstDash val="solid"/>
            <a:tailEnd type="triangle"/>
          </a:ln>
        </p:spPr>
      </p:sp>
      <p:sp>
        <p:nvSpPr>
          <p:cNvPr id="53" name="Shape 22">
            <a:extLst>
              <a:ext uri="{FF2B5EF4-FFF2-40B4-BE49-F238E27FC236}">
                <a16:creationId xmlns:a16="http://schemas.microsoft.com/office/drawing/2014/main" id="{70A81AB0-5D01-3ECF-B129-56939981F481}"/>
              </a:ext>
            </a:extLst>
          </p:cNvPr>
          <p:cNvSpPr/>
          <p:nvPr/>
        </p:nvSpPr>
        <p:spPr>
          <a:xfrm>
            <a:off x="5257801" y="2884971"/>
            <a:ext cx="0" cy="404328"/>
          </a:xfrm>
          <a:prstGeom prst="line">
            <a:avLst/>
          </a:prstGeom>
          <a:noFill/>
          <a:ln w="15875">
            <a:solidFill>
              <a:srgbClr val="5F6B78"/>
            </a:solidFill>
            <a:prstDash val="solid"/>
            <a:tailEnd type="triangle"/>
          </a:ln>
        </p:spPr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CE0A40E1-F190-16AE-8AF0-E8BC47157F8B}"/>
              </a:ext>
            </a:extLst>
          </p:cNvPr>
          <p:cNvSpPr txBox="1"/>
          <p:nvPr/>
        </p:nvSpPr>
        <p:spPr>
          <a:xfrm>
            <a:off x="6883400" y="2599267"/>
            <a:ext cx="1168400" cy="745067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scan 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check-in</a:t>
            </a:r>
            <a:endParaRPr lang="en-US" sz="900" dirty="0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DF584F21-FA6E-6E22-F0C2-8250B5BF76CC}"/>
              </a:ext>
            </a:extLst>
          </p:cNvPr>
          <p:cNvSpPr/>
          <p:nvPr/>
        </p:nvSpPr>
        <p:spPr>
          <a:xfrm>
            <a:off x="6501945" y="4255904"/>
            <a:ext cx="1168400" cy="745067"/>
          </a:xfrm>
          <a:prstGeom prst="roundRect">
            <a:avLst>
              <a:gd name="adj" fmla="val 12273"/>
            </a:avLst>
          </a:prstGeom>
          <a:solidFill>
            <a:srgbClr val="2B7A4B"/>
          </a:solidFill>
          <a:ln w="19050">
            <a:solidFill>
              <a:srgbClr val="2B7A4B"/>
            </a:solidFill>
            <a:prstDash val="solid"/>
          </a:ln>
        </p:spPr>
      </p:sp>
      <p:sp>
        <p:nvSpPr>
          <p:cNvPr id="59" name="Text 17">
            <a:extLst>
              <a:ext uri="{FF2B5EF4-FFF2-40B4-BE49-F238E27FC236}">
                <a16:creationId xmlns:a16="http://schemas.microsoft.com/office/drawing/2014/main" id="{13FACCEC-5286-2E99-36DF-EDA9A66E16FA}"/>
              </a:ext>
            </a:extLst>
          </p:cNvPr>
          <p:cNvSpPr txBox="1"/>
          <p:nvPr/>
        </p:nvSpPr>
        <p:spPr>
          <a:xfrm>
            <a:off x="6544278" y="4240980"/>
            <a:ext cx="1168400" cy="745067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/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scan 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check-in</a:t>
            </a:r>
            <a:endParaRPr lang="en-US" sz="900" dirty="0"/>
          </a:p>
        </p:txBody>
      </p:sp>
      <p:sp>
        <p:nvSpPr>
          <p:cNvPr id="61" name="Shape 22">
            <a:extLst>
              <a:ext uri="{FF2B5EF4-FFF2-40B4-BE49-F238E27FC236}">
                <a16:creationId xmlns:a16="http://schemas.microsoft.com/office/drawing/2014/main" id="{EAA13E2E-F5C0-56FE-D439-E9F79789AC73}"/>
              </a:ext>
            </a:extLst>
          </p:cNvPr>
          <p:cNvSpPr/>
          <p:nvPr/>
        </p:nvSpPr>
        <p:spPr>
          <a:xfrm>
            <a:off x="6019800" y="4648892"/>
            <a:ext cx="450396" cy="0"/>
          </a:xfrm>
          <a:prstGeom prst="line">
            <a:avLst/>
          </a:prstGeom>
          <a:noFill/>
          <a:ln w="15875">
            <a:solidFill>
              <a:srgbClr val="5F6B78"/>
            </a:solidFill>
            <a:prstDash val="solid"/>
            <a:tailEnd type="triangle"/>
          </a:ln>
        </p:spPr>
      </p:sp>
      <p:sp>
        <p:nvSpPr>
          <p:cNvPr id="63" name="Text 38">
            <a:extLst>
              <a:ext uri="{FF2B5EF4-FFF2-40B4-BE49-F238E27FC236}">
                <a16:creationId xmlns:a16="http://schemas.microsoft.com/office/drawing/2014/main" id="{0FDF3A27-1D2C-DEF5-3CC5-A9B40279EF8C}"/>
              </a:ext>
            </a:extLst>
          </p:cNvPr>
          <p:cNvSpPr txBox="1"/>
          <p:nvPr/>
        </p:nvSpPr>
        <p:spPr>
          <a:xfrm>
            <a:off x="413580" y="3742267"/>
            <a:ext cx="406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Pickups are Active at once and complete only when the branch scans the equipment back in.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end for a pickup is stamped when the pickup is logged; billing start for a delivery when it is completed.</a:t>
            </a:r>
            <a:endParaRPr lang="en-US" sz="800" dirty="0"/>
          </a:p>
        </p:txBody>
      </p:sp>
      <p:sp>
        <p:nvSpPr>
          <p:cNvPr id="65" name="Text 37">
            <a:extLst>
              <a:ext uri="{FF2B5EF4-FFF2-40B4-BE49-F238E27FC236}">
                <a16:creationId xmlns:a16="http://schemas.microsoft.com/office/drawing/2014/main" id="{6DDB576F-302B-7C71-1314-F7F524502132}"/>
              </a:ext>
            </a:extLst>
          </p:cNvPr>
          <p:cNvSpPr txBox="1"/>
          <p:nvPr/>
        </p:nvSpPr>
        <p:spPr>
          <a:xfrm>
            <a:off x="7755011" y="4488540"/>
            <a:ext cx="14393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F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done / pickup scanned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86016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290</Words>
  <Application>Microsoft Office PowerPoint</Application>
  <PresentationFormat>On-screen Show (16:9)</PresentationFormat>
  <Paragraphs>77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Intake request lifecycle</dc:title>
  <dc:subject>PptxGenJS Presentation</dc:subject>
  <dc:creator>PptxGenJS</dc:creator>
  <cp:lastModifiedBy>Srinivas</cp:lastModifiedBy>
  <cp:revision>2</cp:revision>
  <dcterms:created xsi:type="dcterms:W3CDTF">2026-10-28T06:24:48Z</dcterms:created>
  <dcterms:modified xsi:type="dcterms:W3CDTF">2026-10-28T16:08:00Z</dcterms:modified>
</cp:coreProperties>
</file>