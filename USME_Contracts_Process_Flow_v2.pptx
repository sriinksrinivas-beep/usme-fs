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548640" y="1371600"/>
            <a:ext cx="7863840" cy="7315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Salesforce Contracts</a:t>
            </a:r>
            <a:endParaRPr lang="en-US" sz="3600" dirty="0"/>
          </a:p>
        </p:txBody>
      </p:sp>
      <p:sp>
        <p:nvSpPr>
          <p:cNvPr id="3" name="Text 1"/>
          <p:cNvSpPr txBox="1"/>
          <p:nvPr/>
        </p:nvSpPr>
        <p:spPr>
          <a:xfrm>
            <a:off x="548640" y="2148840"/>
            <a:ext cx="7315200" cy="64008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Process flow and design for USME contracts and pricing agreements, built on the standard Salesforce Contract module</a:t>
            </a:r>
            <a:endParaRPr lang="en-US" sz="1500" dirty="0"/>
          </a:p>
        </p:txBody>
      </p:sp>
      <p:sp>
        <p:nvSpPr>
          <p:cNvPr id="4" name="Text 2"/>
          <p:cNvSpPr txBox="1"/>
          <p:nvPr/>
        </p:nvSpPr>
        <p:spPr>
          <a:xfrm>
            <a:off x="548640" y="3108960"/>
            <a:ext cx="7315200" cy="274320"/>
          </a:xfrm>
          <a:prstGeom prst="rect">
            <a:avLst/>
          </a:prstGeom>
          <a:noFill/>
          <a:ln/>
        </p:spPr>
        <p:txBody>
          <a:bodyPr wrap="square" lIns="0" tIns="0" rIns="0" bIns="0" rtlCol="0" anchor="ctr"/>
          <a:lstStyle/>
          <a:p>
            <a:pPr indent="0" marL="0">
              <a:buNone/>
            </a:pPr>
            <a:r>
              <a:rPr lang="en-US" sz="1100" dirty="0">
                <a:solidFill>
                  <a:srgbClr val="8FA6C9"/>
                </a:solidFill>
                <a:latin typeface="Calibri" pitchFamily="34" charset="0"/>
                <a:ea typeface="Calibri" pitchFamily="34" charset="-122"/>
                <a:cs typeface="Calibri" pitchFamily="34" charset="-120"/>
              </a:rPr>
              <a:t>Version 2  |  Reviewed and updated from the demo walkthrough deck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Review of the current deck</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What needed fixing, and what this version changes.</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65760" y="987552"/>
            <a:ext cx="3840480" cy="457200"/>
          </a:xfrm>
          <a:prstGeom prst="roundRect">
            <a:avLst>
              <a:gd name="adj" fmla="val 14000"/>
            </a:avLst>
          </a:prstGeom>
          <a:solidFill>
            <a:srgbClr val="F9E1E3"/>
          </a:solidFill>
          <a:ln w="12700">
            <a:solidFill>
              <a:srgbClr val="F9E1E3"/>
            </a:solidFill>
            <a:prstDash val="solid"/>
          </a:ln>
        </p:spPr>
      </p:sp>
      <p:sp>
        <p:nvSpPr>
          <p:cNvPr id="7" name="Text 5"/>
          <p:cNvSpPr txBox="1"/>
          <p:nvPr/>
        </p:nvSpPr>
        <p:spPr>
          <a:xfrm>
            <a:off x="457200" y="987552"/>
            <a:ext cx="365760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Slide 5 "Define Contract Types" was empty</a:t>
            </a:r>
            <a:endParaRPr lang="en-US" sz="950" dirty="0"/>
          </a:p>
        </p:txBody>
      </p:sp>
      <p:sp>
        <p:nvSpPr>
          <p:cNvPr id="8" name="Shape 6"/>
          <p:cNvSpPr/>
          <p:nvPr/>
        </p:nvSpPr>
        <p:spPr>
          <a:xfrm>
            <a:off x="4251960" y="1216152"/>
            <a:ext cx="365760" cy="0"/>
          </a:xfrm>
          <a:prstGeom prst="line">
            <a:avLst/>
          </a:prstGeom>
          <a:noFill/>
          <a:ln w="19050">
            <a:solidFill>
              <a:srgbClr val="5B6B7B"/>
            </a:solidFill>
            <a:prstDash val="solid"/>
            <a:tailEnd type="triangle"/>
          </a:ln>
        </p:spPr>
      </p:sp>
      <p:sp>
        <p:nvSpPr>
          <p:cNvPr id="9" name="Shape 7"/>
          <p:cNvSpPr/>
          <p:nvPr/>
        </p:nvSpPr>
        <p:spPr>
          <a:xfrm>
            <a:off x="4663440" y="987552"/>
            <a:ext cx="4114800" cy="457200"/>
          </a:xfrm>
          <a:prstGeom prst="roundRect">
            <a:avLst>
              <a:gd name="adj" fmla="val 14000"/>
            </a:avLst>
          </a:prstGeom>
          <a:solidFill>
            <a:srgbClr val="DFF1E6"/>
          </a:solidFill>
          <a:ln w="12700">
            <a:solidFill>
              <a:srgbClr val="DFF1E6"/>
            </a:solidFill>
            <a:prstDash val="solid"/>
          </a:ln>
        </p:spPr>
      </p:sp>
      <p:sp>
        <p:nvSpPr>
          <p:cNvPr id="10" name="Text 8"/>
          <p:cNvSpPr txBox="1"/>
          <p:nvPr/>
        </p:nvSpPr>
        <p:spPr>
          <a:xfrm>
            <a:off x="4754880" y="987552"/>
            <a:ext cx="393192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Now a full comparison of GPO Contract and Customer Contract (slide 5).</a:t>
            </a:r>
            <a:endParaRPr lang="en-US" sz="950" dirty="0"/>
          </a:p>
        </p:txBody>
      </p:sp>
      <p:sp>
        <p:nvSpPr>
          <p:cNvPr id="11" name="Shape 9"/>
          <p:cNvSpPr/>
          <p:nvPr/>
        </p:nvSpPr>
        <p:spPr>
          <a:xfrm>
            <a:off x="365760" y="1517904"/>
            <a:ext cx="3840480" cy="457200"/>
          </a:xfrm>
          <a:prstGeom prst="roundRect">
            <a:avLst>
              <a:gd name="adj" fmla="val 14000"/>
            </a:avLst>
          </a:prstGeom>
          <a:solidFill>
            <a:srgbClr val="F9E1E3"/>
          </a:solidFill>
          <a:ln w="12700">
            <a:solidFill>
              <a:srgbClr val="F9E1E3"/>
            </a:solidFill>
            <a:prstDash val="solid"/>
          </a:ln>
        </p:spPr>
      </p:sp>
      <p:sp>
        <p:nvSpPr>
          <p:cNvPr id="12" name="Text 10"/>
          <p:cNvSpPr txBox="1"/>
          <p:nvPr/>
        </p:nvSpPr>
        <p:spPr>
          <a:xfrm>
            <a:off x="457200" y="1517904"/>
            <a:ext cx="365760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GPO and Customer slides repeated the same text</a:t>
            </a:r>
            <a:endParaRPr lang="en-US" sz="950" dirty="0"/>
          </a:p>
        </p:txBody>
      </p:sp>
      <p:sp>
        <p:nvSpPr>
          <p:cNvPr id="13" name="Shape 11"/>
          <p:cNvSpPr/>
          <p:nvPr/>
        </p:nvSpPr>
        <p:spPr>
          <a:xfrm>
            <a:off x="4251960" y="1746504"/>
            <a:ext cx="365760" cy="0"/>
          </a:xfrm>
          <a:prstGeom prst="line">
            <a:avLst/>
          </a:prstGeom>
          <a:noFill/>
          <a:ln w="19050">
            <a:solidFill>
              <a:srgbClr val="5B6B7B"/>
            </a:solidFill>
            <a:prstDash val="solid"/>
            <a:tailEnd type="triangle"/>
          </a:ln>
        </p:spPr>
      </p:sp>
      <p:sp>
        <p:nvSpPr>
          <p:cNvPr id="14" name="Shape 12"/>
          <p:cNvSpPr/>
          <p:nvPr/>
        </p:nvSpPr>
        <p:spPr>
          <a:xfrm>
            <a:off x="4663440" y="1517904"/>
            <a:ext cx="4114800" cy="457200"/>
          </a:xfrm>
          <a:prstGeom prst="roundRect">
            <a:avLst>
              <a:gd name="adj" fmla="val 14000"/>
            </a:avLst>
          </a:prstGeom>
          <a:solidFill>
            <a:srgbClr val="DFF1E6"/>
          </a:solidFill>
          <a:ln w="12700">
            <a:solidFill>
              <a:srgbClr val="DFF1E6"/>
            </a:solidFill>
            <a:prstDash val="solid"/>
          </a:ln>
        </p:spPr>
      </p:sp>
      <p:sp>
        <p:nvSpPr>
          <p:cNvPr id="15" name="Text 13"/>
          <p:cNvSpPr txBox="1"/>
          <p:nvPr/>
        </p:nvSpPr>
        <p:spPr>
          <a:xfrm>
            <a:off x="4754880" y="1517904"/>
            <a:ext cx="393192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Each type has its own role, owner and pricing source, and the data model shows both.</a:t>
            </a:r>
            <a:endParaRPr lang="en-US" sz="950" dirty="0"/>
          </a:p>
        </p:txBody>
      </p:sp>
      <p:sp>
        <p:nvSpPr>
          <p:cNvPr id="16" name="Shape 14"/>
          <p:cNvSpPr/>
          <p:nvPr/>
        </p:nvSpPr>
        <p:spPr>
          <a:xfrm>
            <a:off x="365760" y="2048256"/>
            <a:ext cx="3840480" cy="457200"/>
          </a:xfrm>
          <a:prstGeom prst="roundRect">
            <a:avLst>
              <a:gd name="adj" fmla="val 14000"/>
            </a:avLst>
          </a:prstGeom>
          <a:solidFill>
            <a:srgbClr val="F9E1E3"/>
          </a:solidFill>
          <a:ln w="12700">
            <a:solidFill>
              <a:srgbClr val="F9E1E3"/>
            </a:solidFill>
            <a:prstDash val="solid"/>
          </a:ln>
        </p:spPr>
      </p:sp>
      <p:sp>
        <p:nvSpPr>
          <p:cNvPr id="17" name="Text 15"/>
          <p:cNvSpPr txBox="1"/>
          <p:nvPr/>
        </p:nvSpPr>
        <p:spPr>
          <a:xfrm>
            <a:off x="457200" y="2048256"/>
            <a:ext cx="365760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"Trade Agreement dates within Quote dates" contradicted "within parent Contract dates"</a:t>
            </a:r>
            <a:endParaRPr lang="en-US" sz="950" dirty="0"/>
          </a:p>
        </p:txBody>
      </p:sp>
      <p:sp>
        <p:nvSpPr>
          <p:cNvPr id="18" name="Shape 16"/>
          <p:cNvSpPr/>
          <p:nvPr/>
        </p:nvSpPr>
        <p:spPr>
          <a:xfrm>
            <a:off x="4251960" y="2276856"/>
            <a:ext cx="365760" cy="0"/>
          </a:xfrm>
          <a:prstGeom prst="line">
            <a:avLst/>
          </a:prstGeom>
          <a:noFill/>
          <a:ln w="19050">
            <a:solidFill>
              <a:srgbClr val="5B6B7B"/>
            </a:solidFill>
            <a:prstDash val="solid"/>
            <a:tailEnd type="triangle"/>
          </a:ln>
        </p:spPr>
      </p:sp>
      <p:sp>
        <p:nvSpPr>
          <p:cNvPr id="19" name="Shape 17"/>
          <p:cNvSpPr/>
          <p:nvPr/>
        </p:nvSpPr>
        <p:spPr>
          <a:xfrm>
            <a:off x="4663440" y="2048256"/>
            <a:ext cx="4114800" cy="457200"/>
          </a:xfrm>
          <a:prstGeom prst="roundRect">
            <a:avLst>
              <a:gd name="adj" fmla="val 14000"/>
            </a:avLst>
          </a:prstGeom>
          <a:solidFill>
            <a:srgbClr val="DFF1E6"/>
          </a:solidFill>
          <a:ln w="12700">
            <a:solidFill>
              <a:srgbClr val="DFF1E6"/>
            </a:solidFill>
            <a:prstDash val="solid"/>
          </a:ln>
        </p:spPr>
      </p:sp>
      <p:sp>
        <p:nvSpPr>
          <p:cNvPr id="20" name="Text 18"/>
          <p:cNvSpPr txBox="1"/>
          <p:nvPr/>
        </p:nvSpPr>
        <p:spPr>
          <a:xfrm>
            <a:off x="4754880" y="2048256"/>
            <a:ext cx="393192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One rule set: agreement lines sit inside the contract; the price date sits inside the line.</a:t>
            </a:r>
            <a:endParaRPr lang="en-US" sz="950" dirty="0"/>
          </a:p>
        </p:txBody>
      </p:sp>
      <p:sp>
        <p:nvSpPr>
          <p:cNvPr id="21" name="Shape 19"/>
          <p:cNvSpPr/>
          <p:nvPr/>
        </p:nvSpPr>
        <p:spPr>
          <a:xfrm>
            <a:off x="365760" y="2578608"/>
            <a:ext cx="3840480" cy="457200"/>
          </a:xfrm>
          <a:prstGeom prst="roundRect">
            <a:avLst>
              <a:gd name="adj" fmla="val 14000"/>
            </a:avLst>
          </a:prstGeom>
          <a:solidFill>
            <a:srgbClr val="F9E1E3"/>
          </a:solidFill>
          <a:ln w="12700">
            <a:solidFill>
              <a:srgbClr val="F9E1E3"/>
            </a:solidFill>
            <a:prstDash val="solid"/>
          </a:ln>
        </p:spPr>
      </p:sp>
      <p:sp>
        <p:nvSpPr>
          <p:cNvPr id="22" name="Text 20"/>
          <p:cNvSpPr txBox="1"/>
          <p:nvPr/>
        </p:nvSpPr>
        <p:spPr>
          <a:xfrm>
            <a:off x="457200" y="2578608"/>
            <a:ext cx="365760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Mixed $ and Rs, and 100 vs 900 in examples</a:t>
            </a:r>
            <a:endParaRPr lang="en-US" sz="950" dirty="0"/>
          </a:p>
        </p:txBody>
      </p:sp>
      <p:sp>
        <p:nvSpPr>
          <p:cNvPr id="23" name="Shape 21"/>
          <p:cNvSpPr/>
          <p:nvPr/>
        </p:nvSpPr>
        <p:spPr>
          <a:xfrm>
            <a:off x="4251960" y="2807208"/>
            <a:ext cx="365760" cy="0"/>
          </a:xfrm>
          <a:prstGeom prst="line">
            <a:avLst/>
          </a:prstGeom>
          <a:noFill/>
          <a:ln w="19050">
            <a:solidFill>
              <a:srgbClr val="5B6B7B"/>
            </a:solidFill>
            <a:prstDash val="solid"/>
            <a:tailEnd type="triangle"/>
          </a:ln>
        </p:spPr>
      </p:sp>
      <p:sp>
        <p:nvSpPr>
          <p:cNvPr id="24" name="Shape 22"/>
          <p:cNvSpPr/>
          <p:nvPr/>
        </p:nvSpPr>
        <p:spPr>
          <a:xfrm>
            <a:off x="4663440" y="2578608"/>
            <a:ext cx="4114800" cy="457200"/>
          </a:xfrm>
          <a:prstGeom prst="roundRect">
            <a:avLst>
              <a:gd name="adj" fmla="val 14000"/>
            </a:avLst>
          </a:prstGeom>
          <a:solidFill>
            <a:srgbClr val="DFF1E6"/>
          </a:solidFill>
          <a:ln w="12700">
            <a:solidFill>
              <a:srgbClr val="DFF1E6"/>
            </a:solidFill>
            <a:prstDash val="solid"/>
          </a:ln>
        </p:spPr>
      </p:sp>
      <p:sp>
        <p:nvSpPr>
          <p:cNvPr id="25" name="Text 23"/>
          <p:cNvSpPr txBox="1"/>
          <p:nvPr/>
        </p:nvSpPr>
        <p:spPr>
          <a:xfrm>
            <a:off x="4754880" y="2578608"/>
            <a:ext cx="393192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All examples are USD and use one example (contract $100, quoted $90).</a:t>
            </a:r>
            <a:endParaRPr lang="en-US" sz="950" dirty="0"/>
          </a:p>
        </p:txBody>
      </p:sp>
      <p:sp>
        <p:nvSpPr>
          <p:cNvPr id="26" name="Shape 24"/>
          <p:cNvSpPr/>
          <p:nvPr/>
        </p:nvSpPr>
        <p:spPr>
          <a:xfrm>
            <a:off x="365760" y="3108960"/>
            <a:ext cx="3840480" cy="457200"/>
          </a:xfrm>
          <a:prstGeom prst="roundRect">
            <a:avLst>
              <a:gd name="adj" fmla="val 14000"/>
            </a:avLst>
          </a:prstGeom>
          <a:solidFill>
            <a:srgbClr val="F9E1E3"/>
          </a:solidFill>
          <a:ln w="12700">
            <a:solidFill>
              <a:srgbClr val="F9E1E3"/>
            </a:solidFill>
            <a:prstDash val="solid"/>
          </a:ln>
        </p:spPr>
      </p:sp>
      <p:sp>
        <p:nvSpPr>
          <p:cNvPr id="27" name="Text 25"/>
          <p:cNvSpPr txBox="1"/>
          <p:nvPr/>
        </p:nvSpPr>
        <p:spPr>
          <a:xfrm>
            <a:off x="457200" y="3108960"/>
            <a:ext cx="365760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A customer in both a GPO and a direct contract had no rule</a:t>
            </a:r>
            <a:endParaRPr lang="en-US" sz="950" dirty="0"/>
          </a:p>
        </p:txBody>
      </p:sp>
      <p:sp>
        <p:nvSpPr>
          <p:cNvPr id="28" name="Shape 26"/>
          <p:cNvSpPr/>
          <p:nvPr/>
        </p:nvSpPr>
        <p:spPr>
          <a:xfrm>
            <a:off x="4251960" y="3337560"/>
            <a:ext cx="365760" cy="0"/>
          </a:xfrm>
          <a:prstGeom prst="line">
            <a:avLst/>
          </a:prstGeom>
          <a:noFill/>
          <a:ln w="19050">
            <a:solidFill>
              <a:srgbClr val="5B6B7B"/>
            </a:solidFill>
            <a:prstDash val="solid"/>
            <a:tailEnd type="triangle"/>
          </a:ln>
        </p:spPr>
      </p:sp>
      <p:sp>
        <p:nvSpPr>
          <p:cNvPr id="29" name="Shape 27"/>
          <p:cNvSpPr/>
          <p:nvPr/>
        </p:nvSpPr>
        <p:spPr>
          <a:xfrm>
            <a:off x="4663440" y="3108960"/>
            <a:ext cx="4114800" cy="457200"/>
          </a:xfrm>
          <a:prstGeom prst="roundRect">
            <a:avLst>
              <a:gd name="adj" fmla="val 14000"/>
            </a:avLst>
          </a:prstGeom>
          <a:solidFill>
            <a:srgbClr val="DFF1E6"/>
          </a:solidFill>
          <a:ln w="12700">
            <a:solidFill>
              <a:srgbClr val="DFF1E6"/>
            </a:solidFill>
            <a:prstDash val="solid"/>
          </a:ln>
        </p:spPr>
      </p:sp>
      <p:sp>
        <p:nvSpPr>
          <p:cNvPr id="30" name="Text 28"/>
          <p:cNvSpPr txBox="1"/>
          <p:nvPr/>
        </p:nvSpPr>
        <p:spPr>
          <a:xfrm>
            <a:off x="4754880" y="3108960"/>
            <a:ext cx="393192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Price resolution order is defined and flagged for USME to confirm.</a:t>
            </a:r>
            <a:endParaRPr lang="en-US" sz="950" dirty="0"/>
          </a:p>
        </p:txBody>
      </p:sp>
      <p:sp>
        <p:nvSpPr>
          <p:cNvPr id="31" name="Shape 29"/>
          <p:cNvSpPr/>
          <p:nvPr/>
        </p:nvSpPr>
        <p:spPr>
          <a:xfrm>
            <a:off x="365760" y="3639312"/>
            <a:ext cx="3840480" cy="457200"/>
          </a:xfrm>
          <a:prstGeom prst="roundRect">
            <a:avLst>
              <a:gd name="adj" fmla="val 14000"/>
            </a:avLst>
          </a:prstGeom>
          <a:solidFill>
            <a:srgbClr val="F9E1E3"/>
          </a:solidFill>
          <a:ln w="12700">
            <a:solidFill>
              <a:srgbClr val="F9E1E3"/>
            </a:solidFill>
            <a:prstDash val="solid"/>
          </a:ln>
        </p:spPr>
      </p:sp>
      <p:sp>
        <p:nvSpPr>
          <p:cNvPr id="32" name="Text 30"/>
          <p:cNvSpPr txBox="1"/>
          <p:nvPr/>
        </p:nvSpPr>
        <p:spPr>
          <a:xfrm>
            <a:off x="457200" y="3639312"/>
            <a:ext cx="365760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No way to link member hospitals to a GPO</a:t>
            </a:r>
            <a:endParaRPr lang="en-US" sz="950" dirty="0"/>
          </a:p>
        </p:txBody>
      </p:sp>
      <p:sp>
        <p:nvSpPr>
          <p:cNvPr id="33" name="Shape 31"/>
          <p:cNvSpPr/>
          <p:nvPr/>
        </p:nvSpPr>
        <p:spPr>
          <a:xfrm>
            <a:off x="4251960" y="3867912"/>
            <a:ext cx="365760" cy="0"/>
          </a:xfrm>
          <a:prstGeom prst="line">
            <a:avLst/>
          </a:prstGeom>
          <a:noFill/>
          <a:ln w="19050">
            <a:solidFill>
              <a:srgbClr val="5B6B7B"/>
            </a:solidFill>
            <a:prstDash val="solid"/>
            <a:tailEnd type="triangle"/>
          </a:ln>
        </p:spPr>
      </p:sp>
      <p:sp>
        <p:nvSpPr>
          <p:cNvPr id="34" name="Shape 32"/>
          <p:cNvSpPr/>
          <p:nvPr/>
        </p:nvSpPr>
        <p:spPr>
          <a:xfrm>
            <a:off x="4663440" y="3639312"/>
            <a:ext cx="4114800" cy="457200"/>
          </a:xfrm>
          <a:prstGeom prst="roundRect">
            <a:avLst>
              <a:gd name="adj" fmla="val 14000"/>
            </a:avLst>
          </a:prstGeom>
          <a:solidFill>
            <a:srgbClr val="DFF1E6"/>
          </a:solidFill>
          <a:ln w="12700">
            <a:solidFill>
              <a:srgbClr val="DFF1E6"/>
            </a:solidFill>
            <a:prstDash val="solid"/>
          </a:ln>
        </p:spPr>
      </p:sp>
      <p:sp>
        <p:nvSpPr>
          <p:cNvPr id="35" name="Text 33"/>
          <p:cNvSpPr txBox="1"/>
          <p:nvPr/>
        </p:nvSpPr>
        <p:spPr>
          <a:xfrm>
            <a:off x="4754880" y="3639312"/>
            <a:ext cx="393192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GPO Membership and GPO Tier objects added (standard Contract has one Account only).</a:t>
            </a:r>
            <a:endParaRPr lang="en-US" sz="950" dirty="0"/>
          </a:p>
        </p:txBody>
      </p:sp>
      <p:sp>
        <p:nvSpPr>
          <p:cNvPr id="36" name="Shape 34"/>
          <p:cNvSpPr/>
          <p:nvPr/>
        </p:nvSpPr>
        <p:spPr>
          <a:xfrm>
            <a:off x="365760" y="4169664"/>
            <a:ext cx="3840480" cy="457200"/>
          </a:xfrm>
          <a:prstGeom prst="roundRect">
            <a:avLst>
              <a:gd name="adj" fmla="val 14000"/>
            </a:avLst>
          </a:prstGeom>
          <a:solidFill>
            <a:srgbClr val="F9E1E3"/>
          </a:solidFill>
          <a:ln w="12700">
            <a:solidFill>
              <a:srgbClr val="F9E1E3"/>
            </a:solidFill>
            <a:prstDash val="solid"/>
          </a:ln>
        </p:spPr>
      </p:sp>
      <p:sp>
        <p:nvSpPr>
          <p:cNvPr id="37" name="Text 35"/>
          <p:cNvSpPr txBox="1"/>
          <p:nvPr/>
        </p:nvSpPr>
        <p:spPr>
          <a:xfrm>
            <a:off x="457200" y="4169664"/>
            <a:ext cx="365760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"No price pulled, create a new contract" was a dead end; amend and renew were missing</a:t>
            </a:r>
            <a:endParaRPr lang="en-US" sz="950" dirty="0"/>
          </a:p>
        </p:txBody>
      </p:sp>
      <p:sp>
        <p:nvSpPr>
          <p:cNvPr id="38" name="Shape 36"/>
          <p:cNvSpPr/>
          <p:nvPr/>
        </p:nvSpPr>
        <p:spPr>
          <a:xfrm>
            <a:off x="4251960" y="4398264"/>
            <a:ext cx="365760" cy="0"/>
          </a:xfrm>
          <a:prstGeom prst="line">
            <a:avLst/>
          </a:prstGeom>
          <a:noFill/>
          <a:ln w="19050">
            <a:solidFill>
              <a:srgbClr val="5B6B7B"/>
            </a:solidFill>
            <a:prstDash val="solid"/>
            <a:tailEnd type="triangle"/>
          </a:ln>
        </p:spPr>
      </p:sp>
      <p:sp>
        <p:nvSpPr>
          <p:cNvPr id="39" name="Shape 37"/>
          <p:cNvSpPr/>
          <p:nvPr/>
        </p:nvSpPr>
        <p:spPr>
          <a:xfrm>
            <a:off x="4663440" y="4169664"/>
            <a:ext cx="4114800" cy="457200"/>
          </a:xfrm>
          <a:prstGeom prst="roundRect">
            <a:avLst>
              <a:gd name="adj" fmla="val 14000"/>
            </a:avLst>
          </a:prstGeom>
          <a:solidFill>
            <a:srgbClr val="DFF1E6"/>
          </a:solidFill>
          <a:ln w="12700">
            <a:solidFill>
              <a:srgbClr val="DFF1E6"/>
            </a:solidFill>
            <a:prstDash val="solid"/>
          </a:ln>
        </p:spPr>
      </p:sp>
      <p:sp>
        <p:nvSpPr>
          <p:cNvPr id="40" name="Text 38"/>
          <p:cNvSpPr txBox="1"/>
          <p:nvPr/>
        </p:nvSpPr>
        <p:spPr>
          <a:xfrm>
            <a:off x="4754880" y="4169664"/>
            <a:ext cx="3931920" cy="45720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Fallback, grace and amendment flows are defined; expiry is a decision point.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Standard Salesforce Contract: what we keep and what we extend</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The Contract object records the agreement with one Account. It has no item prices, no members and no versioning.</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3</a:t>
            </a:r>
            <a:endParaRPr lang="en-US" sz="800" dirty="0"/>
          </a:p>
        </p:txBody>
      </p:sp>
      <p:sp>
        <p:nvSpPr>
          <p:cNvPr id="6" name="Shape 4"/>
          <p:cNvSpPr/>
          <p:nvPr/>
        </p:nvSpPr>
        <p:spPr>
          <a:xfrm>
            <a:off x="365760" y="1005840"/>
            <a:ext cx="4069080" cy="310896"/>
          </a:xfrm>
          <a:prstGeom prst="roundRect">
            <a:avLst>
              <a:gd name="adj" fmla="val 20588"/>
            </a:avLst>
          </a:prstGeom>
          <a:solidFill>
            <a:srgbClr val="1B2A4A"/>
          </a:solidFill>
          <a:ln w="12700">
            <a:solidFill>
              <a:srgbClr val="1B2A4A"/>
            </a:solidFill>
            <a:prstDash val="solid"/>
          </a:ln>
        </p:spPr>
      </p:sp>
      <p:sp>
        <p:nvSpPr>
          <p:cNvPr id="7" name="Text 5"/>
          <p:cNvSpPr txBox="1"/>
          <p:nvPr/>
        </p:nvSpPr>
        <p:spPr>
          <a:xfrm>
            <a:off x="457200" y="1005840"/>
            <a:ext cx="384048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Use as standard</a:t>
            </a:r>
            <a:endParaRPr lang="en-US" sz="1050" dirty="0"/>
          </a:p>
        </p:txBody>
      </p:sp>
      <p:sp>
        <p:nvSpPr>
          <p:cNvPr id="8" name="Shape 6"/>
          <p:cNvSpPr/>
          <p:nvPr/>
        </p:nvSpPr>
        <p:spPr>
          <a:xfrm>
            <a:off x="4709160" y="1005840"/>
            <a:ext cx="4069080" cy="310896"/>
          </a:xfrm>
          <a:prstGeom prst="roundRect">
            <a:avLst>
              <a:gd name="adj" fmla="val 20588"/>
            </a:avLst>
          </a:prstGeom>
          <a:solidFill>
            <a:srgbClr val="0E8F8A"/>
          </a:solidFill>
          <a:ln w="12700">
            <a:solidFill>
              <a:srgbClr val="0E8F8A"/>
            </a:solidFill>
            <a:prstDash val="solid"/>
          </a:ln>
        </p:spPr>
      </p:sp>
      <p:sp>
        <p:nvSpPr>
          <p:cNvPr id="9" name="Text 7"/>
          <p:cNvSpPr txBox="1"/>
          <p:nvPr/>
        </p:nvSpPr>
        <p:spPr>
          <a:xfrm>
            <a:off x="4800600" y="1005840"/>
            <a:ext cx="384048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Gap, and the USME extension</a:t>
            </a:r>
            <a:endParaRPr lang="en-US" sz="1050" dirty="0"/>
          </a:p>
        </p:txBody>
      </p:sp>
      <p:sp>
        <p:nvSpPr>
          <p:cNvPr id="10" name="Shape 8"/>
          <p:cNvSpPr/>
          <p:nvPr/>
        </p:nvSpPr>
        <p:spPr>
          <a:xfrm>
            <a:off x="365760" y="1408176"/>
            <a:ext cx="4069080" cy="411480"/>
          </a:xfrm>
          <a:prstGeom prst="roundRect">
            <a:avLst>
              <a:gd name="adj" fmla="val 15556"/>
            </a:avLst>
          </a:prstGeom>
          <a:solidFill>
            <a:srgbClr val="E4EEFB"/>
          </a:solidFill>
          <a:ln w="12700">
            <a:solidFill>
              <a:srgbClr val="E4EEFB"/>
            </a:solidFill>
            <a:prstDash val="solid"/>
          </a:ln>
        </p:spPr>
      </p:sp>
      <p:sp>
        <p:nvSpPr>
          <p:cNvPr id="11" name="Text 9"/>
          <p:cNvSpPr txBox="1"/>
          <p:nvPr/>
        </p:nvSpPr>
        <p:spPr>
          <a:xfrm>
            <a:off x="457200" y="1408176"/>
            <a:ext cx="3886200" cy="411480"/>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Contract record under an Account, auto Contract Number, owner</a:t>
            </a:r>
            <a:endParaRPr lang="en-US" sz="900" dirty="0"/>
          </a:p>
        </p:txBody>
      </p:sp>
      <p:sp>
        <p:nvSpPr>
          <p:cNvPr id="12" name="Shape 10"/>
          <p:cNvSpPr/>
          <p:nvPr/>
        </p:nvSpPr>
        <p:spPr>
          <a:xfrm>
            <a:off x="365760" y="1883664"/>
            <a:ext cx="4069080" cy="411480"/>
          </a:xfrm>
          <a:prstGeom prst="roundRect">
            <a:avLst>
              <a:gd name="adj" fmla="val 15556"/>
            </a:avLst>
          </a:prstGeom>
          <a:solidFill>
            <a:srgbClr val="E4EEFB"/>
          </a:solidFill>
          <a:ln w="12700">
            <a:solidFill>
              <a:srgbClr val="E4EEFB"/>
            </a:solidFill>
            <a:prstDash val="solid"/>
          </a:ln>
        </p:spPr>
      </p:sp>
      <p:sp>
        <p:nvSpPr>
          <p:cNvPr id="13" name="Text 11"/>
          <p:cNvSpPr txBox="1"/>
          <p:nvPr/>
        </p:nvSpPr>
        <p:spPr>
          <a:xfrm>
            <a:off x="457200" y="1883664"/>
            <a:ext cx="3886200" cy="411480"/>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Start Date, Term (months) and calculated End Date</a:t>
            </a:r>
            <a:endParaRPr lang="en-US" sz="900" dirty="0"/>
          </a:p>
        </p:txBody>
      </p:sp>
      <p:sp>
        <p:nvSpPr>
          <p:cNvPr id="14" name="Shape 12"/>
          <p:cNvSpPr/>
          <p:nvPr/>
        </p:nvSpPr>
        <p:spPr>
          <a:xfrm>
            <a:off x="365760" y="2359152"/>
            <a:ext cx="4069080" cy="411480"/>
          </a:xfrm>
          <a:prstGeom prst="roundRect">
            <a:avLst>
              <a:gd name="adj" fmla="val 15556"/>
            </a:avLst>
          </a:prstGeom>
          <a:solidFill>
            <a:srgbClr val="E4EEFB"/>
          </a:solidFill>
          <a:ln w="12700">
            <a:solidFill>
              <a:srgbClr val="E4EEFB"/>
            </a:solidFill>
            <a:prstDash val="solid"/>
          </a:ln>
        </p:spPr>
      </p:sp>
      <p:sp>
        <p:nvSpPr>
          <p:cNvPr id="15" name="Text 13"/>
          <p:cNvSpPr txBox="1"/>
          <p:nvPr/>
        </p:nvSpPr>
        <p:spPr>
          <a:xfrm>
            <a:off x="457200" y="2359152"/>
            <a:ext cx="3886200" cy="411480"/>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Status: Draft, In Approval Process, Activated, with approval before activation</a:t>
            </a:r>
            <a:endParaRPr lang="en-US" sz="900" dirty="0"/>
          </a:p>
        </p:txBody>
      </p:sp>
      <p:sp>
        <p:nvSpPr>
          <p:cNvPr id="16" name="Shape 14"/>
          <p:cNvSpPr/>
          <p:nvPr/>
        </p:nvSpPr>
        <p:spPr>
          <a:xfrm>
            <a:off x="365760" y="2834640"/>
            <a:ext cx="4069080" cy="411480"/>
          </a:xfrm>
          <a:prstGeom prst="roundRect">
            <a:avLst>
              <a:gd name="adj" fmla="val 15556"/>
            </a:avLst>
          </a:prstGeom>
          <a:solidFill>
            <a:srgbClr val="E4EEFB"/>
          </a:solidFill>
          <a:ln w="12700">
            <a:solidFill>
              <a:srgbClr val="E4EEFB"/>
            </a:solidFill>
            <a:prstDash val="solid"/>
          </a:ln>
        </p:spPr>
      </p:sp>
      <p:sp>
        <p:nvSpPr>
          <p:cNvPr id="17" name="Text 15"/>
          <p:cNvSpPr txBox="1"/>
          <p:nvPr/>
        </p:nvSpPr>
        <p:spPr>
          <a:xfrm>
            <a:off x="457200" y="2834640"/>
            <a:ext cx="3886200" cy="411480"/>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Price Book field on the Contract</a:t>
            </a:r>
            <a:endParaRPr lang="en-US" sz="900" dirty="0"/>
          </a:p>
        </p:txBody>
      </p:sp>
      <p:sp>
        <p:nvSpPr>
          <p:cNvPr id="18" name="Shape 16"/>
          <p:cNvSpPr/>
          <p:nvPr/>
        </p:nvSpPr>
        <p:spPr>
          <a:xfrm>
            <a:off x="365760" y="3310128"/>
            <a:ext cx="4069080" cy="411480"/>
          </a:xfrm>
          <a:prstGeom prst="roundRect">
            <a:avLst>
              <a:gd name="adj" fmla="val 15556"/>
            </a:avLst>
          </a:prstGeom>
          <a:solidFill>
            <a:srgbClr val="E4EEFB"/>
          </a:solidFill>
          <a:ln w="12700">
            <a:solidFill>
              <a:srgbClr val="E4EEFB"/>
            </a:solidFill>
            <a:prstDash val="solid"/>
          </a:ln>
        </p:spPr>
      </p:sp>
      <p:sp>
        <p:nvSpPr>
          <p:cNvPr id="19" name="Text 17"/>
          <p:cNvSpPr txBox="1"/>
          <p:nvPr/>
        </p:nvSpPr>
        <p:spPr>
          <a:xfrm>
            <a:off x="457200" y="3310128"/>
            <a:ext cx="3886200" cy="411480"/>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Expiration notice to the owner, special terms, signatures</a:t>
            </a:r>
            <a:endParaRPr lang="en-US" sz="900" dirty="0"/>
          </a:p>
        </p:txBody>
      </p:sp>
      <p:sp>
        <p:nvSpPr>
          <p:cNvPr id="20" name="Shape 18"/>
          <p:cNvSpPr/>
          <p:nvPr/>
        </p:nvSpPr>
        <p:spPr>
          <a:xfrm>
            <a:off x="365760" y="3785616"/>
            <a:ext cx="4069080" cy="411480"/>
          </a:xfrm>
          <a:prstGeom prst="roundRect">
            <a:avLst>
              <a:gd name="adj" fmla="val 15556"/>
            </a:avLst>
          </a:prstGeom>
          <a:solidFill>
            <a:srgbClr val="E4EEFB"/>
          </a:solidFill>
          <a:ln w="12700">
            <a:solidFill>
              <a:srgbClr val="E4EEFB"/>
            </a:solidFill>
            <a:prstDash val="solid"/>
          </a:ln>
        </p:spPr>
      </p:sp>
      <p:sp>
        <p:nvSpPr>
          <p:cNvPr id="21" name="Text 19"/>
          <p:cNvSpPr txBox="1"/>
          <p:nvPr/>
        </p:nvSpPr>
        <p:spPr>
          <a:xfrm>
            <a:off x="457200" y="3785616"/>
            <a:ext cx="3886200" cy="411480"/>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Activated Contract is required before Orders reference it</a:t>
            </a:r>
            <a:endParaRPr lang="en-US" sz="900" dirty="0"/>
          </a:p>
        </p:txBody>
      </p:sp>
      <p:sp>
        <p:nvSpPr>
          <p:cNvPr id="22" name="Shape 20"/>
          <p:cNvSpPr/>
          <p:nvPr/>
        </p:nvSpPr>
        <p:spPr>
          <a:xfrm>
            <a:off x="365760" y="4261104"/>
            <a:ext cx="4069080" cy="411480"/>
          </a:xfrm>
          <a:prstGeom prst="roundRect">
            <a:avLst>
              <a:gd name="adj" fmla="val 15556"/>
            </a:avLst>
          </a:prstGeom>
          <a:solidFill>
            <a:srgbClr val="E4EEFB"/>
          </a:solidFill>
          <a:ln w="12700">
            <a:solidFill>
              <a:srgbClr val="E4EEFB"/>
            </a:solidFill>
            <a:prstDash val="solid"/>
          </a:ln>
        </p:spPr>
      </p:sp>
      <p:sp>
        <p:nvSpPr>
          <p:cNvPr id="23" name="Text 21"/>
          <p:cNvSpPr txBox="1"/>
          <p:nvPr/>
        </p:nvSpPr>
        <p:spPr>
          <a:xfrm>
            <a:off x="457200" y="4261104"/>
            <a:ext cx="3886200" cy="411480"/>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History, files, sharing, reports and Flow automation</a:t>
            </a:r>
            <a:endParaRPr lang="en-US" sz="900" dirty="0"/>
          </a:p>
        </p:txBody>
      </p:sp>
      <p:sp>
        <p:nvSpPr>
          <p:cNvPr id="24" name="Shape 22"/>
          <p:cNvSpPr/>
          <p:nvPr/>
        </p:nvSpPr>
        <p:spPr>
          <a:xfrm>
            <a:off x="4709160" y="1408176"/>
            <a:ext cx="4069080" cy="475488"/>
          </a:xfrm>
          <a:prstGeom prst="roundRect">
            <a:avLst>
              <a:gd name="adj" fmla="val 13462"/>
            </a:avLst>
          </a:prstGeom>
          <a:solidFill>
            <a:srgbClr val="DDF1F0"/>
          </a:solidFill>
          <a:ln w="12700">
            <a:solidFill>
              <a:srgbClr val="DDF1F0"/>
            </a:solidFill>
            <a:prstDash val="solid"/>
          </a:ln>
        </p:spPr>
      </p:sp>
      <p:sp>
        <p:nvSpPr>
          <p:cNvPr id="25" name="Text 23"/>
          <p:cNvSpPr txBox="1"/>
          <p:nvPr/>
        </p:nvSpPr>
        <p:spPr>
          <a:xfrm>
            <a:off x="4800600" y="1408176"/>
            <a:ext cx="3886200" cy="475488"/>
          </a:xfrm>
          <a:prstGeom prst="rect">
            <a:avLst/>
          </a:prstGeom>
          <a:noFill/>
          <a:ln/>
        </p:spPr>
        <p:txBody>
          <a:bodyPr wrap="square" lIns="0" tIns="0" rIns="0" bIns="0" rtlCol="0" anchor="ctr"/>
          <a:lstStyle/>
          <a:p>
            <a:pPr indent="0" marL="0">
              <a:buNone/>
            </a:pPr>
            <a:r>
              <a:rPr lang="en-US" sz="850" dirty="0">
                <a:solidFill>
                  <a:srgbClr val="5B6B7B"/>
                </a:solidFill>
                <a:latin typeface="Calibri" pitchFamily="34" charset="0"/>
                <a:ea typeface="Calibri" pitchFamily="34" charset="-122"/>
                <a:cs typeface="Calibri" pitchFamily="34" charset="-120"/>
              </a:rPr>
              <a:t>One Account only, so a GPO cannot list its members</a:t>
            </a:r>
            <a:endParaRPr lang="en-US" sz="900" dirty="0"/>
          </a:p>
          <a:p>
            <a:pPr indent="0" marL="0">
              <a:buNone/>
            </a:pPr>
            <a:r>
              <a:rPr lang="en-US" sz="900" b="1" dirty="0">
                <a:solidFill>
                  <a:srgbClr val="1B2A4A"/>
                </a:solidFill>
                <a:latin typeface="Calibri" pitchFamily="34" charset="0"/>
                <a:ea typeface="Calibri" pitchFamily="34" charset="-122"/>
                <a:cs typeface="Calibri" pitchFamily="34" charset="-120"/>
              </a:rPr>
              <a:t>GPO Membership object: hospital, tier, member ID, dates</a:t>
            </a:r>
            <a:endParaRPr lang="en-US" sz="900" dirty="0"/>
          </a:p>
        </p:txBody>
      </p:sp>
      <p:sp>
        <p:nvSpPr>
          <p:cNvPr id="26" name="Shape 24"/>
          <p:cNvSpPr/>
          <p:nvPr/>
        </p:nvSpPr>
        <p:spPr>
          <a:xfrm>
            <a:off x="4709160" y="1956816"/>
            <a:ext cx="4069080" cy="475488"/>
          </a:xfrm>
          <a:prstGeom prst="roundRect">
            <a:avLst>
              <a:gd name="adj" fmla="val 13462"/>
            </a:avLst>
          </a:prstGeom>
          <a:solidFill>
            <a:srgbClr val="DDF1F0"/>
          </a:solidFill>
          <a:ln w="12700">
            <a:solidFill>
              <a:srgbClr val="DDF1F0"/>
            </a:solidFill>
            <a:prstDash val="solid"/>
          </a:ln>
        </p:spPr>
      </p:sp>
      <p:sp>
        <p:nvSpPr>
          <p:cNvPr id="27" name="Text 25"/>
          <p:cNvSpPr txBox="1"/>
          <p:nvPr/>
        </p:nvSpPr>
        <p:spPr>
          <a:xfrm>
            <a:off x="4800600" y="1956816"/>
            <a:ext cx="3886200" cy="475488"/>
          </a:xfrm>
          <a:prstGeom prst="rect">
            <a:avLst/>
          </a:prstGeom>
          <a:noFill/>
          <a:ln/>
        </p:spPr>
        <p:txBody>
          <a:bodyPr wrap="square" lIns="0" tIns="0" rIns="0" bIns="0" rtlCol="0" anchor="ctr"/>
          <a:lstStyle/>
          <a:p>
            <a:pPr indent="0" marL="0">
              <a:buNone/>
            </a:pPr>
            <a:r>
              <a:rPr lang="en-US" sz="850" dirty="0">
                <a:solidFill>
                  <a:srgbClr val="5B6B7B"/>
                </a:solidFill>
                <a:latin typeface="Calibri" pitchFamily="34" charset="0"/>
                <a:ea typeface="Calibri" pitchFamily="34" charset="-122"/>
                <a:cs typeface="Calibri" pitchFamily="34" charset="-120"/>
              </a:rPr>
              <a:t>No item-level prices</a:t>
            </a:r>
            <a:endParaRPr lang="en-US" sz="900" dirty="0"/>
          </a:p>
          <a:p>
            <a:pPr indent="0" marL="0">
              <a:buNone/>
            </a:pPr>
            <a:r>
              <a:rPr lang="en-US" sz="900" b="1" dirty="0">
                <a:solidFill>
                  <a:srgbClr val="1B2A4A"/>
                </a:solidFill>
                <a:latin typeface="Calibri" pitchFamily="34" charset="0"/>
                <a:ea typeface="Calibri" pitchFamily="34" charset="-122"/>
                <a:cs typeface="Calibri" pitchFamily="34" charset="-120"/>
              </a:rPr>
              <a:t>Trade Agreement and Trade Agreement Line (Ascent), per contract</a:t>
            </a:r>
            <a:endParaRPr lang="en-US" sz="900" dirty="0"/>
          </a:p>
        </p:txBody>
      </p:sp>
      <p:sp>
        <p:nvSpPr>
          <p:cNvPr id="28" name="Shape 26"/>
          <p:cNvSpPr/>
          <p:nvPr/>
        </p:nvSpPr>
        <p:spPr>
          <a:xfrm>
            <a:off x="4709160" y="2505456"/>
            <a:ext cx="4069080" cy="475488"/>
          </a:xfrm>
          <a:prstGeom prst="roundRect">
            <a:avLst>
              <a:gd name="adj" fmla="val 13462"/>
            </a:avLst>
          </a:prstGeom>
          <a:solidFill>
            <a:srgbClr val="DDF1F0"/>
          </a:solidFill>
          <a:ln w="12700">
            <a:solidFill>
              <a:srgbClr val="DDF1F0"/>
            </a:solidFill>
            <a:prstDash val="solid"/>
          </a:ln>
        </p:spPr>
      </p:sp>
      <p:sp>
        <p:nvSpPr>
          <p:cNvPr id="29" name="Text 27"/>
          <p:cNvSpPr txBox="1"/>
          <p:nvPr/>
        </p:nvSpPr>
        <p:spPr>
          <a:xfrm>
            <a:off x="4800600" y="2505456"/>
            <a:ext cx="3886200" cy="475488"/>
          </a:xfrm>
          <a:prstGeom prst="rect">
            <a:avLst/>
          </a:prstGeom>
          <a:noFill/>
          <a:ln/>
        </p:spPr>
        <p:txBody>
          <a:bodyPr wrap="square" lIns="0" tIns="0" rIns="0" bIns="0" rtlCol="0" anchor="ctr"/>
          <a:lstStyle/>
          <a:p>
            <a:pPr indent="0" marL="0">
              <a:buNone/>
            </a:pPr>
            <a:r>
              <a:rPr lang="en-US" sz="850" dirty="0">
                <a:solidFill>
                  <a:srgbClr val="5B6B7B"/>
                </a:solidFill>
                <a:latin typeface="Calibri" pitchFamily="34" charset="0"/>
                <a:ea typeface="Calibri" pitchFamily="34" charset="-122"/>
                <a:cs typeface="Calibri" pitchFamily="34" charset="-120"/>
              </a:rPr>
              <a:t>No tiers (Vizient Tier 1 to 4, Premier spend tiers)</a:t>
            </a:r>
            <a:endParaRPr lang="en-US" sz="900" dirty="0"/>
          </a:p>
          <a:p>
            <a:pPr indent="0" marL="0">
              <a:buNone/>
            </a:pPr>
            <a:r>
              <a:rPr lang="en-US" sz="900" b="1" dirty="0">
                <a:solidFill>
                  <a:srgbClr val="1B2A4A"/>
                </a:solidFill>
                <a:latin typeface="Calibri" pitchFamily="34" charset="0"/>
                <a:ea typeface="Calibri" pitchFamily="34" charset="-122"/>
                <a:cs typeface="Calibri" pitchFamily="34" charset="-120"/>
              </a:rPr>
              <a:t>GPO Tier object, each linked to its Trade Agreement</a:t>
            </a:r>
            <a:endParaRPr lang="en-US" sz="900" dirty="0"/>
          </a:p>
        </p:txBody>
      </p:sp>
      <p:sp>
        <p:nvSpPr>
          <p:cNvPr id="30" name="Shape 28"/>
          <p:cNvSpPr/>
          <p:nvPr/>
        </p:nvSpPr>
        <p:spPr>
          <a:xfrm>
            <a:off x="4709160" y="3054096"/>
            <a:ext cx="4069080" cy="475488"/>
          </a:xfrm>
          <a:prstGeom prst="roundRect">
            <a:avLst>
              <a:gd name="adj" fmla="val 13462"/>
            </a:avLst>
          </a:prstGeom>
          <a:solidFill>
            <a:srgbClr val="DDF1F0"/>
          </a:solidFill>
          <a:ln w="12700">
            <a:solidFill>
              <a:srgbClr val="DDF1F0"/>
            </a:solidFill>
            <a:prstDash val="solid"/>
          </a:ln>
        </p:spPr>
      </p:sp>
      <p:sp>
        <p:nvSpPr>
          <p:cNvPr id="31" name="Text 29"/>
          <p:cNvSpPr txBox="1"/>
          <p:nvPr/>
        </p:nvSpPr>
        <p:spPr>
          <a:xfrm>
            <a:off x="4800600" y="3054096"/>
            <a:ext cx="3886200" cy="475488"/>
          </a:xfrm>
          <a:prstGeom prst="rect">
            <a:avLst/>
          </a:prstGeom>
          <a:noFill/>
          <a:ln/>
        </p:spPr>
        <p:txBody>
          <a:bodyPr wrap="square" lIns="0" tIns="0" rIns="0" bIns="0" rtlCol="0" anchor="ctr"/>
          <a:lstStyle/>
          <a:p>
            <a:pPr indent="0" marL="0">
              <a:buNone/>
            </a:pPr>
            <a:r>
              <a:rPr lang="en-US" sz="850" dirty="0">
                <a:solidFill>
                  <a:srgbClr val="5B6B7B"/>
                </a:solidFill>
                <a:latin typeface="Calibri" pitchFamily="34" charset="0"/>
                <a:ea typeface="Calibri" pitchFamily="34" charset="-122"/>
                <a:cs typeface="Calibri" pitchFamily="34" charset="-120"/>
              </a:rPr>
              <a:t>No amend or renew history</a:t>
            </a:r>
            <a:endParaRPr lang="en-US" sz="900" dirty="0"/>
          </a:p>
          <a:p>
            <a:pPr indent="0" marL="0">
              <a:buNone/>
            </a:pPr>
            <a:r>
              <a:rPr lang="en-US" sz="900" b="1" dirty="0">
                <a:solidFill>
                  <a:srgbClr val="1B2A4A"/>
                </a:solidFill>
                <a:latin typeface="Calibri" pitchFamily="34" charset="0"/>
                <a:ea typeface="Calibri" pitchFamily="34" charset="-122"/>
                <a:cs typeface="Calibri" pitchFamily="34" charset="-120"/>
              </a:rPr>
              <a:t>Supersedes lookup and an Amendment record type</a:t>
            </a:r>
            <a:endParaRPr lang="en-US" sz="900" dirty="0"/>
          </a:p>
        </p:txBody>
      </p:sp>
      <p:sp>
        <p:nvSpPr>
          <p:cNvPr id="32" name="Shape 30"/>
          <p:cNvSpPr/>
          <p:nvPr/>
        </p:nvSpPr>
        <p:spPr>
          <a:xfrm>
            <a:off x="4709160" y="3602736"/>
            <a:ext cx="4069080" cy="475488"/>
          </a:xfrm>
          <a:prstGeom prst="roundRect">
            <a:avLst>
              <a:gd name="adj" fmla="val 13462"/>
            </a:avLst>
          </a:prstGeom>
          <a:solidFill>
            <a:srgbClr val="DDF1F0"/>
          </a:solidFill>
          <a:ln w="12700">
            <a:solidFill>
              <a:srgbClr val="DDF1F0"/>
            </a:solidFill>
            <a:prstDash val="solid"/>
          </a:ln>
        </p:spPr>
      </p:sp>
      <p:sp>
        <p:nvSpPr>
          <p:cNvPr id="33" name="Text 31"/>
          <p:cNvSpPr txBox="1"/>
          <p:nvPr/>
        </p:nvSpPr>
        <p:spPr>
          <a:xfrm>
            <a:off x="4800600" y="3602736"/>
            <a:ext cx="3886200" cy="475488"/>
          </a:xfrm>
          <a:prstGeom prst="rect">
            <a:avLst/>
          </a:prstGeom>
          <a:noFill/>
          <a:ln/>
        </p:spPr>
        <p:txBody>
          <a:bodyPr wrap="square" lIns="0" tIns="0" rIns="0" bIns="0" rtlCol="0" anchor="ctr"/>
          <a:lstStyle/>
          <a:p>
            <a:pPr indent="0" marL="0">
              <a:buNone/>
            </a:pPr>
            <a:r>
              <a:rPr lang="en-US" sz="850" dirty="0">
                <a:solidFill>
                  <a:srgbClr val="5B6B7B"/>
                </a:solidFill>
                <a:latin typeface="Calibri" pitchFamily="34" charset="0"/>
                <a:ea typeface="Calibri" pitchFamily="34" charset="-122"/>
                <a:cs typeface="Calibri" pitchFamily="34" charset="-120"/>
              </a:rPr>
              <a:t>Expired and Terminated need automation</a:t>
            </a:r>
            <a:endParaRPr lang="en-US" sz="900" dirty="0"/>
          </a:p>
          <a:p>
            <a:pPr indent="0" marL="0">
              <a:buNone/>
            </a:pPr>
            <a:r>
              <a:rPr lang="en-US" sz="900" b="1" dirty="0">
                <a:solidFill>
                  <a:srgbClr val="1B2A4A"/>
                </a:solidFill>
                <a:latin typeface="Calibri" pitchFamily="34" charset="0"/>
                <a:ea typeface="Calibri" pitchFamily="34" charset="-122"/>
                <a:cs typeface="Calibri" pitchFamily="34" charset="-120"/>
              </a:rPr>
              <a:t>Scheduled Flow moves status and sends alerts</a:t>
            </a:r>
            <a:endParaRPr lang="en-US" sz="900" dirty="0"/>
          </a:p>
        </p:txBody>
      </p:sp>
      <p:sp>
        <p:nvSpPr>
          <p:cNvPr id="34" name="Shape 32"/>
          <p:cNvSpPr/>
          <p:nvPr/>
        </p:nvSpPr>
        <p:spPr>
          <a:xfrm>
            <a:off x="4709160" y="4151376"/>
            <a:ext cx="4069080" cy="475488"/>
          </a:xfrm>
          <a:prstGeom prst="roundRect">
            <a:avLst>
              <a:gd name="adj" fmla="val 13462"/>
            </a:avLst>
          </a:prstGeom>
          <a:solidFill>
            <a:srgbClr val="DDF1F0"/>
          </a:solidFill>
          <a:ln w="12700">
            <a:solidFill>
              <a:srgbClr val="DDF1F0"/>
            </a:solidFill>
            <a:prstDash val="solid"/>
          </a:ln>
        </p:spPr>
      </p:sp>
      <p:sp>
        <p:nvSpPr>
          <p:cNvPr id="35" name="Text 33"/>
          <p:cNvSpPr txBox="1"/>
          <p:nvPr/>
        </p:nvSpPr>
        <p:spPr>
          <a:xfrm>
            <a:off x="4800600" y="4151376"/>
            <a:ext cx="3886200" cy="475488"/>
          </a:xfrm>
          <a:prstGeom prst="rect">
            <a:avLst/>
          </a:prstGeom>
          <a:noFill/>
          <a:ln/>
        </p:spPr>
        <p:txBody>
          <a:bodyPr wrap="square" lIns="0" tIns="0" rIns="0" bIns="0" rtlCol="0" anchor="ctr"/>
          <a:lstStyle/>
          <a:p>
            <a:pPr indent="0" marL="0">
              <a:buNone/>
            </a:pPr>
            <a:r>
              <a:rPr lang="en-US" sz="850" dirty="0">
                <a:solidFill>
                  <a:srgbClr val="5B6B7B"/>
                </a:solidFill>
                <a:latin typeface="Calibri" pitchFamily="34" charset="0"/>
                <a:ea typeface="Calibri" pitchFamily="34" charset="-122"/>
                <a:cs typeface="Calibri" pitchFamily="34" charset="-120"/>
              </a:rPr>
              <a:t>No price lookup at quote or order time</a:t>
            </a:r>
            <a:endParaRPr lang="en-US" sz="900" dirty="0"/>
          </a:p>
          <a:p>
            <a:pPr indent="0" marL="0">
              <a:buNone/>
            </a:pPr>
            <a:r>
              <a:rPr lang="en-US" sz="900" b="1" dirty="0">
                <a:solidFill>
                  <a:srgbClr val="1B2A4A"/>
                </a:solidFill>
                <a:latin typeface="Calibri" pitchFamily="34" charset="0"/>
                <a:ea typeface="Calibri" pitchFamily="34" charset="-122"/>
                <a:cs typeface="Calibri" pitchFamily="34" charset="-120"/>
              </a:rPr>
              <a:t>Price resolution service used by Quote, Order and CEC intake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USME contract lifecycle</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Standard Salesforce statuses plus the USME steps added around them.</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4</a:t>
            </a:r>
            <a:endParaRPr lang="en-US" sz="800" dirty="0"/>
          </a:p>
        </p:txBody>
      </p:sp>
      <p:sp>
        <p:nvSpPr>
          <p:cNvPr id="6" name="Shape 4"/>
          <p:cNvSpPr/>
          <p:nvPr/>
        </p:nvSpPr>
        <p:spPr>
          <a:xfrm>
            <a:off x="365760" y="1097280"/>
            <a:ext cx="1261872" cy="685800"/>
          </a:xfrm>
          <a:prstGeom prst="roundRect">
            <a:avLst>
              <a:gd name="adj" fmla="val 9333"/>
            </a:avLst>
          </a:prstGeom>
          <a:solidFill>
            <a:srgbClr val="1B2A4A"/>
          </a:solidFill>
          <a:ln w="12700">
            <a:solidFill>
              <a:srgbClr val="1B2A4A"/>
            </a:solidFill>
            <a:prstDash val="solid"/>
          </a:ln>
        </p:spPr>
      </p:sp>
      <p:sp>
        <p:nvSpPr>
          <p:cNvPr id="7" name="Text 5"/>
          <p:cNvSpPr txBox="1"/>
          <p:nvPr/>
        </p:nvSpPr>
        <p:spPr>
          <a:xfrm>
            <a:off x="420624" y="1097280"/>
            <a:ext cx="115214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Draft</a:t>
            </a:r>
            <a:endParaRPr lang="en-US" sz="900" dirty="0"/>
          </a:p>
          <a:p>
            <a:pPr algn="ctr" indent="0" marL="0">
              <a:buNone/>
            </a:pPr>
            <a:r>
              <a:rPr lang="en-US" sz="800" dirty="0">
                <a:solidFill>
                  <a:srgbClr val="CADCFC"/>
                </a:solidFill>
                <a:latin typeface="Calibri" pitchFamily="34" charset="0"/>
                <a:ea typeface="Calibri" pitchFamily="34" charset="-122"/>
                <a:cs typeface="Calibri" pitchFamily="34" charset="-120"/>
              </a:rPr>
              <a:t>Standard</a:t>
            </a:r>
            <a:endParaRPr lang="en-US" sz="900" dirty="0"/>
          </a:p>
        </p:txBody>
      </p:sp>
      <p:sp>
        <p:nvSpPr>
          <p:cNvPr id="8" name="Shape 6"/>
          <p:cNvSpPr/>
          <p:nvPr/>
        </p:nvSpPr>
        <p:spPr>
          <a:xfrm>
            <a:off x="1627632" y="1440180"/>
            <a:ext cx="164592" cy="0"/>
          </a:xfrm>
          <a:prstGeom prst="line">
            <a:avLst/>
          </a:prstGeom>
          <a:noFill/>
          <a:ln w="19050">
            <a:solidFill>
              <a:srgbClr val="5B6B7B"/>
            </a:solidFill>
            <a:prstDash val="solid"/>
            <a:tailEnd type="triangle"/>
          </a:ln>
        </p:spPr>
      </p:sp>
      <p:sp>
        <p:nvSpPr>
          <p:cNvPr id="9" name="Shape 7"/>
          <p:cNvSpPr/>
          <p:nvPr/>
        </p:nvSpPr>
        <p:spPr>
          <a:xfrm>
            <a:off x="365760" y="1965960"/>
            <a:ext cx="1261872" cy="1554480"/>
          </a:xfrm>
          <a:prstGeom prst="roundRect">
            <a:avLst>
              <a:gd name="adj" fmla="val 5072"/>
            </a:avLst>
          </a:prstGeom>
          <a:solidFill>
            <a:srgbClr val="F4F7FB"/>
          </a:solidFill>
          <a:ln w="12700">
            <a:solidFill>
              <a:srgbClr val="C9D3E0"/>
            </a:solidFill>
            <a:prstDash val="solid"/>
          </a:ln>
        </p:spPr>
      </p:sp>
      <p:sp>
        <p:nvSpPr>
          <p:cNvPr id="10" name="Text 8"/>
          <p:cNvSpPr txBox="1"/>
          <p:nvPr/>
        </p:nvSpPr>
        <p:spPr>
          <a:xfrm>
            <a:off x="429768" y="2011680"/>
            <a:ext cx="1133856" cy="1463040"/>
          </a:xfrm>
          <a:prstGeom prst="rect">
            <a:avLst/>
          </a:prstGeom>
          <a:noFill/>
          <a:ln/>
        </p:spPr>
        <p:txBody>
          <a:bodyPr wrap="square" lIns="0" tIns="0" rIns="0" bIns="0" rtlCol="0" anchor="t"/>
          <a:lstStyle/>
          <a:p>
            <a:pPr indent="0" marL="0">
              <a:buNone/>
            </a:pPr>
            <a:r>
              <a:rPr lang="en-US" sz="850" dirty="0">
                <a:solidFill>
                  <a:srgbClr val="1F2A37"/>
                </a:solidFill>
                <a:latin typeface="Calibri" pitchFamily="34" charset="0"/>
                <a:ea typeface="Calibri" pitchFamily="34" charset="-122"/>
                <a:cs typeface="Calibri" pitchFamily="34" charset="-120"/>
              </a:rPr>
              <a:t>Contract created under the Account. Contract Category, dates and price book set. Trade Agreement lines loaded.</a:t>
            </a:r>
            <a:endParaRPr lang="en-US" sz="850" dirty="0"/>
          </a:p>
        </p:txBody>
      </p:sp>
      <p:sp>
        <p:nvSpPr>
          <p:cNvPr id="11" name="Shape 9"/>
          <p:cNvSpPr/>
          <p:nvPr/>
        </p:nvSpPr>
        <p:spPr>
          <a:xfrm>
            <a:off x="1792224" y="1097280"/>
            <a:ext cx="1261872" cy="685800"/>
          </a:xfrm>
          <a:prstGeom prst="roundRect">
            <a:avLst>
              <a:gd name="adj" fmla="val 9333"/>
            </a:avLst>
          </a:prstGeom>
          <a:solidFill>
            <a:srgbClr val="1B2A4A"/>
          </a:solidFill>
          <a:ln w="12700">
            <a:solidFill>
              <a:srgbClr val="1B2A4A"/>
            </a:solidFill>
            <a:prstDash val="solid"/>
          </a:ln>
        </p:spPr>
      </p:sp>
      <p:sp>
        <p:nvSpPr>
          <p:cNvPr id="12" name="Text 10"/>
          <p:cNvSpPr txBox="1"/>
          <p:nvPr/>
        </p:nvSpPr>
        <p:spPr>
          <a:xfrm>
            <a:off x="1847088" y="1097280"/>
            <a:ext cx="115214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 Approval</a:t>
            </a:r>
            <a:endParaRPr lang="en-US" sz="900" dirty="0"/>
          </a:p>
          <a:p>
            <a:pPr algn="ctr" indent="0" marL="0">
              <a:buNone/>
            </a:pPr>
            <a:r>
              <a:rPr lang="en-US" sz="800" dirty="0">
                <a:solidFill>
                  <a:srgbClr val="CADCFC"/>
                </a:solidFill>
                <a:latin typeface="Calibri" pitchFamily="34" charset="0"/>
                <a:ea typeface="Calibri" pitchFamily="34" charset="-122"/>
                <a:cs typeface="Calibri" pitchFamily="34" charset="-120"/>
              </a:rPr>
              <a:t>Standard</a:t>
            </a:r>
            <a:endParaRPr lang="en-US" sz="900" dirty="0"/>
          </a:p>
        </p:txBody>
      </p:sp>
      <p:sp>
        <p:nvSpPr>
          <p:cNvPr id="13" name="Shape 11"/>
          <p:cNvSpPr/>
          <p:nvPr/>
        </p:nvSpPr>
        <p:spPr>
          <a:xfrm>
            <a:off x="3054096" y="1440180"/>
            <a:ext cx="164592" cy="0"/>
          </a:xfrm>
          <a:prstGeom prst="line">
            <a:avLst/>
          </a:prstGeom>
          <a:noFill/>
          <a:ln w="19050">
            <a:solidFill>
              <a:srgbClr val="5B6B7B"/>
            </a:solidFill>
            <a:prstDash val="solid"/>
            <a:tailEnd type="triangle"/>
          </a:ln>
        </p:spPr>
      </p:sp>
      <p:sp>
        <p:nvSpPr>
          <p:cNvPr id="14" name="Shape 12"/>
          <p:cNvSpPr/>
          <p:nvPr/>
        </p:nvSpPr>
        <p:spPr>
          <a:xfrm>
            <a:off x="1792224" y="1965960"/>
            <a:ext cx="1261872" cy="1554480"/>
          </a:xfrm>
          <a:prstGeom prst="roundRect">
            <a:avLst>
              <a:gd name="adj" fmla="val 5072"/>
            </a:avLst>
          </a:prstGeom>
          <a:solidFill>
            <a:srgbClr val="F4F7FB"/>
          </a:solidFill>
          <a:ln w="12700">
            <a:solidFill>
              <a:srgbClr val="C9D3E0"/>
            </a:solidFill>
            <a:prstDash val="solid"/>
          </a:ln>
        </p:spPr>
      </p:sp>
      <p:sp>
        <p:nvSpPr>
          <p:cNvPr id="15" name="Text 13"/>
          <p:cNvSpPr txBox="1"/>
          <p:nvPr/>
        </p:nvSpPr>
        <p:spPr>
          <a:xfrm>
            <a:off x="1856232" y="2011680"/>
            <a:ext cx="1133856" cy="1463040"/>
          </a:xfrm>
          <a:prstGeom prst="rect">
            <a:avLst/>
          </a:prstGeom>
          <a:noFill/>
          <a:ln/>
        </p:spPr>
        <p:txBody>
          <a:bodyPr wrap="square" lIns="0" tIns="0" rIns="0" bIns="0" rtlCol="0" anchor="t"/>
          <a:lstStyle/>
          <a:p>
            <a:pPr indent="0" marL="0">
              <a:buNone/>
            </a:pPr>
            <a:r>
              <a:rPr lang="en-US" sz="850" dirty="0">
                <a:solidFill>
                  <a:srgbClr val="1F2A37"/>
                </a:solidFill>
                <a:latin typeface="Calibri" pitchFamily="34" charset="0"/>
                <a:ea typeface="Calibri" pitchFamily="34" charset="-122"/>
                <a:cs typeface="Calibri" pitchFamily="34" charset="-120"/>
              </a:rPr>
              <a:t>Approval process: Contracts, Finance and Legal. Lines are validated before submit.</a:t>
            </a:r>
            <a:endParaRPr lang="en-US" sz="850" dirty="0"/>
          </a:p>
        </p:txBody>
      </p:sp>
      <p:sp>
        <p:nvSpPr>
          <p:cNvPr id="16" name="Shape 14"/>
          <p:cNvSpPr/>
          <p:nvPr/>
        </p:nvSpPr>
        <p:spPr>
          <a:xfrm>
            <a:off x="3218688" y="1097280"/>
            <a:ext cx="1261872" cy="685800"/>
          </a:xfrm>
          <a:prstGeom prst="roundRect">
            <a:avLst>
              <a:gd name="adj" fmla="val 9333"/>
            </a:avLst>
          </a:prstGeom>
          <a:solidFill>
            <a:srgbClr val="1B2A4A"/>
          </a:solidFill>
          <a:ln w="12700">
            <a:solidFill>
              <a:srgbClr val="1B2A4A"/>
            </a:solidFill>
            <a:prstDash val="solid"/>
          </a:ln>
        </p:spPr>
      </p:sp>
      <p:sp>
        <p:nvSpPr>
          <p:cNvPr id="17" name="Text 15"/>
          <p:cNvSpPr txBox="1"/>
          <p:nvPr/>
        </p:nvSpPr>
        <p:spPr>
          <a:xfrm>
            <a:off x="3273552" y="1097280"/>
            <a:ext cx="115214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Activated</a:t>
            </a:r>
            <a:endParaRPr lang="en-US" sz="900" dirty="0"/>
          </a:p>
          <a:p>
            <a:pPr algn="ctr" indent="0" marL="0">
              <a:buNone/>
            </a:pPr>
            <a:r>
              <a:rPr lang="en-US" sz="800" dirty="0">
                <a:solidFill>
                  <a:srgbClr val="CADCFC"/>
                </a:solidFill>
                <a:latin typeface="Calibri" pitchFamily="34" charset="0"/>
                <a:ea typeface="Calibri" pitchFamily="34" charset="-122"/>
                <a:cs typeface="Calibri" pitchFamily="34" charset="-120"/>
              </a:rPr>
              <a:t>Standard</a:t>
            </a:r>
            <a:endParaRPr lang="en-US" sz="900" dirty="0"/>
          </a:p>
        </p:txBody>
      </p:sp>
      <p:sp>
        <p:nvSpPr>
          <p:cNvPr id="18" name="Shape 16"/>
          <p:cNvSpPr/>
          <p:nvPr/>
        </p:nvSpPr>
        <p:spPr>
          <a:xfrm>
            <a:off x="4480560" y="1440180"/>
            <a:ext cx="164592" cy="0"/>
          </a:xfrm>
          <a:prstGeom prst="line">
            <a:avLst/>
          </a:prstGeom>
          <a:noFill/>
          <a:ln w="19050">
            <a:solidFill>
              <a:srgbClr val="5B6B7B"/>
            </a:solidFill>
            <a:prstDash val="solid"/>
            <a:tailEnd type="triangle"/>
          </a:ln>
        </p:spPr>
      </p:sp>
      <p:sp>
        <p:nvSpPr>
          <p:cNvPr id="19" name="Shape 17"/>
          <p:cNvSpPr/>
          <p:nvPr/>
        </p:nvSpPr>
        <p:spPr>
          <a:xfrm>
            <a:off x="3218688" y="1965960"/>
            <a:ext cx="1261872" cy="1554480"/>
          </a:xfrm>
          <a:prstGeom prst="roundRect">
            <a:avLst>
              <a:gd name="adj" fmla="val 5072"/>
            </a:avLst>
          </a:prstGeom>
          <a:solidFill>
            <a:srgbClr val="F4F7FB"/>
          </a:solidFill>
          <a:ln w="12700">
            <a:solidFill>
              <a:srgbClr val="C9D3E0"/>
            </a:solidFill>
            <a:prstDash val="solid"/>
          </a:ln>
        </p:spPr>
      </p:sp>
      <p:sp>
        <p:nvSpPr>
          <p:cNvPr id="20" name="Text 18"/>
          <p:cNvSpPr txBox="1"/>
          <p:nvPr/>
        </p:nvSpPr>
        <p:spPr>
          <a:xfrm>
            <a:off x="3282696" y="2011680"/>
            <a:ext cx="1133856" cy="1463040"/>
          </a:xfrm>
          <a:prstGeom prst="rect">
            <a:avLst/>
          </a:prstGeom>
          <a:noFill/>
          <a:ln/>
        </p:spPr>
        <p:txBody>
          <a:bodyPr wrap="square" lIns="0" tIns="0" rIns="0" bIns="0" rtlCol="0" anchor="t"/>
          <a:lstStyle/>
          <a:p>
            <a:pPr indent="0" marL="0">
              <a:buNone/>
            </a:pPr>
            <a:r>
              <a:rPr lang="en-US" sz="850" dirty="0">
                <a:solidFill>
                  <a:srgbClr val="1F2A37"/>
                </a:solidFill>
                <a:latin typeface="Calibri" pitchFamily="34" charset="0"/>
                <a:ea typeface="Calibri" pitchFamily="34" charset="-122"/>
                <a:cs typeface="Calibri" pitchFamily="34" charset="-120"/>
              </a:rPr>
              <a:t>Lines lock. Prices publish to Ascent and become usable at quote and order time.</a:t>
            </a:r>
            <a:endParaRPr lang="en-US" sz="850" dirty="0"/>
          </a:p>
        </p:txBody>
      </p:sp>
      <p:sp>
        <p:nvSpPr>
          <p:cNvPr id="21" name="Shape 19"/>
          <p:cNvSpPr/>
          <p:nvPr/>
        </p:nvSpPr>
        <p:spPr>
          <a:xfrm>
            <a:off x="4645152" y="1097280"/>
            <a:ext cx="1261872" cy="685800"/>
          </a:xfrm>
          <a:prstGeom prst="roundRect">
            <a:avLst>
              <a:gd name="adj" fmla="val 9333"/>
            </a:avLst>
          </a:prstGeom>
          <a:solidFill>
            <a:srgbClr val="0E8F8A"/>
          </a:solidFill>
          <a:ln w="12700">
            <a:solidFill>
              <a:srgbClr val="0E8F8A"/>
            </a:solidFill>
            <a:prstDash val="solid"/>
          </a:ln>
        </p:spPr>
      </p:sp>
      <p:sp>
        <p:nvSpPr>
          <p:cNvPr id="22" name="Text 20"/>
          <p:cNvSpPr txBox="1"/>
          <p:nvPr/>
        </p:nvSpPr>
        <p:spPr>
          <a:xfrm>
            <a:off x="4700016" y="1097280"/>
            <a:ext cx="115214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Amended</a:t>
            </a:r>
            <a:endParaRPr lang="en-US" sz="900" dirty="0"/>
          </a:p>
          <a:p>
            <a:pPr algn="ctr" indent="0" marL="0">
              <a:buNone/>
            </a:pPr>
            <a:r>
              <a:rPr lang="en-US" sz="800" dirty="0">
                <a:solidFill>
                  <a:srgbClr val="CADCFC"/>
                </a:solidFill>
                <a:latin typeface="Calibri" pitchFamily="34" charset="0"/>
                <a:ea typeface="Calibri" pitchFamily="34" charset="-122"/>
                <a:cs typeface="Calibri" pitchFamily="34" charset="-120"/>
              </a:rPr>
              <a:t>USME</a:t>
            </a:r>
            <a:endParaRPr lang="en-US" sz="900" dirty="0"/>
          </a:p>
        </p:txBody>
      </p:sp>
      <p:sp>
        <p:nvSpPr>
          <p:cNvPr id="23" name="Shape 21"/>
          <p:cNvSpPr/>
          <p:nvPr/>
        </p:nvSpPr>
        <p:spPr>
          <a:xfrm>
            <a:off x="5907024" y="1440180"/>
            <a:ext cx="164592" cy="0"/>
          </a:xfrm>
          <a:prstGeom prst="line">
            <a:avLst/>
          </a:prstGeom>
          <a:noFill/>
          <a:ln w="19050">
            <a:solidFill>
              <a:srgbClr val="5B6B7B"/>
            </a:solidFill>
            <a:prstDash val="solid"/>
            <a:tailEnd type="triangle"/>
          </a:ln>
        </p:spPr>
      </p:sp>
      <p:sp>
        <p:nvSpPr>
          <p:cNvPr id="24" name="Shape 22"/>
          <p:cNvSpPr/>
          <p:nvPr/>
        </p:nvSpPr>
        <p:spPr>
          <a:xfrm>
            <a:off x="4645152" y="1965960"/>
            <a:ext cx="1261872" cy="1554480"/>
          </a:xfrm>
          <a:prstGeom prst="roundRect">
            <a:avLst>
              <a:gd name="adj" fmla="val 5072"/>
            </a:avLst>
          </a:prstGeom>
          <a:solidFill>
            <a:srgbClr val="F4F7FB"/>
          </a:solidFill>
          <a:ln w="12700">
            <a:solidFill>
              <a:srgbClr val="C9D3E0"/>
            </a:solidFill>
            <a:prstDash val="solid"/>
          </a:ln>
        </p:spPr>
      </p:sp>
      <p:sp>
        <p:nvSpPr>
          <p:cNvPr id="25" name="Text 23"/>
          <p:cNvSpPr txBox="1"/>
          <p:nvPr/>
        </p:nvSpPr>
        <p:spPr>
          <a:xfrm>
            <a:off x="4709160" y="2011680"/>
            <a:ext cx="1133856" cy="1463040"/>
          </a:xfrm>
          <a:prstGeom prst="rect">
            <a:avLst/>
          </a:prstGeom>
          <a:noFill/>
          <a:ln/>
        </p:spPr>
        <p:txBody>
          <a:bodyPr wrap="square" lIns="0" tIns="0" rIns="0" bIns="0" rtlCol="0" anchor="t"/>
          <a:lstStyle/>
          <a:p>
            <a:pPr indent="0" marL="0">
              <a:buNone/>
            </a:pPr>
            <a:r>
              <a:rPr lang="en-US" sz="850" dirty="0">
                <a:solidFill>
                  <a:srgbClr val="1F2A37"/>
                </a:solidFill>
                <a:latin typeface="Calibri" pitchFamily="34" charset="0"/>
                <a:ea typeface="Calibri" pitchFamily="34" charset="-122"/>
                <a:cs typeface="Calibri" pitchFamily="34" charset="-120"/>
              </a:rPr>
              <a:t>New version linked by Supersedes. The old version ends the day before the effective date.</a:t>
            </a:r>
            <a:endParaRPr lang="en-US" sz="850" dirty="0"/>
          </a:p>
        </p:txBody>
      </p:sp>
      <p:sp>
        <p:nvSpPr>
          <p:cNvPr id="26" name="Shape 24"/>
          <p:cNvSpPr/>
          <p:nvPr/>
        </p:nvSpPr>
        <p:spPr>
          <a:xfrm>
            <a:off x="6071616" y="1097280"/>
            <a:ext cx="1261872" cy="685800"/>
          </a:xfrm>
          <a:prstGeom prst="roundRect">
            <a:avLst>
              <a:gd name="adj" fmla="val 9333"/>
            </a:avLst>
          </a:prstGeom>
          <a:solidFill>
            <a:srgbClr val="0E8F8A"/>
          </a:solidFill>
          <a:ln w="12700">
            <a:solidFill>
              <a:srgbClr val="0E8F8A"/>
            </a:solidFill>
            <a:prstDash val="solid"/>
          </a:ln>
        </p:spPr>
      </p:sp>
      <p:sp>
        <p:nvSpPr>
          <p:cNvPr id="27" name="Text 25"/>
          <p:cNvSpPr txBox="1"/>
          <p:nvPr/>
        </p:nvSpPr>
        <p:spPr>
          <a:xfrm>
            <a:off x="6126480" y="1097280"/>
            <a:ext cx="115214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Expiring</a:t>
            </a:r>
            <a:endParaRPr lang="en-US" sz="900" dirty="0"/>
          </a:p>
          <a:p>
            <a:pPr algn="ctr" indent="0" marL="0">
              <a:buNone/>
            </a:pPr>
            <a:r>
              <a:rPr lang="en-US" sz="800" dirty="0">
                <a:solidFill>
                  <a:srgbClr val="CADCFC"/>
                </a:solidFill>
                <a:latin typeface="Calibri" pitchFamily="34" charset="0"/>
                <a:ea typeface="Calibri" pitchFamily="34" charset="-122"/>
                <a:cs typeface="Calibri" pitchFamily="34" charset="-120"/>
              </a:rPr>
              <a:t>USME</a:t>
            </a:r>
            <a:endParaRPr lang="en-US" sz="900" dirty="0"/>
          </a:p>
        </p:txBody>
      </p:sp>
      <p:sp>
        <p:nvSpPr>
          <p:cNvPr id="28" name="Shape 26"/>
          <p:cNvSpPr/>
          <p:nvPr/>
        </p:nvSpPr>
        <p:spPr>
          <a:xfrm>
            <a:off x="7333488" y="1440180"/>
            <a:ext cx="164592" cy="0"/>
          </a:xfrm>
          <a:prstGeom prst="line">
            <a:avLst/>
          </a:prstGeom>
          <a:noFill/>
          <a:ln w="19050">
            <a:solidFill>
              <a:srgbClr val="5B6B7B"/>
            </a:solidFill>
            <a:prstDash val="solid"/>
            <a:tailEnd type="triangle"/>
          </a:ln>
        </p:spPr>
      </p:sp>
      <p:sp>
        <p:nvSpPr>
          <p:cNvPr id="29" name="Shape 27"/>
          <p:cNvSpPr/>
          <p:nvPr/>
        </p:nvSpPr>
        <p:spPr>
          <a:xfrm>
            <a:off x="6071616" y="1965960"/>
            <a:ext cx="1261872" cy="1554480"/>
          </a:xfrm>
          <a:prstGeom prst="roundRect">
            <a:avLst>
              <a:gd name="adj" fmla="val 5072"/>
            </a:avLst>
          </a:prstGeom>
          <a:solidFill>
            <a:srgbClr val="F4F7FB"/>
          </a:solidFill>
          <a:ln w="12700">
            <a:solidFill>
              <a:srgbClr val="C9D3E0"/>
            </a:solidFill>
            <a:prstDash val="solid"/>
          </a:ln>
        </p:spPr>
      </p:sp>
      <p:sp>
        <p:nvSpPr>
          <p:cNvPr id="30" name="Text 28"/>
          <p:cNvSpPr txBox="1"/>
          <p:nvPr/>
        </p:nvSpPr>
        <p:spPr>
          <a:xfrm>
            <a:off x="6135624" y="2011680"/>
            <a:ext cx="1133856" cy="1463040"/>
          </a:xfrm>
          <a:prstGeom prst="rect">
            <a:avLst/>
          </a:prstGeom>
          <a:noFill/>
          <a:ln/>
        </p:spPr>
        <p:txBody>
          <a:bodyPr wrap="square" lIns="0" tIns="0" rIns="0" bIns="0" rtlCol="0" anchor="t"/>
          <a:lstStyle/>
          <a:p>
            <a:pPr indent="0" marL="0">
              <a:buNone/>
            </a:pPr>
            <a:r>
              <a:rPr lang="en-US" sz="850" dirty="0">
                <a:solidFill>
                  <a:srgbClr val="1F2A37"/>
                </a:solidFill>
                <a:latin typeface="Calibri" pitchFamily="34" charset="0"/>
                <a:ea typeface="Calibri" pitchFamily="34" charset="-122"/>
                <a:cs typeface="Calibri" pitchFamily="34" charset="-120"/>
              </a:rPr>
              <a:t>Alerts at 90, 60 and 30 days to the owner and the contracts group.</a:t>
            </a:r>
            <a:endParaRPr lang="en-US" sz="850" dirty="0"/>
          </a:p>
        </p:txBody>
      </p:sp>
      <p:sp>
        <p:nvSpPr>
          <p:cNvPr id="31" name="Shape 29"/>
          <p:cNvSpPr/>
          <p:nvPr/>
        </p:nvSpPr>
        <p:spPr>
          <a:xfrm>
            <a:off x="7498080" y="1097280"/>
            <a:ext cx="1261872" cy="685800"/>
          </a:xfrm>
          <a:prstGeom prst="roundRect">
            <a:avLst>
              <a:gd name="adj" fmla="val 9333"/>
            </a:avLst>
          </a:prstGeom>
          <a:solidFill>
            <a:srgbClr val="1B2A4A"/>
          </a:solidFill>
          <a:ln w="12700">
            <a:solidFill>
              <a:srgbClr val="1B2A4A"/>
            </a:solidFill>
            <a:prstDash val="solid"/>
          </a:ln>
        </p:spPr>
      </p:sp>
      <p:sp>
        <p:nvSpPr>
          <p:cNvPr id="32" name="Text 30"/>
          <p:cNvSpPr txBox="1"/>
          <p:nvPr/>
        </p:nvSpPr>
        <p:spPr>
          <a:xfrm>
            <a:off x="7552944" y="1097280"/>
            <a:ext cx="115214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Closed</a:t>
            </a:r>
            <a:endParaRPr lang="en-US" sz="900" dirty="0"/>
          </a:p>
          <a:p>
            <a:pPr algn="ctr" indent="0" marL="0">
              <a:buNone/>
            </a:pPr>
            <a:r>
              <a:rPr lang="en-US" sz="800" dirty="0">
                <a:solidFill>
                  <a:srgbClr val="CADCFC"/>
                </a:solidFill>
                <a:latin typeface="Calibri" pitchFamily="34" charset="0"/>
                <a:ea typeface="Calibri" pitchFamily="34" charset="-122"/>
                <a:cs typeface="Calibri" pitchFamily="34" charset="-120"/>
              </a:rPr>
              <a:t>Standard</a:t>
            </a:r>
            <a:endParaRPr lang="en-US" sz="900" dirty="0"/>
          </a:p>
        </p:txBody>
      </p:sp>
      <p:sp>
        <p:nvSpPr>
          <p:cNvPr id="33" name="Shape 31"/>
          <p:cNvSpPr/>
          <p:nvPr/>
        </p:nvSpPr>
        <p:spPr>
          <a:xfrm>
            <a:off x="7498080" y="1965960"/>
            <a:ext cx="1261872" cy="1554480"/>
          </a:xfrm>
          <a:prstGeom prst="roundRect">
            <a:avLst>
              <a:gd name="adj" fmla="val 5072"/>
            </a:avLst>
          </a:prstGeom>
          <a:solidFill>
            <a:srgbClr val="F4F7FB"/>
          </a:solidFill>
          <a:ln w="12700">
            <a:solidFill>
              <a:srgbClr val="C9D3E0"/>
            </a:solidFill>
            <a:prstDash val="solid"/>
          </a:ln>
        </p:spPr>
      </p:sp>
      <p:sp>
        <p:nvSpPr>
          <p:cNvPr id="34" name="Text 32"/>
          <p:cNvSpPr txBox="1"/>
          <p:nvPr/>
        </p:nvSpPr>
        <p:spPr>
          <a:xfrm>
            <a:off x="7562088" y="2011680"/>
            <a:ext cx="1133856" cy="1463040"/>
          </a:xfrm>
          <a:prstGeom prst="rect">
            <a:avLst/>
          </a:prstGeom>
          <a:noFill/>
          <a:ln/>
        </p:spPr>
        <p:txBody>
          <a:bodyPr wrap="square" lIns="0" tIns="0" rIns="0" bIns="0" rtlCol="0" anchor="t"/>
          <a:lstStyle/>
          <a:p>
            <a:pPr indent="0" marL="0">
              <a:buNone/>
            </a:pPr>
            <a:r>
              <a:rPr lang="en-US" sz="850" dirty="0">
                <a:solidFill>
                  <a:srgbClr val="1F2A37"/>
                </a:solidFill>
                <a:latin typeface="Calibri" pitchFamily="34" charset="0"/>
                <a:ea typeface="Calibri" pitchFamily="34" charset="-122"/>
                <a:cs typeface="Calibri" pitchFamily="34" charset="-120"/>
              </a:rPr>
              <a:t>Renewed, Expired or Terminated. Closed contracts pull no price.</a:t>
            </a:r>
            <a:endParaRPr lang="en-US" sz="850" dirty="0"/>
          </a:p>
        </p:txBody>
      </p:sp>
      <p:sp>
        <p:nvSpPr>
          <p:cNvPr id="35" name="Shape 33"/>
          <p:cNvSpPr/>
          <p:nvPr/>
        </p:nvSpPr>
        <p:spPr>
          <a:xfrm>
            <a:off x="365760" y="3749040"/>
            <a:ext cx="8412480" cy="685800"/>
          </a:xfrm>
          <a:prstGeom prst="roundRect">
            <a:avLst>
              <a:gd name="adj" fmla="val 9333"/>
            </a:avLst>
          </a:prstGeom>
          <a:solidFill>
            <a:srgbClr val="E4EEFB"/>
          </a:solidFill>
          <a:ln w="12700">
            <a:solidFill>
              <a:srgbClr val="E4EEFB"/>
            </a:solidFill>
            <a:prstDash val="solid"/>
          </a:ln>
        </p:spPr>
      </p:sp>
      <p:sp>
        <p:nvSpPr>
          <p:cNvPr id="36" name="Text 34"/>
          <p:cNvSpPr txBox="1"/>
          <p:nvPr/>
        </p:nvSpPr>
        <p:spPr>
          <a:xfrm>
            <a:off x="502920" y="3749040"/>
            <a:ext cx="8138160" cy="68580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Rule: </a:t>
            </a:r>
            <a:pPr indent="0" marL="0">
              <a:buNone/>
            </a:pPr>
            <a:r>
              <a:rPr lang="en-US" sz="1000" dirty="0">
                <a:solidFill>
                  <a:srgbClr val="1F2A37"/>
                </a:solidFill>
                <a:latin typeface="Calibri" pitchFamily="34" charset="0"/>
                <a:ea typeface="Calibri" pitchFamily="34" charset="-122"/>
                <a:cs typeface="Calibri" pitchFamily="34" charset="-120"/>
              </a:rPr>
              <a:t>an Activated contract is never edited in place. Price or date changes are made as an Amendment or a Renewal so every quote, order and invoice can be traced to the version in force on that date.</a:t>
            </a:r>
            <a:endParaRPr lang="en-US" sz="1000" dirty="0"/>
          </a:p>
        </p:txBody>
      </p:sp>
      <p:sp>
        <p:nvSpPr>
          <p:cNvPr id="37" name="Text 35"/>
          <p:cNvSpPr txBox="1"/>
          <p:nvPr/>
        </p:nvSpPr>
        <p:spPr>
          <a:xfrm>
            <a:off x="365760" y="452628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Navy = standard Salesforce status. Teal = USME addition.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Contract types</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Two record types on the standard Contract object. Both feed the same Trade Agreement structure.</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5</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737360"/>
                <a:gridCol w="3337560"/>
                <a:gridCol w="3337560"/>
              </a:tblGrid>
              <a:tr h="365760">
                <a:tc>
                  <a:txBody>
                    <a:bodyPr/>
                    <a:lstStyle/>
                    <a:p>
                      <a:pPr indent="0" marL="0">
                        <a:buNone/>
                      </a:pP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GPO Contract</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0B6FD6"/>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Customer Contract</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0E8F8A"/>
                    </a:solidFill>
                  </a:tcPr>
                </a:tc>
              </a:tr>
              <a:tr h="36576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Counterparty account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The GPO or IDN (for example Vizient, Premier)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The hospital or health system itself</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6576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Who it covers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Member hospitals through GPO Membership records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Only that account (and its child accounts if set)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6576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Tiers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Yes: tier by commitment or annual spend, one price book per tier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Optional: a single rate set, sometimes with term variants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6576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Price source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Trade Agreement lines under the tier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Trade Agreement lines under the contract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6576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Examples in USME price books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Vizient CE7073 and CE7782, Premier, Intalere, VGM</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Penn Medicine, Northwell, DaVita, Houston Methodist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6576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Equipment line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MME rental, BTS beds, sales (separate contracts or categories)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MME rental, BTS beds, sales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6576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Pricing lane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Contracted / GPO-IDN: governed at signing, no per-deal approval</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Contracted: same treatment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6576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Owner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Contracts team with Pricing</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Contracts team with the account owner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Contract data model</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Standard objects in navy, USME extensions in teal.</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6</a:t>
            </a:r>
            <a:endParaRPr lang="en-US" sz="800" dirty="0"/>
          </a:p>
        </p:txBody>
      </p:sp>
      <p:sp>
        <p:nvSpPr>
          <p:cNvPr id="6" name="Shape 4"/>
          <p:cNvSpPr/>
          <p:nvPr/>
        </p:nvSpPr>
        <p:spPr>
          <a:xfrm>
            <a:off x="365760" y="1051560"/>
            <a:ext cx="2194560" cy="868680"/>
          </a:xfrm>
          <a:prstGeom prst="roundRect">
            <a:avLst>
              <a:gd name="adj" fmla="val 7368"/>
            </a:avLst>
          </a:prstGeom>
          <a:solidFill>
            <a:srgbClr val="1B2A4A"/>
          </a:solidFill>
          <a:ln w="12700">
            <a:solidFill>
              <a:srgbClr val="1B2A4A"/>
            </a:solidFill>
            <a:prstDash val="solid"/>
          </a:ln>
        </p:spPr>
      </p:sp>
      <p:sp>
        <p:nvSpPr>
          <p:cNvPr id="7" name="Text 5"/>
          <p:cNvSpPr txBox="1"/>
          <p:nvPr/>
        </p:nvSpPr>
        <p:spPr>
          <a:xfrm>
            <a:off x="457200" y="1051560"/>
            <a:ext cx="2011680" cy="8686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Account</a:t>
            </a:r>
            <a:endParaRPr lang="en-US" sz="900" dirty="0"/>
          </a:p>
          <a:p>
            <a:pPr indent="0" marL="0">
              <a:buNone/>
            </a:pPr>
            <a:r>
              <a:rPr lang="en-US" sz="800" dirty="0">
                <a:solidFill>
                  <a:srgbClr val="DCE6F5"/>
                </a:solidFill>
                <a:latin typeface="Calibri" pitchFamily="34" charset="0"/>
                <a:ea typeface="Calibri" pitchFamily="34" charset="-122"/>
                <a:cs typeface="Calibri" pitchFamily="34" charset="-120"/>
              </a:rPr>
              <a:t>Hospital, IDN or GPO. Parent hierarchy for IDNs.</a:t>
            </a:r>
            <a:endParaRPr lang="en-US" sz="900" dirty="0"/>
          </a:p>
        </p:txBody>
      </p:sp>
      <p:sp>
        <p:nvSpPr>
          <p:cNvPr id="8" name="Shape 6"/>
          <p:cNvSpPr/>
          <p:nvPr/>
        </p:nvSpPr>
        <p:spPr>
          <a:xfrm>
            <a:off x="3566160" y="1051560"/>
            <a:ext cx="2194560" cy="868680"/>
          </a:xfrm>
          <a:prstGeom prst="roundRect">
            <a:avLst>
              <a:gd name="adj" fmla="val 7368"/>
            </a:avLst>
          </a:prstGeom>
          <a:solidFill>
            <a:srgbClr val="0E8F8A"/>
          </a:solidFill>
          <a:ln w="12700">
            <a:solidFill>
              <a:srgbClr val="0E8F8A"/>
            </a:solidFill>
            <a:prstDash val="solid"/>
          </a:ln>
        </p:spPr>
      </p:sp>
      <p:sp>
        <p:nvSpPr>
          <p:cNvPr id="9" name="Text 7"/>
          <p:cNvSpPr txBox="1"/>
          <p:nvPr/>
        </p:nvSpPr>
        <p:spPr>
          <a:xfrm>
            <a:off x="3657600" y="1051560"/>
            <a:ext cx="2011680" cy="8686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GPO Membership</a:t>
            </a:r>
            <a:endParaRPr lang="en-US" sz="900" dirty="0"/>
          </a:p>
          <a:p>
            <a:pPr indent="0" marL="0">
              <a:buNone/>
            </a:pPr>
            <a:r>
              <a:rPr lang="en-US" sz="800" dirty="0">
                <a:solidFill>
                  <a:srgbClr val="DCE6F5"/>
                </a:solidFill>
                <a:latin typeface="Calibri" pitchFamily="34" charset="0"/>
                <a:ea typeface="Calibri" pitchFamily="34" charset="-122"/>
                <a:cs typeface="Calibri" pitchFamily="34" charset="-120"/>
              </a:rPr>
              <a:t>Member account, GPO tier, member ID, start and end dates, status</a:t>
            </a:r>
            <a:endParaRPr lang="en-US" sz="900" dirty="0"/>
          </a:p>
        </p:txBody>
      </p:sp>
      <p:sp>
        <p:nvSpPr>
          <p:cNvPr id="10" name="Shape 8"/>
          <p:cNvSpPr/>
          <p:nvPr/>
        </p:nvSpPr>
        <p:spPr>
          <a:xfrm>
            <a:off x="6492240" y="1051560"/>
            <a:ext cx="2286000" cy="868680"/>
          </a:xfrm>
          <a:prstGeom prst="roundRect">
            <a:avLst>
              <a:gd name="adj" fmla="val 7368"/>
            </a:avLst>
          </a:prstGeom>
          <a:solidFill>
            <a:srgbClr val="0E8F8A"/>
          </a:solidFill>
          <a:ln w="12700">
            <a:solidFill>
              <a:srgbClr val="0E8F8A"/>
            </a:solidFill>
            <a:prstDash val="solid"/>
          </a:ln>
        </p:spPr>
      </p:sp>
      <p:sp>
        <p:nvSpPr>
          <p:cNvPr id="11" name="Text 9"/>
          <p:cNvSpPr txBox="1"/>
          <p:nvPr/>
        </p:nvSpPr>
        <p:spPr>
          <a:xfrm>
            <a:off x="6583680" y="1051560"/>
            <a:ext cx="2103120" cy="8686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GPO Tier</a:t>
            </a:r>
            <a:endParaRPr lang="en-US" sz="900" dirty="0"/>
          </a:p>
          <a:p>
            <a:pPr indent="0" marL="0">
              <a:buNone/>
            </a:pPr>
            <a:r>
              <a:rPr lang="en-US" sz="800" dirty="0">
                <a:solidFill>
                  <a:srgbClr val="DCE6F5"/>
                </a:solidFill>
                <a:latin typeface="Calibri" pitchFamily="34" charset="0"/>
                <a:ea typeface="Calibri" pitchFamily="34" charset="-122"/>
                <a:cs typeface="Calibri" pitchFamily="34" charset="-120"/>
              </a:rPr>
              <a:t>Name, qualification (commitment or annual spend), price book</a:t>
            </a:r>
            <a:endParaRPr lang="en-US" sz="900" dirty="0"/>
          </a:p>
        </p:txBody>
      </p:sp>
      <p:sp>
        <p:nvSpPr>
          <p:cNvPr id="12" name="Shape 10"/>
          <p:cNvSpPr/>
          <p:nvPr/>
        </p:nvSpPr>
        <p:spPr>
          <a:xfrm>
            <a:off x="365760" y="2377440"/>
            <a:ext cx="2194560" cy="868680"/>
          </a:xfrm>
          <a:prstGeom prst="roundRect">
            <a:avLst>
              <a:gd name="adj" fmla="val 7368"/>
            </a:avLst>
          </a:prstGeom>
          <a:solidFill>
            <a:srgbClr val="1B2A4A"/>
          </a:solidFill>
          <a:ln w="12700">
            <a:solidFill>
              <a:srgbClr val="1B2A4A"/>
            </a:solidFill>
            <a:prstDash val="solid"/>
          </a:ln>
        </p:spPr>
      </p:sp>
      <p:sp>
        <p:nvSpPr>
          <p:cNvPr id="13" name="Text 11"/>
          <p:cNvSpPr txBox="1"/>
          <p:nvPr/>
        </p:nvSpPr>
        <p:spPr>
          <a:xfrm>
            <a:off x="457200" y="2377440"/>
            <a:ext cx="2011680" cy="8686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Contract (Customer)</a:t>
            </a:r>
            <a:endParaRPr lang="en-US" sz="900" dirty="0"/>
          </a:p>
          <a:p>
            <a:pPr indent="0" marL="0">
              <a:buNone/>
            </a:pPr>
            <a:r>
              <a:rPr lang="en-US" sz="800" dirty="0">
                <a:solidFill>
                  <a:srgbClr val="DCE6F5"/>
                </a:solidFill>
                <a:latin typeface="Calibri" pitchFamily="34" charset="0"/>
                <a:ea typeface="Calibri" pitchFamily="34" charset="-122"/>
                <a:cs typeface="Calibri" pitchFamily="34" charset="-120"/>
              </a:rPr>
              <a:t>Standard Contract, record type Customer. Dates, status, category, price book.</a:t>
            </a:r>
            <a:endParaRPr lang="en-US" sz="900" dirty="0"/>
          </a:p>
        </p:txBody>
      </p:sp>
      <p:sp>
        <p:nvSpPr>
          <p:cNvPr id="14" name="Shape 12"/>
          <p:cNvSpPr/>
          <p:nvPr/>
        </p:nvSpPr>
        <p:spPr>
          <a:xfrm>
            <a:off x="6492240" y="2377440"/>
            <a:ext cx="2286000" cy="868680"/>
          </a:xfrm>
          <a:prstGeom prst="roundRect">
            <a:avLst>
              <a:gd name="adj" fmla="val 7368"/>
            </a:avLst>
          </a:prstGeom>
          <a:solidFill>
            <a:srgbClr val="1B2A4A"/>
          </a:solidFill>
          <a:ln w="12700">
            <a:solidFill>
              <a:srgbClr val="1B2A4A"/>
            </a:solidFill>
            <a:prstDash val="solid"/>
          </a:ln>
        </p:spPr>
      </p:sp>
      <p:sp>
        <p:nvSpPr>
          <p:cNvPr id="15" name="Text 13"/>
          <p:cNvSpPr txBox="1"/>
          <p:nvPr/>
        </p:nvSpPr>
        <p:spPr>
          <a:xfrm>
            <a:off x="6583680" y="2377440"/>
            <a:ext cx="2103120" cy="8686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Contract (GPO Master)</a:t>
            </a:r>
            <a:endParaRPr lang="en-US" sz="900" dirty="0"/>
          </a:p>
          <a:p>
            <a:pPr indent="0" marL="0">
              <a:buNone/>
            </a:pPr>
            <a:r>
              <a:rPr lang="en-US" sz="800" dirty="0">
                <a:solidFill>
                  <a:srgbClr val="DCE6F5"/>
                </a:solidFill>
                <a:latin typeface="Calibri" pitchFamily="34" charset="0"/>
                <a:ea typeface="Calibri" pitchFamily="34" charset="-122"/>
                <a:cs typeface="Calibri" pitchFamily="34" charset="-120"/>
              </a:rPr>
              <a:t>Standard Contract, record type GPO. Dates, status, category, price book.</a:t>
            </a:r>
            <a:endParaRPr lang="en-US" sz="900" dirty="0"/>
          </a:p>
        </p:txBody>
      </p:sp>
      <p:sp>
        <p:nvSpPr>
          <p:cNvPr id="16" name="Shape 14"/>
          <p:cNvSpPr/>
          <p:nvPr/>
        </p:nvSpPr>
        <p:spPr>
          <a:xfrm>
            <a:off x="3566160" y="3703320"/>
            <a:ext cx="2194560" cy="868680"/>
          </a:xfrm>
          <a:prstGeom prst="roundRect">
            <a:avLst>
              <a:gd name="adj" fmla="val 7368"/>
            </a:avLst>
          </a:prstGeom>
          <a:solidFill>
            <a:srgbClr val="0E8F8A"/>
          </a:solidFill>
          <a:ln w="12700">
            <a:solidFill>
              <a:srgbClr val="0E8F8A"/>
            </a:solidFill>
            <a:prstDash val="solid"/>
          </a:ln>
        </p:spPr>
      </p:sp>
      <p:sp>
        <p:nvSpPr>
          <p:cNvPr id="17" name="Text 15"/>
          <p:cNvSpPr txBox="1"/>
          <p:nvPr/>
        </p:nvSpPr>
        <p:spPr>
          <a:xfrm>
            <a:off x="3657600" y="3703320"/>
            <a:ext cx="2011680" cy="8686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Trade Agreement + Lines</a:t>
            </a:r>
            <a:endParaRPr lang="en-US" sz="900" dirty="0"/>
          </a:p>
          <a:p>
            <a:pPr indent="0" marL="0">
              <a:buNone/>
            </a:pPr>
            <a:r>
              <a:rPr lang="en-US" sz="800" dirty="0">
                <a:solidFill>
                  <a:srgbClr val="DCE6F5"/>
                </a:solidFill>
                <a:latin typeface="Calibri" pitchFamily="34" charset="0"/>
                <a:ea typeface="Calibri" pitchFamily="34" charset="-122"/>
                <a:cs typeface="Calibri" pitchFamily="34" charset="-120"/>
              </a:rPr>
              <a:t>Item, rate type (daily, monthly, 6, 12 month), price, start and end dates</a:t>
            </a:r>
            <a:endParaRPr lang="en-US" sz="900" dirty="0"/>
          </a:p>
        </p:txBody>
      </p:sp>
      <p:sp>
        <p:nvSpPr>
          <p:cNvPr id="18" name="Shape 16"/>
          <p:cNvSpPr/>
          <p:nvPr/>
        </p:nvSpPr>
        <p:spPr>
          <a:xfrm>
            <a:off x="2560320" y="1485900"/>
            <a:ext cx="1005840" cy="0"/>
          </a:xfrm>
          <a:prstGeom prst="line">
            <a:avLst/>
          </a:prstGeom>
          <a:noFill/>
          <a:ln w="19050">
            <a:solidFill>
              <a:srgbClr val="5B6B7B"/>
            </a:solidFill>
            <a:prstDash val="solid"/>
            <a:tailEnd type="triangle"/>
          </a:ln>
        </p:spPr>
      </p:sp>
      <p:sp>
        <p:nvSpPr>
          <p:cNvPr id="19" name="Text 17"/>
          <p:cNvSpPr txBox="1"/>
          <p:nvPr/>
        </p:nvSpPr>
        <p:spPr>
          <a:xfrm>
            <a:off x="2606040" y="1280160"/>
            <a:ext cx="914400" cy="182880"/>
          </a:xfrm>
          <a:prstGeom prst="rect">
            <a:avLst/>
          </a:prstGeom>
          <a:noFill/>
          <a:ln/>
        </p:spPr>
        <p:txBody>
          <a:bodyPr wrap="square" lIns="0" tIns="0" rIns="0" bIns="0" rtlCol="0" anchor="ctr"/>
          <a:lstStyle/>
          <a:p>
            <a:pPr indent="0" marL="0">
              <a:buNone/>
            </a:pPr>
            <a:r>
              <a:rPr lang="en-US" sz="800" i="1" dirty="0">
                <a:solidFill>
                  <a:srgbClr val="5B6B7B"/>
                </a:solidFill>
                <a:latin typeface="Calibri" pitchFamily="34" charset="0"/>
                <a:ea typeface="Calibri" pitchFamily="34" charset="-122"/>
                <a:cs typeface="Calibri" pitchFamily="34" charset="-120"/>
              </a:rPr>
              <a:t>1 : many</a:t>
            </a:r>
            <a:endParaRPr lang="en-US" sz="800" dirty="0"/>
          </a:p>
        </p:txBody>
      </p:sp>
      <p:sp>
        <p:nvSpPr>
          <p:cNvPr id="20" name="Shape 18"/>
          <p:cNvSpPr/>
          <p:nvPr/>
        </p:nvSpPr>
        <p:spPr>
          <a:xfrm>
            <a:off x="5760720" y="1485900"/>
            <a:ext cx="731520" cy="0"/>
          </a:xfrm>
          <a:prstGeom prst="line">
            <a:avLst/>
          </a:prstGeom>
          <a:noFill/>
          <a:ln w="19050">
            <a:solidFill>
              <a:srgbClr val="5B6B7B"/>
            </a:solidFill>
            <a:prstDash val="solid"/>
            <a:tailEnd type="triangle"/>
          </a:ln>
        </p:spPr>
      </p:sp>
      <p:sp>
        <p:nvSpPr>
          <p:cNvPr id="21" name="Text 19"/>
          <p:cNvSpPr txBox="1"/>
          <p:nvPr/>
        </p:nvSpPr>
        <p:spPr>
          <a:xfrm>
            <a:off x="5806440" y="1280160"/>
            <a:ext cx="731520" cy="182880"/>
          </a:xfrm>
          <a:prstGeom prst="rect">
            <a:avLst/>
          </a:prstGeom>
          <a:noFill/>
          <a:ln/>
        </p:spPr>
        <p:txBody>
          <a:bodyPr wrap="square" lIns="0" tIns="0" rIns="0" bIns="0" rtlCol="0" anchor="ctr"/>
          <a:lstStyle/>
          <a:p>
            <a:pPr indent="0" marL="0">
              <a:buNone/>
            </a:pPr>
            <a:r>
              <a:rPr lang="en-US" sz="800" i="1" dirty="0">
                <a:solidFill>
                  <a:srgbClr val="5B6B7B"/>
                </a:solidFill>
                <a:latin typeface="Calibri" pitchFamily="34" charset="0"/>
                <a:ea typeface="Calibri" pitchFamily="34" charset="-122"/>
                <a:cs typeface="Calibri" pitchFamily="34" charset="-120"/>
              </a:rPr>
              <a:t>many : 1</a:t>
            </a:r>
            <a:endParaRPr lang="en-US" sz="800" dirty="0"/>
          </a:p>
        </p:txBody>
      </p:sp>
      <p:sp>
        <p:nvSpPr>
          <p:cNvPr id="22" name="Shape 20"/>
          <p:cNvSpPr/>
          <p:nvPr/>
        </p:nvSpPr>
        <p:spPr>
          <a:xfrm>
            <a:off x="7635240" y="1920240"/>
            <a:ext cx="0" cy="457200"/>
          </a:xfrm>
          <a:prstGeom prst="line">
            <a:avLst/>
          </a:prstGeom>
          <a:noFill/>
          <a:ln w="19050">
            <a:solidFill>
              <a:srgbClr val="5B6B7B"/>
            </a:solidFill>
            <a:prstDash val="solid"/>
            <a:tailEnd type="triangle"/>
          </a:ln>
        </p:spPr>
      </p:sp>
      <p:sp>
        <p:nvSpPr>
          <p:cNvPr id="23" name="Shape 21"/>
          <p:cNvSpPr/>
          <p:nvPr/>
        </p:nvSpPr>
        <p:spPr>
          <a:xfrm>
            <a:off x="1463040" y="1920240"/>
            <a:ext cx="0" cy="457200"/>
          </a:xfrm>
          <a:prstGeom prst="line">
            <a:avLst/>
          </a:prstGeom>
          <a:noFill/>
          <a:ln w="19050">
            <a:solidFill>
              <a:srgbClr val="5B6B7B"/>
            </a:solidFill>
            <a:prstDash val="solid"/>
            <a:tailEnd type="triangle"/>
          </a:ln>
        </p:spPr>
      </p:sp>
      <p:sp>
        <p:nvSpPr>
          <p:cNvPr id="24" name="Shape 22"/>
          <p:cNvSpPr/>
          <p:nvPr/>
        </p:nvSpPr>
        <p:spPr>
          <a:xfrm>
            <a:off x="1463040" y="3246120"/>
            <a:ext cx="0" cy="886968"/>
          </a:xfrm>
          <a:prstGeom prst="line">
            <a:avLst/>
          </a:prstGeom>
          <a:noFill/>
          <a:ln w="19050">
            <a:solidFill>
              <a:srgbClr val="5B6B7B"/>
            </a:solidFill>
            <a:prstDash val="solid"/>
          </a:ln>
        </p:spPr>
      </p:sp>
      <p:sp>
        <p:nvSpPr>
          <p:cNvPr id="25" name="Shape 23"/>
          <p:cNvSpPr/>
          <p:nvPr/>
        </p:nvSpPr>
        <p:spPr>
          <a:xfrm>
            <a:off x="1463040" y="4133088"/>
            <a:ext cx="2103120" cy="0"/>
          </a:xfrm>
          <a:prstGeom prst="line">
            <a:avLst/>
          </a:prstGeom>
          <a:noFill/>
          <a:ln w="19050">
            <a:solidFill>
              <a:srgbClr val="5B6B7B"/>
            </a:solidFill>
            <a:prstDash val="solid"/>
            <a:tailEnd type="triangle"/>
          </a:ln>
        </p:spPr>
      </p:sp>
      <p:sp>
        <p:nvSpPr>
          <p:cNvPr id="26" name="Shape 24"/>
          <p:cNvSpPr/>
          <p:nvPr/>
        </p:nvSpPr>
        <p:spPr>
          <a:xfrm>
            <a:off x="7635240" y="3246120"/>
            <a:ext cx="0" cy="886968"/>
          </a:xfrm>
          <a:prstGeom prst="line">
            <a:avLst/>
          </a:prstGeom>
          <a:noFill/>
          <a:ln w="19050">
            <a:solidFill>
              <a:srgbClr val="5B6B7B"/>
            </a:solidFill>
            <a:prstDash val="solid"/>
          </a:ln>
        </p:spPr>
      </p:sp>
      <p:sp>
        <p:nvSpPr>
          <p:cNvPr id="27" name="Shape 25"/>
          <p:cNvSpPr/>
          <p:nvPr/>
        </p:nvSpPr>
        <p:spPr>
          <a:xfrm flipH="1">
            <a:off x="5760720" y="4133088"/>
            <a:ext cx="1874520" cy="0"/>
          </a:xfrm>
          <a:prstGeom prst="line">
            <a:avLst/>
          </a:prstGeom>
          <a:noFill/>
          <a:ln w="19050">
            <a:solidFill>
              <a:srgbClr val="5B6B7B"/>
            </a:solidFill>
            <a:prstDash val="solid"/>
            <a:tailEnd type="triangle"/>
          </a:ln>
        </p:spPr>
      </p:sp>
      <p:sp>
        <p:nvSpPr>
          <p:cNvPr id="28" name="Text 26"/>
          <p:cNvSpPr txBox="1"/>
          <p:nvPr/>
        </p:nvSpPr>
        <p:spPr>
          <a:xfrm>
            <a:off x="6492240" y="2011680"/>
            <a:ext cx="2286000" cy="182880"/>
          </a:xfrm>
          <a:prstGeom prst="rect">
            <a:avLst/>
          </a:prstGeom>
          <a:noFill/>
          <a:ln/>
        </p:spPr>
        <p:txBody>
          <a:bodyPr wrap="square" lIns="0" tIns="0" rIns="0" bIns="0" rtlCol="0" anchor="ctr"/>
          <a:lstStyle/>
          <a:p>
            <a:pPr algn="r" indent="0" marL="0">
              <a:buNone/>
            </a:pPr>
            <a:r>
              <a:rPr lang="en-US" sz="750" i="1" dirty="0">
                <a:solidFill>
                  <a:srgbClr val="5B6B7B"/>
                </a:solidFill>
                <a:latin typeface="Calibri" pitchFamily="34" charset="0"/>
                <a:ea typeface="Calibri" pitchFamily="34" charset="-122"/>
                <a:cs typeface="Calibri" pitchFamily="34" charset="-120"/>
              </a:rPr>
              <a:t>A tier has one GPO contract</a:t>
            </a:r>
            <a:endParaRPr lang="en-US" sz="750" dirty="0"/>
          </a:p>
        </p:txBody>
      </p:sp>
      <p:sp>
        <p:nvSpPr>
          <p:cNvPr id="29" name="Shape 27"/>
          <p:cNvSpPr/>
          <p:nvPr/>
        </p:nvSpPr>
        <p:spPr>
          <a:xfrm>
            <a:off x="3566160" y="2331720"/>
            <a:ext cx="2194560" cy="1005840"/>
          </a:xfrm>
          <a:prstGeom prst="roundRect">
            <a:avLst>
              <a:gd name="adj" fmla="val 6364"/>
            </a:avLst>
          </a:prstGeom>
          <a:solidFill>
            <a:srgbClr val="FCEFD9"/>
          </a:solidFill>
          <a:ln w="12700">
            <a:solidFill>
              <a:srgbClr val="D98200"/>
            </a:solidFill>
            <a:prstDash val="solid"/>
          </a:ln>
        </p:spPr>
      </p:sp>
      <p:sp>
        <p:nvSpPr>
          <p:cNvPr id="30" name="Text 28"/>
          <p:cNvSpPr txBox="1"/>
          <p:nvPr/>
        </p:nvSpPr>
        <p:spPr>
          <a:xfrm>
            <a:off x="3657600" y="2331720"/>
            <a:ext cx="2011680" cy="1005840"/>
          </a:xfrm>
          <a:prstGeom prst="rect">
            <a:avLst/>
          </a:prstGeom>
          <a:noFill/>
          <a:ln/>
        </p:spPr>
        <p:txBody>
          <a:bodyPr wrap="square" lIns="0" tIns="0" rIns="0" bIns="0" rtlCol="0" anchor="ctr"/>
          <a:lstStyle/>
          <a:p>
            <a:pPr indent="0" marL="0">
              <a:buNone/>
            </a:pPr>
            <a:r>
              <a:rPr lang="en-US" sz="850" dirty="0">
                <a:solidFill>
                  <a:srgbClr val="1F2A37"/>
                </a:solidFill>
                <a:latin typeface="Calibri" pitchFamily="34" charset="0"/>
                <a:ea typeface="Calibri" pitchFamily="34" charset="-122"/>
                <a:cs typeface="Calibri" pitchFamily="34" charset="-120"/>
              </a:rPr>
              <a:t>Why the extension: a standard Contract has one Account and no lines, so members, tiers and item prices need their own objects.</a:t>
            </a:r>
            <a:endParaRPr lang="en-US" sz="850" dirty="0"/>
          </a:p>
        </p:txBody>
      </p:sp>
      <p:sp>
        <p:nvSpPr>
          <p:cNvPr id="31" name="Text 29"/>
          <p:cNvSpPr txBox="1"/>
          <p:nvPr/>
        </p:nvSpPr>
        <p:spPr>
          <a:xfrm>
            <a:off x="3566160" y="3383280"/>
            <a:ext cx="2194560" cy="274320"/>
          </a:xfrm>
          <a:prstGeom prst="rect">
            <a:avLst/>
          </a:prstGeom>
          <a:noFill/>
          <a:ln/>
        </p:spPr>
        <p:txBody>
          <a:bodyPr wrap="square" lIns="0" tIns="0" rIns="0" bIns="0" rtlCol="0" anchor="ctr"/>
          <a:lstStyle/>
          <a:p>
            <a:pPr algn="ctr" indent="0" marL="0">
              <a:buNone/>
            </a:pPr>
            <a:r>
              <a:rPr lang="en-US" sz="800" dirty="0">
                <a:solidFill>
                  <a:srgbClr val="5B6B7B"/>
                </a:solidFill>
                <a:latin typeface="Calibri" pitchFamily="34" charset="0"/>
                <a:ea typeface="Calibri" pitchFamily="34" charset="-122"/>
                <a:cs typeface="Calibri" pitchFamily="34" charset="-120"/>
              </a:rPr>
              <a:t>Contract also carries Supersedes (self lookup).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Setting up a GPO agreement and enrolling members</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Six steps. The first four are done once per agreement, the last two per member.</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7</a:t>
            </a:r>
            <a:endParaRPr lang="en-US" sz="800" dirty="0"/>
          </a:p>
        </p:txBody>
      </p:sp>
      <p:sp>
        <p:nvSpPr>
          <p:cNvPr id="6" name="Shape 4"/>
          <p:cNvSpPr/>
          <p:nvPr/>
        </p:nvSpPr>
        <p:spPr>
          <a:xfrm>
            <a:off x="365760" y="1051560"/>
            <a:ext cx="1261872" cy="640080"/>
          </a:xfrm>
          <a:prstGeom prst="roundRect">
            <a:avLst>
              <a:gd name="adj" fmla="val 10000"/>
            </a:avLst>
          </a:prstGeom>
          <a:solidFill>
            <a:srgbClr val="0B6FD6"/>
          </a:solidFill>
          <a:ln w="12700">
            <a:solidFill>
              <a:srgbClr val="0B6FD6"/>
            </a:solidFill>
            <a:prstDash val="solid"/>
          </a:ln>
        </p:spPr>
      </p:sp>
      <p:sp>
        <p:nvSpPr>
          <p:cNvPr id="7" name="Text 5"/>
          <p:cNvSpPr txBox="1"/>
          <p:nvPr/>
        </p:nvSpPr>
        <p:spPr>
          <a:xfrm>
            <a:off x="420624" y="1051560"/>
            <a:ext cx="115214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GPO agreement signed</a:t>
            </a:r>
            <a:endParaRPr lang="en-US" sz="900" dirty="0"/>
          </a:p>
        </p:txBody>
      </p:sp>
      <p:sp>
        <p:nvSpPr>
          <p:cNvPr id="8" name="Shape 6"/>
          <p:cNvSpPr/>
          <p:nvPr/>
        </p:nvSpPr>
        <p:spPr>
          <a:xfrm>
            <a:off x="1627632" y="1371600"/>
            <a:ext cx="164592" cy="0"/>
          </a:xfrm>
          <a:prstGeom prst="line">
            <a:avLst/>
          </a:prstGeom>
          <a:noFill/>
          <a:ln w="19050">
            <a:solidFill>
              <a:srgbClr val="5B6B7B"/>
            </a:solidFill>
            <a:prstDash val="solid"/>
            <a:tailEnd type="triangle"/>
          </a:ln>
        </p:spPr>
      </p:sp>
      <p:sp>
        <p:nvSpPr>
          <p:cNvPr id="9" name="Shape 7"/>
          <p:cNvSpPr/>
          <p:nvPr/>
        </p:nvSpPr>
        <p:spPr>
          <a:xfrm>
            <a:off x="365760" y="1828800"/>
            <a:ext cx="1261872" cy="1783080"/>
          </a:xfrm>
          <a:prstGeom prst="roundRect">
            <a:avLst>
              <a:gd name="adj" fmla="val 5072"/>
            </a:avLst>
          </a:prstGeom>
          <a:solidFill>
            <a:srgbClr val="F4F7FB"/>
          </a:solidFill>
          <a:ln w="12700">
            <a:solidFill>
              <a:srgbClr val="C9D3E0"/>
            </a:solidFill>
            <a:prstDash val="solid"/>
          </a:ln>
        </p:spPr>
      </p:sp>
      <p:sp>
        <p:nvSpPr>
          <p:cNvPr id="10" name="Text 8"/>
          <p:cNvSpPr txBox="1"/>
          <p:nvPr/>
        </p:nvSpPr>
        <p:spPr>
          <a:xfrm>
            <a:off x="429768" y="1874520"/>
            <a:ext cx="1133856" cy="1691640"/>
          </a:xfrm>
          <a:prstGeom prst="rect">
            <a:avLst/>
          </a:prstGeom>
          <a:noFill/>
          <a:ln/>
        </p:spPr>
        <p:txBody>
          <a:bodyPr wrap="square" lIns="0" tIns="0" rIns="0" bIns="0" rtlCol="0" anchor="t"/>
          <a:lstStyle/>
          <a:p>
            <a:pPr indent="0" marL="0">
              <a:buNone/>
            </a:pPr>
            <a:r>
              <a:rPr lang="en-US" sz="900" b="1" dirty="0">
                <a:solidFill>
                  <a:srgbClr val="0B6FD6"/>
                </a:solidFill>
                <a:latin typeface="Calibri" pitchFamily="34" charset="0"/>
                <a:ea typeface="Calibri" pitchFamily="34" charset="-122"/>
                <a:cs typeface="Calibri" pitchFamily="34" charset="-120"/>
              </a:rPr>
              <a:t>Contracts team</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The signed agreement and its price schedules are received and filed on the GPO account.</a:t>
            </a:r>
            <a:endParaRPr lang="en-US" sz="900" dirty="0"/>
          </a:p>
        </p:txBody>
      </p:sp>
      <p:sp>
        <p:nvSpPr>
          <p:cNvPr id="11" name="Shape 9"/>
          <p:cNvSpPr/>
          <p:nvPr/>
        </p:nvSpPr>
        <p:spPr>
          <a:xfrm>
            <a:off x="1792224" y="1051560"/>
            <a:ext cx="1261872" cy="640080"/>
          </a:xfrm>
          <a:prstGeom prst="roundRect">
            <a:avLst>
              <a:gd name="adj" fmla="val 10000"/>
            </a:avLst>
          </a:prstGeom>
          <a:solidFill>
            <a:srgbClr val="0B6FD6"/>
          </a:solidFill>
          <a:ln w="12700">
            <a:solidFill>
              <a:srgbClr val="0B6FD6"/>
            </a:solidFill>
            <a:prstDash val="solid"/>
          </a:ln>
        </p:spPr>
      </p:sp>
      <p:sp>
        <p:nvSpPr>
          <p:cNvPr id="12" name="Text 10"/>
          <p:cNvSpPr txBox="1"/>
          <p:nvPr/>
        </p:nvSpPr>
        <p:spPr>
          <a:xfrm>
            <a:off x="1847088" y="1051560"/>
            <a:ext cx="115214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Create GPO Contract</a:t>
            </a:r>
            <a:endParaRPr lang="en-US" sz="900" dirty="0"/>
          </a:p>
        </p:txBody>
      </p:sp>
      <p:sp>
        <p:nvSpPr>
          <p:cNvPr id="13" name="Shape 11"/>
          <p:cNvSpPr/>
          <p:nvPr/>
        </p:nvSpPr>
        <p:spPr>
          <a:xfrm>
            <a:off x="3054096" y="1371600"/>
            <a:ext cx="164592" cy="0"/>
          </a:xfrm>
          <a:prstGeom prst="line">
            <a:avLst/>
          </a:prstGeom>
          <a:noFill/>
          <a:ln w="19050">
            <a:solidFill>
              <a:srgbClr val="5B6B7B"/>
            </a:solidFill>
            <a:prstDash val="solid"/>
            <a:tailEnd type="triangle"/>
          </a:ln>
        </p:spPr>
      </p:sp>
      <p:sp>
        <p:nvSpPr>
          <p:cNvPr id="14" name="Shape 12"/>
          <p:cNvSpPr/>
          <p:nvPr/>
        </p:nvSpPr>
        <p:spPr>
          <a:xfrm>
            <a:off x="1792224" y="1828800"/>
            <a:ext cx="1261872" cy="1783080"/>
          </a:xfrm>
          <a:prstGeom prst="roundRect">
            <a:avLst>
              <a:gd name="adj" fmla="val 5072"/>
            </a:avLst>
          </a:prstGeom>
          <a:solidFill>
            <a:srgbClr val="F4F7FB"/>
          </a:solidFill>
          <a:ln w="12700">
            <a:solidFill>
              <a:srgbClr val="C9D3E0"/>
            </a:solidFill>
            <a:prstDash val="solid"/>
          </a:ln>
        </p:spPr>
      </p:sp>
      <p:sp>
        <p:nvSpPr>
          <p:cNvPr id="15" name="Text 13"/>
          <p:cNvSpPr txBox="1"/>
          <p:nvPr/>
        </p:nvSpPr>
        <p:spPr>
          <a:xfrm>
            <a:off x="1856232" y="1874520"/>
            <a:ext cx="1133856" cy="1691640"/>
          </a:xfrm>
          <a:prstGeom prst="rect">
            <a:avLst/>
          </a:prstGeom>
          <a:noFill/>
          <a:ln/>
        </p:spPr>
        <p:txBody>
          <a:bodyPr wrap="square" lIns="0" tIns="0" rIns="0" bIns="0" rtlCol="0" anchor="t"/>
          <a:lstStyle/>
          <a:p>
            <a:pPr indent="0" marL="0">
              <a:buNone/>
            </a:pPr>
            <a:r>
              <a:rPr lang="en-US" sz="900" b="1" dirty="0">
                <a:solidFill>
                  <a:srgbClr val="0B6FD6"/>
                </a:solidFill>
                <a:latin typeface="Calibri" pitchFamily="34" charset="0"/>
                <a:ea typeface="Calibri" pitchFamily="34" charset="-122"/>
                <a:cs typeface="Calibri" pitchFamily="34" charset="-120"/>
              </a:rPr>
              <a:t>Contracts team</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Record type GPO. Dates, category (MME, BTS, Sales) and special terms. Create each GPO Tier.</a:t>
            </a:r>
            <a:endParaRPr lang="en-US" sz="900" dirty="0"/>
          </a:p>
        </p:txBody>
      </p:sp>
      <p:sp>
        <p:nvSpPr>
          <p:cNvPr id="16" name="Shape 14"/>
          <p:cNvSpPr/>
          <p:nvPr/>
        </p:nvSpPr>
        <p:spPr>
          <a:xfrm>
            <a:off x="3218688" y="1051560"/>
            <a:ext cx="1261872" cy="640080"/>
          </a:xfrm>
          <a:prstGeom prst="roundRect">
            <a:avLst>
              <a:gd name="adj" fmla="val 10000"/>
            </a:avLst>
          </a:prstGeom>
          <a:solidFill>
            <a:srgbClr val="0B6FD6"/>
          </a:solidFill>
          <a:ln w="12700">
            <a:solidFill>
              <a:srgbClr val="0B6FD6"/>
            </a:solidFill>
            <a:prstDash val="solid"/>
          </a:ln>
        </p:spPr>
      </p:sp>
      <p:sp>
        <p:nvSpPr>
          <p:cNvPr id="17" name="Text 15"/>
          <p:cNvSpPr txBox="1"/>
          <p:nvPr/>
        </p:nvSpPr>
        <p:spPr>
          <a:xfrm>
            <a:off x="3273552" y="1051560"/>
            <a:ext cx="115214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Load pricing</a:t>
            </a:r>
            <a:endParaRPr lang="en-US" sz="900" dirty="0"/>
          </a:p>
        </p:txBody>
      </p:sp>
      <p:sp>
        <p:nvSpPr>
          <p:cNvPr id="18" name="Shape 16"/>
          <p:cNvSpPr/>
          <p:nvPr/>
        </p:nvSpPr>
        <p:spPr>
          <a:xfrm>
            <a:off x="4480560" y="1371600"/>
            <a:ext cx="164592" cy="0"/>
          </a:xfrm>
          <a:prstGeom prst="line">
            <a:avLst/>
          </a:prstGeom>
          <a:noFill/>
          <a:ln w="19050">
            <a:solidFill>
              <a:srgbClr val="5B6B7B"/>
            </a:solidFill>
            <a:prstDash val="solid"/>
            <a:tailEnd type="triangle"/>
          </a:ln>
        </p:spPr>
      </p:sp>
      <p:sp>
        <p:nvSpPr>
          <p:cNvPr id="19" name="Shape 17"/>
          <p:cNvSpPr/>
          <p:nvPr/>
        </p:nvSpPr>
        <p:spPr>
          <a:xfrm>
            <a:off x="3218688" y="1828800"/>
            <a:ext cx="1261872" cy="1783080"/>
          </a:xfrm>
          <a:prstGeom prst="roundRect">
            <a:avLst>
              <a:gd name="adj" fmla="val 5072"/>
            </a:avLst>
          </a:prstGeom>
          <a:solidFill>
            <a:srgbClr val="F4F7FB"/>
          </a:solidFill>
          <a:ln w="12700">
            <a:solidFill>
              <a:srgbClr val="C9D3E0"/>
            </a:solidFill>
            <a:prstDash val="solid"/>
          </a:ln>
        </p:spPr>
      </p:sp>
      <p:sp>
        <p:nvSpPr>
          <p:cNvPr id="20" name="Text 18"/>
          <p:cNvSpPr txBox="1"/>
          <p:nvPr/>
        </p:nvSpPr>
        <p:spPr>
          <a:xfrm>
            <a:off x="3282696" y="1874520"/>
            <a:ext cx="1133856" cy="1691640"/>
          </a:xfrm>
          <a:prstGeom prst="rect">
            <a:avLst/>
          </a:prstGeom>
          <a:noFill/>
          <a:ln/>
        </p:spPr>
        <p:txBody>
          <a:bodyPr wrap="square" lIns="0" tIns="0" rIns="0" bIns="0" rtlCol="0" anchor="t"/>
          <a:lstStyle/>
          <a:p>
            <a:pPr indent="0" marL="0">
              <a:buNone/>
            </a:pPr>
            <a:r>
              <a:rPr lang="en-US" sz="900" b="1" dirty="0">
                <a:solidFill>
                  <a:srgbClr val="0B6FD6"/>
                </a:solidFill>
                <a:latin typeface="Calibri" pitchFamily="34" charset="0"/>
                <a:ea typeface="Calibri" pitchFamily="34" charset="-122"/>
                <a:cs typeface="Calibri" pitchFamily="34" charset="-120"/>
              </a:rPr>
              <a:t>Pricing team</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Trade Agreement and Lines per tier: item, rate type, price, dates. Dates must sit inside the contract.</a:t>
            </a:r>
            <a:endParaRPr lang="en-US" sz="900" dirty="0"/>
          </a:p>
        </p:txBody>
      </p:sp>
      <p:sp>
        <p:nvSpPr>
          <p:cNvPr id="21" name="Shape 19"/>
          <p:cNvSpPr/>
          <p:nvPr/>
        </p:nvSpPr>
        <p:spPr>
          <a:xfrm>
            <a:off x="4645152" y="1051560"/>
            <a:ext cx="1261872" cy="640080"/>
          </a:xfrm>
          <a:prstGeom prst="roundRect">
            <a:avLst>
              <a:gd name="adj" fmla="val 10000"/>
            </a:avLst>
          </a:prstGeom>
          <a:solidFill>
            <a:srgbClr val="0B6FD6"/>
          </a:solidFill>
          <a:ln w="12700">
            <a:solidFill>
              <a:srgbClr val="0B6FD6"/>
            </a:solidFill>
            <a:prstDash val="solid"/>
          </a:ln>
        </p:spPr>
      </p:sp>
      <p:sp>
        <p:nvSpPr>
          <p:cNvPr id="22" name="Text 20"/>
          <p:cNvSpPr txBox="1"/>
          <p:nvPr/>
        </p:nvSpPr>
        <p:spPr>
          <a:xfrm>
            <a:off x="4700016" y="1051560"/>
            <a:ext cx="115214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Approve and activate</a:t>
            </a:r>
            <a:endParaRPr lang="en-US" sz="900" dirty="0"/>
          </a:p>
        </p:txBody>
      </p:sp>
      <p:sp>
        <p:nvSpPr>
          <p:cNvPr id="23" name="Shape 21"/>
          <p:cNvSpPr/>
          <p:nvPr/>
        </p:nvSpPr>
        <p:spPr>
          <a:xfrm>
            <a:off x="5907024" y="1371600"/>
            <a:ext cx="164592" cy="0"/>
          </a:xfrm>
          <a:prstGeom prst="line">
            <a:avLst/>
          </a:prstGeom>
          <a:noFill/>
          <a:ln w="19050">
            <a:solidFill>
              <a:srgbClr val="5B6B7B"/>
            </a:solidFill>
            <a:prstDash val="solid"/>
            <a:tailEnd type="triangle"/>
          </a:ln>
        </p:spPr>
      </p:sp>
      <p:sp>
        <p:nvSpPr>
          <p:cNvPr id="24" name="Shape 22"/>
          <p:cNvSpPr/>
          <p:nvPr/>
        </p:nvSpPr>
        <p:spPr>
          <a:xfrm>
            <a:off x="4645152" y="1828800"/>
            <a:ext cx="1261872" cy="1783080"/>
          </a:xfrm>
          <a:prstGeom prst="roundRect">
            <a:avLst>
              <a:gd name="adj" fmla="val 5072"/>
            </a:avLst>
          </a:prstGeom>
          <a:solidFill>
            <a:srgbClr val="F4F7FB"/>
          </a:solidFill>
          <a:ln w="12700">
            <a:solidFill>
              <a:srgbClr val="C9D3E0"/>
            </a:solidFill>
            <a:prstDash val="solid"/>
          </a:ln>
        </p:spPr>
      </p:sp>
      <p:sp>
        <p:nvSpPr>
          <p:cNvPr id="25" name="Text 23"/>
          <p:cNvSpPr txBox="1"/>
          <p:nvPr/>
        </p:nvSpPr>
        <p:spPr>
          <a:xfrm>
            <a:off x="4709160" y="1874520"/>
            <a:ext cx="1133856" cy="1691640"/>
          </a:xfrm>
          <a:prstGeom prst="rect">
            <a:avLst/>
          </a:prstGeom>
          <a:noFill/>
          <a:ln/>
        </p:spPr>
        <p:txBody>
          <a:bodyPr wrap="square" lIns="0" tIns="0" rIns="0" bIns="0" rtlCol="0" anchor="t"/>
          <a:lstStyle/>
          <a:p>
            <a:pPr indent="0" marL="0">
              <a:buNone/>
            </a:pPr>
            <a:r>
              <a:rPr lang="en-US" sz="900" b="1" dirty="0">
                <a:solidFill>
                  <a:srgbClr val="0B6FD6"/>
                </a:solidFill>
                <a:latin typeface="Calibri" pitchFamily="34" charset="0"/>
                <a:ea typeface="Calibri" pitchFamily="34" charset="-122"/>
                <a:cs typeface="Calibri" pitchFamily="34" charset="-120"/>
              </a:rPr>
              <a:t>Finance and Legal</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Approval process runs. On activation the lines lock and publish to Ascent.</a:t>
            </a:r>
            <a:endParaRPr lang="en-US" sz="900" dirty="0"/>
          </a:p>
        </p:txBody>
      </p:sp>
      <p:sp>
        <p:nvSpPr>
          <p:cNvPr id="26" name="Shape 24"/>
          <p:cNvSpPr/>
          <p:nvPr/>
        </p:nvSpPr>
        <p:spPr>
          <a:xfrm>
            <a:off x="6071616" y="1051560"/>
            <a:ext cx="1261872" cy="640080"/>
          </a:xfrm>
          <a:prstGeom prst="roundRect">
            <a:avLst>
              <a:gd name="adj" fmla="val 10000"/>
            </a:avLst>
          </a:prstGeom>
          <a:solidFill>
            <a:srgbClr val="0E8F8A"/>
          </a:solidFill>
          <a:ln w="12700">
            <a:solidFill>
              <a:srgbClr val="0E8F8A"/>
            </a:solidFill>
            <a:prstDash val="solid"/>
          </a:ln>
        </p:spPr>
      </p:sp>
      <p:sp>
        <p:nvSpPr>
          <p:cNvPr id="27" name="Text 25"/>
          <p:cNvSpPr txBox="1"/>
          <p:nvPr/>
        </p:nvSpPr>
        <p:spPr>
          <a:xfrm>
            <a:off x="6126480" y="1051560"/>
            <a:ext cx="115214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Enroll member</a:t>
            </a:r>
            <a:endParaRPr lang="en-US" sz="900" dirty="0"/>
          </a:p>
        </p:txBody>
      </p:sp>
      <p:sp>
        <p:nvSpPr>
          <p:cNvPr id="28" name="Shape 26"/>
          <p:cNvSpPr/>
          <p:nvPr/>
        </p:nvSpPr>
        <p:spPr>
          <a:xfrm>
            <a:off x="7333488" y="1371600"/>
            <a:ext cx="164592" cy="0"/>
          </a:xfrm>
          <a:prstGeom prst="line">
            <a:avLst/>
          </a:prstGeom>
          <a:noFill/>
          <a:ln w="19050">
            <a:solidFill>
              <a:srgbClr val="5B6B7B"/>
            </a:solidFill>
            <a:prstDash val="solid"/>
            <a:tailEnd type="triangle"/>
          </a:ln>
        </p:spPr>
      </p:sp>
      <p:sp>
        <p:nvSpPr>
          <p:cNvPr id="29" name="Shape 27"/>
          <p:cNvSpPr/>
          <p:nvPr/>
        </p:nvSpPr>
        <p:spPr>
          <a:xfrm>
            <a:off x="6071616" y="1828800"/>
            <a:ext cx="1261872" cy="1783080"/>
          </a:xfrm>
          <a:prstGeom prst="roundRect">
            <a:avLst>
              <a:gd name="adj" fmla="val 5072"/>
            </a:avLst>
          </a:prstGeom>
          <a:solidFill>
            <a:srgbClr val="F4F7FB"/>
          </a:solidFill>
          <a:ln w="12700">
            <a:solidFill>
              <a:srgbClr val="C9D3E0"/>
            </a:solidFill>
            <a:prstDash val="solid"/>
          </a:ln>
        </p:spPr>
      </p:sp>
      <p:sp>
        <p:nvSpPr>
          <p:cNvPr id="30" name="Text 28"/>
          <p:cNvSpPr txBox="1"/>
          <p:nvPr/>
        </p:nvSpPr>
        <p:spPr>
          <a:xfrm>
            <a:off x="6135624" y="1874520"/>
            <a:ext cx="1133856" cy="1691640"/>
          </a:xfrm>
          <a:prstGeom prst="rect">
            <a:avLst/>
          </a:prstGeom>
          <a:noFill/>
          <a:ln/>
        </p:spPr>
        <p:txBody>
          <a:bodyPr wrap="square" lIns="0" tIns="0" rIns="0" bIns="0" rtlCol="0" anchor="t"/>
          <a:lstStyle/>
          <a:p>
            <a:pPr indent="0" marL="0">
              <a:buNone/>
            </a:pPr>
            <a:r>
              <a:rPr lang="en-US" sz="900" b="1" dirty="0">
                <a:solidFill>
                  <a:srgbClr val="0E8F8A"/>
                </a:solidFill>
                <a:latin typeface="Calibri" pitchFamily="34" charset="0"/>
                <a:ea typeface="Calibri" pitchFamily="34" charset="-122"/>
                <a:cs typeface="Calibri" pitchFamily="34" charset="-120"/>
              </a:rPr>
              <a:t>CEC or Sales</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GPO Membership: hospital, tier, member ID, start date. The member now resolves GPO prices.</a:t>
            </a:r>
            <a:endParaRPr lang="en-US" sz="900" dirty="0"/>
          </a:p>
        </p:txBody>
      </p:sp>
      <p:sp>
        <p:nvSpPr>
          <p:cNvPr id="31" name="Shape 29"/>
          <p:cNvSpPr/>
          <p:nvPr/>
        </p:nvSpPr>
        <p:spPr>
          <a:xfrm>
            <a:off x="7498080" y="1051560"/>
            <a:ext cx="1261872" cy="640080"/>
          </a:xfrm>
          <a:prstGeom prst="roundRect">
            <a:avLst>
              <a:gd name="adj" fmla="val 10000"/>
            </a:avLst>
          </a:prstGeom>
          <a:solidFill>
            <a:srgbClr val="0E8F8A"/>
          </a:solidFill>
          <a:ln w="12700">
            <a:solidFill>
              <a:srgbClr val="0E8F8A"/>
            </a:solidFill>
            <a:prstDash val="solid"/>
          </a:ln>
        </p:spPr>
      </p:sp>
      <p:sp>
        <p:nvSpPr>
          <p:cNvPr id="32" name="Text 30"/>
          <p:cNvSpPr txBox="1"/>
          <p:nvPr/>
        </p:nvSpPr>
        <p:spPr>
          <a:xfrm>
            <a:off x="7552944" y="1051560"/>
            <a:ext cx="115214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Review tier</a:t>
            </a:r>
            <a:endParaRPr lang="en-US" sz="900" dirty="0"/>
          </a:p>
        </p:txBody>
      </p:sp>
      <p:sp>
        <p:nvSpPr>
          <p:cNvPr id="33" name="Shape 31"/>
          <p:cNvSpPr/>
          <p:nvPr/>
        </p:nvSpPr>
        <p:spPr>
          <a:xfrm>
            <a:off x="7498080" y="1828800"/>
            <a:ext cx="1261872" cy="1783080"/>
          </a:xfrm>
          <a:prstGeom prst="roundRect">
            <a:avLst>
              <a:gd name="adj" fmla="val 5072"/>
            </a:avLst>
          </a:prstGeom>
          <a:solidFill>
            <a:srgbClr val="F4F7FB"/>
          </a:solidFill>
          <a:ln w="12700">
            <a:solidFill>
              <a:srgbClr val="C9D3E0"/>
            </a:solidFill>
            <a:prstDash val="solid"/>
          </a:ln>
        </p:spPr>
      </p:sp>
      <p:sp>
        <p:nvSpPr>
          <p:cNvPr id="34" name="Text 32"/>
          <p:cNvSpPr txBox="1"/>
          <p:nvPr/>
        </p:nvSpPr>
        <p:spPr>
          <a:xfrm>
            <a:off x="7562088" y="1874520"/>
            <a:ext cx="1133856" cy="1691640"/>
          </a:xfrm>
          <a:prstGeom prst="rect">
            <a:avLst/>
          </a:prstGeom>
          <a:noFill/>
          <a:ln/>
        </p:spPr>
        <p:txBody>
          <a:bodyPr wrap="square" lIns="0" tIns="0" rIns="0" bIns="0" rtlCol="0" anchor="t"/>
          <a:lstStyle/>
          <a:p>
            <a:pPr indent="0" marL="0">
              <a:buNone/>
            </a:pPr>
            <a:r>
              <a:rPr lang="en-US" sz="900" b="1" dirty="0">
                <a:solidFill>
                  <a:srgbClr val="0E8F8A"/>
                </a:solidFill>
                <a:latin typeface="Calibri" pitchFamily="34" charset="0"/>
                <a:ea typeface="Calibri" pitchFamily="34" charset="-122"/>
                <a:cs typeface="Calibri" pitchFamily="34" charset="-120"/>
              </a:rPr>
              <a:t>Pricing team</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Annual review of spend or commitment. A tier change ends one Membership and starts another.</a:t>
            </a:r>
            <a:endParaRPr lang="en-US" sz="900" dirty="0"/>
          </a:p>
        </p:txBody>
      </p:sp>
      <p:sp>
        <p:nvSpPr>
          <p:cNvPr id="35" name="Shape 33"/>
          <p:cNvSpPr/>
          <p:nvPr/>
        </p:nvSpPr>
        <p:spPr>
          <a:xfrm>
            <a:off x="365760" y="3840480"/>
            <a:ext cx="8412480" cy="502920"/>
          </a:xfrm>
          <a:prstGeom prst="roundRect">
            <a:avLst>
              <a:gd name="adj" fmla="val 12727"/>
            </a:avLst>
          </a:prstGeom>
          <a:solidFill>
            <a:srgbClr val="E4EEFB"/>
          </a:solidFill>
          <a:ln w="12700">
            <a:solidFill>
              <a:srgbClr val="E4EEFB"/>
            </a:solidFill>
            <a:prstDash val="solid"/>
          </a:ln>
        </p:spPr>
      </p:sp>
      <p:sp>
        <p:nvSpPr>
          <p:cNvPr id="36" name="Text 34"/>
          <p:cNvSpPr txBox="1"/>
          <p:nvPr/>
        </p:nvSpPr>
        <p:spPr>
          <a:xfrm>
            <a:off x="502920" y="3840480"/>
            <a:ext cx="8138160" cy="502920"/>
          </a:xfrm>
          <a:prstGeom prst="rect">
            <a:avLst/>
          </a:prstGeom>
          <a:noFill/>
          <a:ln/>
        </p:spPr>
        <p:txBody>
          <a:bodyPr wrap="square" lIns="0" tIns="0" rIns="0" bIns="0" rtlCol="0" anchor="ctr"/>
          <a:lstStyle/>
          <a:p>
            <a:pPr indent="0" marL="0">
              <a:buNone/>
            </a:pPr>
            <a:r>
              <a:rPr lang="en-US" sz="1000" dirty="0">
                <a:solidFill>
                  <a:srgbClr val="1F2A37"/>
                </a:solidFill>
                <a:latin typeface="Calibri" pitchFamily="34" charset="0"/>
                <a:ea typeface="Calibri" pitchFamily="34" charset="-122"/>
                <a:cs typeface="Calibri" pitchFamily="34" charset="-120"/>
              </a:rPr>
              <a:t>A hospital with direct terms and no GPO skips the GPO steps and uses a Customer Contract (same lines, one account).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Price resolution at quote, order and rental</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Run in this order. The first active match wins. The order is proposed and needs USME confirmation.</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8</a:t>
            </a:r>
            <a:endParaRPr lang="en-US" sz="800" dirty="0"/>
          </a:p>
        </p:txBody>
      </p:sp>
      <p:sp>
        <p:nvSpPr>
          <p:cNvPr id="6" name="Shape 4"/>
          <p:cNvSpPr/>
          <p:nvPr/>
        </p:nvSpPr>
        <p:spPr>
          <a:xfrm>
            <a:off x="320040" y="1417320"/>
            <a:ext cx="1188720" cy="822960"/>
          </a:xfrm>
          <a:prstGeom prst="roundRect">
            <a:avLst>
              <a:gd name="adj" fmla="val 7778"/>
            </a:avLst>
          </a:prstGeom>
          <a:solidFill>
            <a:srgbClr val="0B6FD6"/>
          </a:solidFill>
          <a:ln w="12700">
            <a:solidFill>
              <a:srgbClr val="0B6FD6"/>
            </a:solidFill>
            <a:prstDash val="solid"/>
          </a:ln>
        </p:spPr>
      </p:sp>
      <p:sp>
        <p:nvSpPr>
          <p:cNvPr id="7" name="Text 5"/>
          <p:cNvSpPr txBox="1"/>
          <p:nvPr/>
        </p:nvSpPr>
        <p:spPr>
          <a:xfrm>
            <a:off x="374904" y="1417320"/>
            <a:ext cx="1078992" cy="8229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Item added to Quote, Order or CEC intake</a:t>
            </a:r>
            <a:endParaRPr lang="en-US" sz="900" dirty="0"/>
          </a:p>
        </p:txBody>
      </p:sp>
      <p:sp>
        <p:nvSpPr>
          <p:cNvPr id="8" name="Text 6"/>
          <p:cNvSpPr txBox="1"/>
          <p:nvPr/>
        </p:nvSpPr>
        <p:spPr>
          <a:xfrm>
            <a:off x="320040" y="2331720"/>
            <a:ext cx="1280160" cy="548640"/>
          </a:xfrm>
          <a:prstGeom prst="rect">
            <a:avLst/>
          </a:prstGeom>
          <a:noFill/>
          <a:ln/>
        </p:spPr>
        <p:txBody>
          <a:bodyPr wrap="square" lIns="0" tIns="0" rIns="0" bIns="0" rtlCol="0" anchor="t"/>
          <a:lstStyle/>
          <a:p>
            <a:pPr indent="0" marL="0">
              <a:buNone/>
            </a:pPr>
            <a:r>
              <a:rPr lang="en-US" sz="800" dirty="0">
                <a:solidFill>
                  <a:srgbClr val="5B6B7B"/>
                </a:solidFill>
                <a:latin typeface="Calibri" pitchFamily="34" charset="0"/>
                <a:ea typeface="Calibri" pitchFamily="34" charset="-122"/>
                <a:cs typeface="Calibri" pitchFamily="34" charset="-120"/>
              </a:rPr>
              <a:t>Price date = order date for sales, rental start date for rentals.</a:t>
            </a:r>
            <a:endParaRPr lang="en-US" sz="800" dirty="0"/>
          </a:p>
        </p:txBody>
      </p:sp>
      <p:sp>
        <p:nvSpPr>
          <p:cNvPr id="9" name="Shape 7"/>
          <p:cNvSpPr/>
          <p:nvPr/>
        </p:nvSpPr>
        <p:spPr>
          <a:xfrm>
            <a:off x="1828800" y="1371600"/>
            <a:ext cx="1554480" cy="914400"/>
          </a:xfrm>
          <a:prstGeom prst="diamond">
            <a:avLst/>
          </a:prstGeom>
          <a:solidFill>
            <a:srgbClr val="FCEFD9"/>
          </a:solidFill>
          <a:ln w="15240">
            <a:solidFill>
              <a:srgbClr val="D98200"/>
            </a:solidFill>
            <a:prstDash val="solid"/>
          </a:ln>
        </p:spPr>
      </p:sp>
      <p:sp>
        <p:nvSpPr>
          <p:cNvPr id="10" name="Text 8"/>
          <p:cNvSpPr txBox="1"/>
          <p:nvPr/>
        </p:nvSpPr>
        <p:spPr>
          <a:xfrm>
            <a:off x="2139696" y="1371600"/>
            <a:ext cx="932688" cy="914400"/>
          </a:xfrm>
          <a:prstGeom prst="rect">
            <a:avLst/>
          </a:prstGeom>
          <a:noFill/>
          <a:ln/>
        </p:spPr>
        <p:txBody>
          <a:bodyPr wrap="square" lIns="0" tIns="0" rIns="0" bIns="0"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Customer contract price active?</a:t>
            </a:r>
            <a:endParaRPr lang="en-US" sz="800" dirty="0"/>
          </a:p>
        </p:txBody>
      </p:sp>
      <p:sp>
        <p:nvSpPr>
          <p:cNvPr id="11" name="Shape 9"/>
          <p:cNvSpPr/>
          <p:nvPr/>
        </p:nvSpPr>
        <p:spPr>
          <a:xfrm>
            <a:off x="3794760" y="1371600"/>
            <a:ext cx="1554480" cy="914400"/>
          </a:xfrm>
          <a:prstGeom prst="diamond">
            <a:avLst/>
          </a:prstGeom>
          <a:solidFill>
            <a:srgbClr val="FCEFD9"/>
          </a:solidFill>
          <a:ln w="15240">
            <a:solidFill>
              <a:srgbClr val="D98200"/>
            </a:solidFill>
            <a:prstDash val="solid"/>
          </a:ln>
        </p:spPr>
      </p:sp>
      <p:sp>
        <p:nvSpPr>
          <p:cNvPr id="12" name="Text 10"/>
          <p:cNvSpPr txBox="1"/>
          <p:nvPr/>
        </p:nvSpPr>
        <p:spPr>
          <a:xfrm>
            <a:off x="4105656" y="1371600"/>
            <a:ext cx="932688" cy="914400"/>
          </a:xfrm>
          <a:prstGeom prst="rect">
            <a:avLst/>
          </a:prstGeom>
          <a:noFill/>
          <a:ln/>
        </p:spPr>
        <p:txBody>
          <a:bodyPr wrap="square" lIns="0" tIns="0" rIns="0" bIns="0"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GPO tier price for member active?</a:t>
            </a:r>
            <a:endParaRPr lang="en-US" sz="800" dirty="0"/>
          </a:p>
        </p:txBody>
      </p:sp>
      <p:sp>
        <p:nvSpPr>
          <p:cNvPr id="13" name="Shape 11"/>
          <p:cNvSpPr/>
          <p:nvPr/>
        </p:nvSpPr>
        <p:spPr>
          <a:xfrm>
            <a:off x="5760720" y="1371600"/>
            <a:ext cx="1554480" cy="914400"/>
          </a:xfrm>
          <a:prstGeom prst="diamond">
            <a:avLst/>
          </a:prstGeom>
          <a:solidFill>
            <a:srgbClr val="FCEFD9"/>
          </a:solidFill>
          <a:ln w="15240">
            <a:solidFill>
              <a:srgbClr val="D98200"/>
            </a:solidFill>
            <a:prstDash val="solid"/>
          </a:ln>
        </p:spPr>
      </p:sp>
      <p:sp>
        <p:nvSpPr>
          <p:cNvPr id="14" name="Text 12"/>
          <p:cNvSpPr txBox="1"/>
          <p:nvPr/>
        </p:nvSpPr>
        <p:spPr>
          <a:xfrm>
            <a:off x="6071616" y="1371600"/>
            <a:ext cx="932688" cy="914400"/>
          </a:xfrm>
          <a:prstGeom prst="rect">
            <a:avLst/>
          </a:prstGeom>
          <a:noFill/>
          <a:ln/>
        </p:spPr>
        <p:txBody>
          <a:bodyPr wrap="square" lIns="0" tIns="0" rIns="0" bIns="0"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Standard price exists?</a:t>
            </a:r>
            <a:endParaRPr lang="en-US" sz="800" dirty="0"/>
          </a:p>
        </p:txBody>
      </p:sp>
      <p:sp>
        <p:nvSpPr>
          <p:cNvPr id="15" name="Shape 13"/>
          <p:cNvSpPr/>
          <p:nvPr/>
        </p:nvSpPr>
        <p:spPr>
          <a:xfrm>
            <a:off x="7680960" y="1508760"/>
            <a:ext cx="1097280" cy="640080"/>
          </a:xfrm>
          <a:prstGeom prst="roundRect">
            <a:avLst>
              <a:gd name="adj" fmla="val 10000"/>
            </a:avLst>
          </a:prstGeom>
          <a:solidFill>
            <a:srgbClr val="F9E1E3"/>
          </a:solidFill>
          <a:ln w="12700">
            <a:solidFill>
              <a:srgbClr val="C0101E"/>
            </a:solidFill>
            <a:prstDash val="solid"/>
          </a:ln>
        </p:spPr>
      </p:sp>
      <p:sp>
        <p:nvSpPr>
          <p:cNvPr id="16" name="Text 14"/>
          <p:cNvSpPr txBox="1"/>
          <p:nvPr/>
        </p:nvSpPr>
        <p:spPr>
          <a:xfrm>
            <a:off x="7735824" y="1508760"/>
            <a:ext cx="987552" cy="640080"/>
          </a:xfrm>
          <a:prstGeom prst="rect">
            <a:avLst/>
          </a:prstGeom>
          <a:noFill/>
          <a:ln/>
        </p:spPr>
        <p:txBody>
          <a:bodyPr wrap="square" lIns="0" tIns="0" rIns="0" bIns="0" rtlCol="0" anchor="ctr"/>
          <a:lstStyle/>
          <a:p>
            <a:pPr algn="ctr" indent="0" marL="0">
              <a:buNone/>
            </a:pPr>
            <a:r>
              <a:rPr lang="en-US" sz="850" b="1" dirty="0">
                <a:solidFill>
                  <a:srgbClr val="C0101E"/>
                </a:solidFill>
                <a:latin typeface="Calibri" pitchFamily="34" charset="0"/>
                <a:ea typeface="Calibri" pitchFamily="34" charset="-122"/>
                <a:cs typeface="Calibri" pitchFamily="34" charset="-120"/>
              </a:rPr>
              <a:t>Stop. Alert Pricing team.</a:t>
            </a:r>
            <a:endParaRPr lang="en-US" sz="850" dirty="0"/>
          </a:p>
        </p:txBody>
      </p:sp>
      <p:sp>
        <p:nvSpPr>
          <p:cNvPr id="17" name="Shape 15"/>
          <p:cNvSpPr/>
          <p:nvPr/>
        </p:nvSpPr>
        <p:spPr>
          <a:xfrm>
            <a:off x="1508760" y="1828800"/>
            <a:ext cx="320040" cy="0"/>
          </a:xfrm>
          <a:prstGeom prst="line">
            <a:avLst/>
          </a:prstGeom>
          <a:noFill/>
          <a:ln w="19050">
            <a:solidFill>
              <a:srgbClr val="1B2A4A"/>
            </a:solidFill>
            <a:prstDash val="solid"/>
            <a:tailEnd type="triangle"/>
          </a:ln>
        </p:spPr>
      </p:sp>
      <p:sp>
        <p:nvSpPr>
          <p:cNvPr id="18" name="Shape 16"/>
          <p:cNvSpPr/>
          <p:nvPr/>
        </p:nvSpPr>
        <p:spPr>
          <a:xfrm>
            <a:off x="3383280" y="1828800"/>
            <a:ext cx="411480" cy="0"/>
          </a:xfrm>
          <a:prstGeom prst="line">
            <a:avLst/>
          </a:prstGeom>
          <a:noFill/>
          <a:ln w="19050">
            <a:solidFill>
              <a:srgbClr val="1B2A4A"/>
            </a:solidFill>
            <a:prstDash val="solid"/>
            <a:tailEnd type="triangle"/>
          </a:ln>
        </p:spPr>
      </p:sp>
      <p:sp>
        <p:nvSpPr>
          <p:cNvPr id="19" name="Shape 17"/>
          <p:cNvSpPr/>
          <p:nvPr/>
        </p:nvSpPr>
        <p:spPr>
          <a:xfrm>
            <a:off x="5349240" y="1828800"/>
            <a:ext cx="411480" cy="0"/>
          </a:xfrm>
          <a:prstGeom prst="line">
            <a:avLst/>
          </a:prstGeom>
          <a:noFill/>
          <a:ln w="19050">
            <a:solidFill>
              <a:srgbClr val="1B2A4A"/>
            </a:solidFill>
            <a:prstDash val="solid"/>
            <a:tailEnd type="triangle"/>
          </a:ln>
        </p:spPr>
      </p:sp>
      <p:sp>
        <p:nvSpPr>
          <p:cNvPr id="20" name="Shape 18"/>
          <p:cNvSpPr/>
          <p:nvPr/>
        </p:nvSpPr>
        <p:spPr>
          <a:xfrm>
            <a:off x="7315200" y="1828800"/>
            <a:ext cx="365760" cy="0"/>
          </a:xfrm>
          <a:prstGeom prst="line">
            <a:avLst/>
          </a:prstGeom>
          <a:noFill/>
          <a:ln w="19050">
            <a:solidFill>
              <a:srgbClr val="1B2A4A"/>
            </a:solidFill>
            <a:prstDash val="solid"/>
            <a:tailEnd type="triangle"/>
          </a:ln>
        </p:spPr>
      </p:sp>
      <p:sp>
        <p:nvSpPr>
          <p:cNvPr id="21" name="Text 19"/>
          <p:cNvSpPr txBox="1"/>
          <p:nvPr/>
        </p:nvSpPr>
        <p:spPr>
          <a:xfrm>
            <a:off x="3429000" y="1627632"/>
            <a:ext cx="365760" cy="164592"/>
          </a:xfrm>
          <a:prstGeom prst="rect">
            <a:avLst/>
          </a:prstGeom>
          <a:noFill/>
          <a:ln/>
        </p:spPr>
        <p:txBody>
          <a:bodyPr wrap="square" lIns="0" tIns="0" rIns="0" bIns="0" rtlCol="0" anchor="ctr"/>
          <a:lstStyle/>
          <a:p>
            <a:pPr indent="0" marL="0">
              <a:buNone/>
            </a:pPr>
            <a:r>
              <a:rPr lang="en-US" sz="800" b="1" dirty="0">
                <a:solidFill>
                  <a:srgbClr val="C0101E"/>
                </a:solidFill>
                <a:latin typeface="Calibri" pitchFamily="34" charset="0"/>
                <a:ea typeface="Calibri" pitchFamily="34" charset="-122"/>
                <a:cs typeface="Calibri" pitchFamily="34" charset="-120"/>
              </a:rPr>
              <a:t>No</a:t>
            </a:r>
            <a:endParaRPr lang="en-US" sz="800" dirty="0"/>
          </a:p>
        </p:txBody>
      </p:sp>
      <p:sp>
        <p:nvSpPr>
          <p:cNvPr id="22" name="Text 20"/>
          <p:cNvSpPr txBox="1"/>
          <p:nvPr/>
        </p:nvSpPr>
        <p:spPr>
          <a:xfrm>
            <a:off x="5394960" y="1627632"/>
            <a:ext cx="365760" cy="164592"/>
          </a:xfrm>
          <a:prstGeom prst="rect">
            <a:avLst/>
          </a:prstGeom>
          <a:noFill/>
          <a:ln/>
        </p:spPr>
        <p:txBody>
          <a:bodyPr wrap="square" lIns="0" tIns="0" rIns="0" bIns="0" rtlCol="0" anchor="ctr"/>
          <a:lstStyle/>
          <a:p>
            <a:pPr indent="0" marL="0">
              <a:buNone/>
            </a:pPr>
            <a:r>
              <a:rPr lang="en-US" sz="800" b="1" dirty="0">
                <a:solidFill>
                  <a:srgbClr val="C0101E"/>
                </a:solidFill>
                <a:latin typeface="Calibri" pitchFamily="34" charset="0"/>
                <a:ea typeface="Calibri" pitchFamily="34" charset="-122"/>
                <a:cs typeface="Calibri" pitchFamily="34" charset="-120"/>
              </a:rPr>
              <a:t>No</a:t>
            </a:r>
            <a:endParaRPr lang="en-US" sz="800" dirty="0"/>
          </a:p>
        </p:txBody>
      </p:sp>
      <p:sp>
        <p:nvSpPr>
          <p:cNvPr id="23" name="Text 21"/>
          <p:cNvSpPr txBox="1"/>
          <p:nvPr/>
        </p:nvSpPr>
        <p:spPr>
          <a:xfrm>
            <a:off x="7360920" y="1627632"/>
            <a:ext cx="365760" cy="164592"/>
          </a:xfrm>
          <a:prstGeom prst="rect">
            <a:avLst/>
          </a:prstGeom>
          <a:noFill/>
          <a:ln/>
        </p:spPr>
        <p:txBody>
          <a:bodyPr wrap="square" lIns="0" tIns="0" rIns="0" bIns="0" rtlCol="0" anchor="ctr"/>
          <a:lstStyle/>
          <a:p>
            <a:pPr indent="0" marL="0">
              <a:buNone/>
            </a:pPr>
            <a:r>
              <a:rPr lang="en-US" sz="800" b="1" dirty="0">
                <a:solidFill>
                  <a:srgbClr val="C0101E"/>
                </a:solidFill>
                <a:latin typeface="Calibri" pitchFamily="34" charset="0"/>
                <a:ea typeface="Calibri" pitchFamily="34" charset="-122"/>
                <a:cs typeface="Calibri" pitchFamily="34" charset="-120"/>
              </a:rPr>
              <a:t>No</a:t>
            </a:r>
            <a:endParaRPr lang="en-US" sz="800" dirty="0"/>
          </a:p>
        </p:txBody>
      </p:sp>
      <p:sp>
        <p:nvSpPr>
          <p:cNvPr id="24" name="Shape 22"/>
          <p:cNvSpPr/>
          <p:nvPr/>
        </p:nvSpPr>
        <p:spPr>
          <a:xfrm>
            <a:off x="2606040" y="2286000"/>
            <a:ext cx="0" cy="640080"/>
          </a:xfrm>
          <a:prstGeom prst="line">
            <a:avLst/>
          </a:prstGeom>
          <a:noFill/>
          <a:ln w="19050">
            <a:solidFill>
              <a:srgbClr val="1E8A4C"/>
            </a:solidFill>
            <a:prstDash val="solid"/>
            <a:tailEnd type="triangle"/>
          </a:ln>
        </p:spPr>
      </p:sp>
      <p:sp>
        <p:nvSpPr>
          <p:cNvPr id="25" name="Text 23"/>
          <p:cNvSpPr txBox="1"/>
          <p:nvPr/>
        </p:nvSpPr>
        <p:spPr>
          <a:xfrm>
            <a:off x="2660904" y="2377440"/>
            <a:ext cx="365760" cy="164592"/>
          </a:xfrm>
          <a:prstGeom prst="rect">
            <a:avLst/>
          </a:prstGeom>
          <a:noFill/>
          <a:ln/>
        </p:spPr>
        <p:txBody>
          <a:bodyPr wrap="square" lIns="0" tIns="0" rIns="0" bIns="0" rtlCol="0" anchor="ctr"/>
          <a:lstStyle/>
          <a:p>
            <a:pPr indent="0" marL="0">
              <a:buNone/>
            </a:pPr>
            <a:r>
              <a:rPr lang="en-US" sz="800" b="1" dirty="0">
                <a:solidFill>
                  <a:srgbClr val="1E8A4C"/>
                </a:solidFill>
                <a:latin typeface="Calibri" pitchFamily="34" charset="0"/>
                <a:ea typeface="Calibri" pitchFamily="34" charset="-122"/>
                <a:cs typeface="Calibri" pitchFamily="34" charset="-120"/>
              </a:rPr>
              <a:t>Yes</a:t>
            </a:r>
            <a:endParaRPr lang="en-US" sz="800" dirty="0"/>
          </a:p>
        </p:txBody>
      </p:sp>
      <p:sp>
        <p:nvSpPr>
          <p:cNvPr id="26" name="Shape 24"/>
          <p:cNvSpPr/>
          <p:nvPr/>
        </p:nvSpPr>
        <p:spPr>
          <a:xfrm>
            <a:off x="4572000" y="2286000"/>
            <a:ext cx="0" cy="640080"/>
          </a:xfrm>
          <a:prstGeom prst="line">
            <a:avLst/>
          </a:prstGeom>
          <a:noFill/>
          <a:ln w="19050">
            <a:solidFill>
              <a:srgbClr val="1E8A4C"/>
            </a:solidFill>
            <a:prstDash val="solid"/>
            <a:tailEnd type="triangle"/>
          </a:ln>
        </p:spPr>
      </p:sp>
      <p:sp>
        <p:nvSpPr>
          <p:cNvPr id="27" name="Text 25"/>
          <p:cNvSpPr txBox="1"/>
          <p:nvPr/>
        </p:nvSpPr>
        <p:spPr>
          <a:xfrm>
            <a:off x="4626864" y="2377440"/>
            <a:ext cx="365760" cy="164592"/>
          </a:xfrm>
          <a:prstGeom prst="rect">
            <a:avLst/>
          </a:prstGeom>
          <a:noFill/>
          <a:ln/>
        </p:spPr>
        <p:txBody>
          <a:bodyPr wrap="square" lIns="0" tIns="0" rIns="0" bIns="0" rtlCol="0" anchor="ctr"/>
          <a:lstStyle/>
          <a:p>
            <a:pPr indent="0" marL="0">
              <a:buNone/>
            </a:pPr>
            <a:r>
              <a:rPr lang="en-US" sz="800" b="1" dirty="0">
                <a:solidFill>
                  <a:srgbClr val="1E8A4C"/>
                </a:solidFill>
                <a:latin typeface="Calibri" pitchFamily="34" charset="0"/>
                <a:ea typeface="Calibri" pitchFamily="34" charset="-122"/>
                <a:cs typeface="Calibri" pitchFamily="34" charset="-120"/>
              </a:rPr>
              <a:t>Yes</a:t>
            </a:r>
            <a:endParaRPr lang="en-US" sz="800" dirty="0"/>
          </a:p>
        </p:txBody>
      </p:sp>
      <p:sp>
        <p:nvSpPr>
          <p:cNvPr id="28" name="Shape 26"/>
          <p:cNvSpPr/>
          <p:nvPr/>
        </p:nvSpPr>
        <p:spPr>
          <a:xfrm>
            <a:off x="6537960" y="2286000"/>
            <a:ext cx="0" cy="640080"/>
          </a:xfrm>
          <a:prstGeom prst="line">
            <a:avLst/>
          </a:prstGeom>
          <a:noFill/>
          <a:ln w="19050">
            <a:solidFill>
              <a:srgbClr val="1E8A4C"/>
            </a:solidFill>
            <a:prstDash val="solid"/>
            <a:tailEnd type="triangle"/>
          </a:ln>
        </p:spPr>
      </p:sp>
      <p:sp>
        <p:nvSpPr>
          <p:cNvPr id="29" name="Text 27"/>
          <p:cNvSpPr txBox="1"/>
          <p:nvPr/>
        </p:nvSpPr>
        <p:spPr>
          <a:xfrm>
            <a:off x="6592824" y="2377440"/>
            <a:ext cx="365760" cy="164592"/>
          </a:xfrm>
          <a:prstGeom prst="rect">
            <a:avLst/>
          </a:prstGeom>
          <a:noFill/>
          <a:ln/>
        </p:spPr>
        <p:txBody>
          <a:bodyPr wrap="square" lIns="0" tIns="0" rIns="0" bIns="0" rtlCol="0" anchor="ctr"/>
          <a:lstStyle/>
          <a:p>
            <a:pPr indent="0" marL="0">
              <a:buNone/>
            </a:pPr>
            <a:r>
              <a:rPr lang="en-US" sz="800" b="1" dirty="0">
                <a:solidFill>
                  <a:srgbClr val="1E8A4C"/>
                </a:solidFill>
                <a:latin typeface="Calibri" pitchFamily="34" charset="0"/>
                <a:ea typeface="Calibri" pitchFamily="34" charset="-122"/>
                <a:cs typeface="Calibri" pitchFamily="34" charset="-120"/>
              </a:rPr>
              <a:t>Yes</a:t>
            </a:r>
            <a:endParaRPr lang="en-US" sz="800" dirty="0"/>
          </a:p>
        </p:txBody>
      </p:sp>
      <p:sp>
        <p:nvSpPr>
          <p:cNvPr id="30" name="Shape 28"/>
          <p:cNvSpPr/>
          <p:nvPr/>
        </p:nvSpPr>
        <p:spPr>
          <a:xfrm>
            <a:off x="1828800" y="2926080"/>
            <a:ext cx="1554480" cy="685800"/>
          </a:xfrm>
          <a:prstGeom prst="roundRect">
            <a:avLst>
              <a:gd name="adj" fmla="val 9333"/>
            </a:avLst>
          </a:prstGeom>
          <a:solidFill>
            <a:srgbClr val="DFF1E6"/>
          </a:solidFill>
          <a:ln w="12700">
            <a:solidFill>
              <a:srgbClr val="1E8A4C"/>
            </a:solidFill>
            <a:prstDash val="solid"/>
          </a:ln>
        </p:spPr>
      </p:sp>
      <p:sp>
        <p:nvSpPr>
          <p:cNvPr id="31" name="Text 29"/>
          <p:cNvSpPr txBox="1"/>
          <p:nvPr/>
        </p:nvSpPr>
        <p:spPr>
          <a:xfrm>
            <a:off x="1883664" y="2926080"/>
            <a:ext cx="1444752" cy="685800"/>
          </a:xfrm>
          <a:prstGeom prst="rect">
            <a:avLst/>
          </a:prstGeom>
          <a:noFill/>
          <a:ln/>
        </p:spPr>
        <p:txBody>
          <a:bodyPr wrap="square" lIns="0" tIns="0" rIns="0" bIns="0" rtlCol="0" anchor="ctr"/>
          <a:lstStyle/>
          <a:p>
            <a:pPr algn="ctr" indent="0" marL="0">
              <a:buNone/>
            </a:pPr>
            <a:r>
              <a:rPr lang="en-US" sz="950" b="1" dirty="0">
                <a:solidFill>
                  <a:srgbClr val="1F2A37"/>
                </a:solidFill>
                <a:latin typeface="Calibri" pitchFamily="34" charset="0"/>
                <a:ea typeface="Calibri" pitchFamily="34" charset="-122"/>
                <a:cs typeface="Calibri" pitchFamily="34" charset="-120"/>
              </a:rPr>
              <a:t>Customer contract price</a:t>
            </a:r>
            <a:endParaRPr lang="en-US" sz="950" dirty="0"/>
          </a:p>
          <a:p>
            <a:pPr algn="ctr" indent="0" marL="0">
              <a:buNone/>
            </a:pPr>
            <a:r>
              <a:rPr lang="en-US" sz="800" dirty="0">
                <a:solidFill>
                  <a:srgbClr val="1F2A37"/>
                </a:solidFill>
                <a:latin typeface="Calibri" pitchFamily="34" charset="0"/>
                <a:ea typeface="Calibri" pitchFamily="34" charset="-122"/>
                <a:cs typeface="Calibri" pitchFamily="34" charset="-120"/>
              </a:rPr>
              <a:t>Trade Agreement Line</a:t>
            </a:r>
            <a:endParaRPr lang="en-US" sz="950" dirty="0"/>
          </a:p>
        </p:txBody>
      </p:sp>
      <p:sp>
        <p:nvSpPr>
          <p:cNvPr id="32" name="Shape 30"/>
          <p:cNvSpPr/>
          <p:nvPr/>
        </p:nvSpPr>
        <p:spPr>
          <a:xfrm>
            <a:off x="3794760" y="2926080"/>
            <a:ext cx="1554480" cy="685800"/>
          </a:xfrm>
          <a:prstGeom prst="roundRect">
            <a:avLst>
              <a:gd name="adj" fmla="val 9333"/>
            </a:avLst>
          </a:prstGeom>
          <a:solidFill>
            <a:srgbClr val="DFF1E6"/>
          </a:solidFill>
          <a:ln w="12700">
            <a:solidFill>
              <a:srgbClr val="1E8A4C"/>
            </a:solidFill>
            <a:prstDash val="solid"/>
          </a:ln>
        </p:spPr>
      </p:sp>
      <p:sp>
        <p:nvSpPr>
          <p:cNvPr id="33" name="Text 31"/>
          <p:cNvSpPr txBox="1"/>
          <p:nvPr/>
        </p:nvSpPr>
        <p:spPr>
          <a:xfrm>
            <a:off x="3849624" y="2926080"/>
            <a:ext cx="1444752" cy="685800"/>
          </a:xfrm>
          <a:prstGeom prst="rect">
            <a:avLst/>
          </a:prstGeom>
          <a:noFill/>
          <a:ln/>
        </p:spPr>
        <p:txBody>
          <a:bodyPr wrap="square" lIns="0" tIns="0" rIns="0" bIns="0" rtlCol="0" anchor="ctr"/>
          <a:lstStyle/>
          <a:p>
            <a:pPr algn="ctr" indent="0" marL="0">
              <a:buNone/>
            </a:pPr>
            <a:r>
              <a:rPr lang="en-US" sz="950" b="1" dirty="0">
                <a:solidFill>
                  <a:srgbClr val="1F2A37"/>
                </a:solidFill>
                <a:latin typeface="Calibri" pitchFamily="34" charset="0"/>
                <a:ea typeface="Calibri" pitchFamily="34" charset="-122"/>
                <a:cs typeface="Calibri" pitchFamily="34" charset="-120"/>
              </a:rPr>
              <a:t>GPO tier price</a:t>
            </a:r>
            <a:endParaRPr lang="en-US" sz="950" dirty="0"/>
          </a:p>
          <a:p>
            <a:pPr algn="ctr" indent="0" marL="0">
              <a:buNone/>
            </a:pPr>
            <a:r>
              <a:rPr lang="en-US" sz="800" dirty="0">
                <a:solidFill>
                  <a:srgbClr val="1F2A37"/>
                </a:solidFill>
                <a:latin typeface="Calibri" pitchFamily="34" charset="0"/>
                <a:ea typeface="Calibri" pitchFamily="34" charset="-122"/>
                <a:cs typeface="Calibri" pitchFamily="34" charset="-120"/>
              </a:rPr>
              <a:t>Line under the member's tier</a:t>
            </a:r>
            <a:endParaRPr lang="en-US" sz="950" dirty="0"/>
          </a:p>
        </p:txBody>
      </p:sp>
      <p:sp>
        <p:nvSpPr>
          <p:cNvPr id="34" name="Shape 32"/>
          <p:cNvSpPr/>
          <p:nvPr/>
        </p:nvSpPr>
        <p:spPr>
          <a:xfrm>
            <a:off x="5760720" y="2926080"/>
            <a:ext cx="1554480" cy="685800"/>
          </a:xfrm>
          <a:prstGeom prst="roundRect">
            <a:avLst>
              <a:gd name="adj" fmla="val 9333"/>
            </a:avLst>
          </a:prstGeom>
          <a:solidFill>
            <a:srgbClr val="DFF1E6"/>
          </a:solidFill>
          <a:ln w="12700">
            <a:solidFill>
              <a:srgbClr val="1E8A4C"/>
            </a:solidFill>
            <a:prstDash val="solid"/>
          </a:ln>
        </p:spPr>
      </p:sp>
      <p:sp>
        <p:nvSpPr>
          <p:cNvPr id="35" name="Text 33"/>
          <p:cNvSpPr txBox="1"/>
          <p:nvPr/>
        </p:nvSpPr>
        <p:spPr>
          <a:xfrm>
            <a:off x="5815584" y="2926080"/>
            <a:ext cx="1444752" cy="685800"/>
          </a:xfrm>
          <a:prstGeom prst="rect">
            <a:avLst/>
          </a:prstGeom>
          <a:noFill/>
          <a:ln/>
        </p:spPr>
        <p:txBody>
          <a:bodyPr wrap="square" lIns="0" tIns="0" rIns="0" bIns="0" rtlCol="0" anchor="ctr"/>
          <a:lstStyle/>
          <a:p>
            <a:pPr algn="ctr" indent="0" marL="0">
              <a:buNone/>
            </a:pPr>
            <a:r>
              <a:rPr lang="en-US" sz="950" b="1" dirty="0">
                <a:solidFill>
                  <a:srgbClr val="1F2A37"/>
                </a:solidFill>
                <a:latin typeface="Calibri" pitchFamily="34" charset="0"/>
                <a:ea typeface="Calibri" pitchFamily="34" charset="-122"/>
                <a:cs typeface="Calibri" pitchFamily="34" charset="-120"/>
              </a:rPr>
              <a:t>Standard price</a:t>
            </a:r>
            <a:endParaRPr lang="en-US" sz="950" dirty="0"/>
          </a:p>
          <a:p>
            <a:pPr algn="ctr" indent="0" marL="0">
              <a:buNone/>
            </a:pPr>
            <a:r>
              <a:rPr lang="en-US" sz="800" dirty="0">
                <a:solidFill>
                  <a:srgbClr val="1F2A37"/>
                </a:solidFill>
                <a:latin typeface="Calibri" pitchFamily="34" charset="0"/>
                <a:ea typeface="Calibri" pitchFamily="34" charset="-122"/>
                <a:cs typeface="Calibri" pitchFamily="34" charset="-120"/>
              </a:rPr>
              <a:t>Standard Price Book or rate card</a:t>
            </a:r>
            <a:endParaRPr lang="en-US" sz="950" dirty="0"/>
          </a:p>
        </p:txBody>
      </p:sp>
      <p:sp>
        <p:nvSpPr>
          <p:cNvPr id="36" name="Shape 34"/>
          <p:cNvSpPr/>
          <p:nvPr/>
        </p:nvSpPr>
        <p:spPr>
          <a:xfrm>
            <a:off x="2606040" y="3611880"/>
            <a:ext cx="0" cy="274320"/>
          </a:xfrm>
          <a:prstGeom prst="line">
            <a:avLst/>
          </a:prstGeom>
          <a:noFill/>
          <a:ln w="19050">
            <a:solidFill>
              <a:srgbClr val="5B6B7B"/>
            </a:solidFill>
            <a:prstDash val="solid"/>
            <a:tailEnd type="triangle"/>
          </a:ln>
        </p:spPr>
      </p:sp>
      <p:sp>
        <p:nvSpPr>
          <p:cNvPr id="37" name="Shape 35"/>
          <p:cNvSpPr/>
          <p:nvPr/>
        </p:nvSpPr>
        <p:spPr>
          <a:xfrm>
            <a:off x="4572000" y="3611880"/>
            <a:ext cx="0" cy="274320"/>
          </a:xfrm>
          <a:prstGeom prst="line">
            <a:avLst/>
          </a:prstGeom>
          <a:noFill/>
          <a:ln w="19050">
            <a:solidFill>
              <a:srgbClr val="5B6B7B"/>
            </a:solidFill>
            <a:prstDash val="solid"/>
            <a:tailEnd type="triangle"/>
          </a:ln>
        </p:spPr>
      </p:sp>
      <p:sp>
        <p:nvSpPr>
          <p:cNvPr id="38" name="Shape 36"/>
          <p:cNvSpPr/>
          <p:nvPr/>
        </p:nvSpPr>
        <p:spPr>
          <a:xfrm>
            <a:off x="6537960" y="3611880"/>
            <a:ext cx="0" cy="274320"/>
          </a:xfrm>
          <a:prstGeom prst="line">
            <a:avLst/>
          </a:prstGeom>
          <a:noFill/>
          <a:ln w="19050">
            <a:solidFill>
              <a:srgbClr val="5B6B7B"/>
            </a:solidFill>
            <a:prstDash val="solid"/>
            <a:tailEnd type="triangle"/>
          </a:ln>
        </p:spPr>
      </p:sp>
      <p:sp>
        <p:nvSpPr>
          <p:cNvPr id="39" name="Shape 37"/>
          <p:cNvSpPr/>
          <p:nvPr/>
        </p:nvSpPr>
        <p:spPr>
          <a:xfrm>
            <a:off x="320040" y="3886200"/>
            <a:ext cx="8458200" cy="640080"/>
          </a:xfrm>
          <a:prstGeom prst="roundRect">
            <a:avLst>
              <a:gd name="adj" fmla="val 10000"/>
            </a:avLst>
          </a:prstGeom>
          <a:solidFill>
            <a:srgbClr val="E4EEFB"/>
          </a:solidFill>
          <a:ln w="12700">
            <a:solidFill>
              <a:srgbClr val="E4EEFB"/>
            </a:solidFill>
            <a:prstDash val="solid"/>
          </a:ln>
        </p:spPr>
      </p:sp>
      <p:sp>
        <p:nvSpPr>
          <p:cNvPr id="40" name="Text 38"/>
          <p:cNvSpPr txBox="1"/>
          <p:nvPr/>
        </p:nvSpPr>
        <p:spPr>
          <a:xfrm>
            <a:off x="457200" y="3886200"/>
            <a:ext cx="8183880" cy="64008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The resolved price, its source and the Trade Agreement Line ID are copied onto the quote, order or rental line. Later price changes never reprice it. This snapshot is also what goes to Ascent and GoTransverse.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Quoted price check and discount approval</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Only a price that differs from the resolved price needs approval.</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9</a:t>
            </a:r>
            <a:endParaRPr lang="en-US" sz="800" dirty="0"/>
          </a:p>
        </p:txBody>
      </p:sp>
      <p:sp>
        <p:nvSpPr>
          <p:cNvPr id="6" name="Shape 4"/>
          <p:cNvSpPr/>
          <p:nvPr/>
        </p:nvSpPr>
        <p:spPr>
          <a:xfrm>
            <a:off x="320040" y="1828800"/>
            <a:ext cx="1234440" cy="731520"/>
          </a:xfrm>
          <a:prstGeom prst="roundRect">
            <a:avLst>
              <a:gd name="adj" fmla="val 8750"/>
            </a:avLst>
          </a:prstGeom>
          <a:solidFill>
            <a:srgbClr val="0B6FD6"/>
          </a:solidFill>
          <a:ln w="12700">
            <a:solidFill>
              <a:srgbClr val="0B6FD6"/>
            </a:solidFill>
            <a:prstDash val="solid"/>
          </a:ln>
        </p:spPr>
      </p:sp>
      <p:sp>
        <p:nvSpPr>
          <p:cNvPr id="7" name="Text 5"/>
          <p:cNvSpPr txBox="1"/>
          <p:nvPr/>
        </p:nvSpPr>
        <p:spPr>
          <a:xfrm>
            <a:off x="374904" y="1828800"/>
            <a:ext cx="1124712"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Resolved price (from previous slide)</a:t>
            </a:r>
            <a:endParaRPr lang="en-US" sz="900" dirty="0"/>
          </a:p>
        </p:txBody>
      </p:sp>
      <p:sp>
        <p:nvSpPr>
          <p:cNvPr id="8" name="Shape 6"/>
          <p:cNvSpPr/>
          <p:nvPr/>
        </p:nvSpPr>
        <p:spPr>
          <a:xfrm>
            <a:off x="1828800" y="1737360"/>
            <a:ext cx="1554480" cy="914400"/>
          </a:xfrm>
          <a:prstGeom prst="diamond">
            <a:avLst/>
          </a:prstGeom>
          <a:solidFill>
            <a:srgbClr val="FCEFD9"/>
          </a:solidFill>
          <a:ln w="15240">
            <a:solidFill>
              <a:srgbClr val="D98200"/>
            </a:solidFill>
            <a:prstDash val="solid"/>
          </a:ln>
        </p:spPr>
      </p:sp>
      <p:sp>
        <p:nvSpPr>
          <p:cNvPr id="9" name="Text 7"/>
          <p:cNvSpPr txBox="1"/>
          <p:nvPr/>
        </p:nvSpPr>
        <p:spPr>
          <a:xfrm>
            <a:off x="2139696" y="1737360"/>
            <a:ext cx="932688" cy="914400"/>
          </a:xfrm>
          <a:prstGeom prst="rect">
            <a:avLst/>
          </a:prstGeom>
          <a:noFill/>
          <a:ln/>
        </p:spPr>
        <p:txBody>
          <a:bodyPr wrap="square" lIns="0" tIns="0" rIns="0" bIns="0"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Quoted = resolved price?</a:t>
            </a:r>
            <a:endParaRPr lang="en-US" sz="800" dirty="0"/>
          </a:p>
        </p:txBody>
      </p:sp>
      <p:sp>
        <p:nvSpPr>
          <p:cNvPr id="10" name="Shape 8"/>
          <p:cNvSpPr/>
          <p:nvPr/>
        </p:nvSpPr>
        <p:spPr>
          <a:xfrm>
            <a:off x="3749040" y="1965960"/>
            <a:ext cx="1280160" cy="457200"/>
          </a:xfrm>
          <a:prstGeom prst="roundRect">
            <a:avLst>
              <a:gd name="adj" fmla="val 14000"/>
            </a:avLst>
          </a:prstGeom>
          <a:solidFill>
            <a:srgbClr val="F4F7FB"/>
          </a:solidFill>
          <a:ln w="12700">
            <a:solidFill>
              <a:srgbClr val="C9D3E0"/>
            </a:solidFill>
            <a:prstDash val="solid"/>
          </a:ln>
        </p:spPr>
      </p:sp>
      <p:sp>
        <p:nvSpPr>
          <p:cNvPr id="11" name="Text 9"/>
          <p:cNvSpPr txBox="1"/>
          <p:nvPr/>
        </p:nvSpPr>
        <p:spPr>
          <a:xfrm>
            <a:off x="3803904" y="1965960"/>
            <a:ext cx="1170432" cy="457200"/>
          </a:xfrm>
          <a:prstGeom prst="rect">
            <a:avLst/>
          </a:prstGeom>
          <a:noFill/>
          <a:ln/>
        </p:spPr>
        <p:txBody>
          <a:bodyPr wrap="square" lIns="0" tIns="0" rIns="0" bIns="0" rtlCol="0" anchor="ctr"/>
          <a:lstStyle/>
          <a:p>
            <a:pPr algn="ctr" indent="0" marL="0">
              <a:buNone/>
            </a:pPr>
            <a:r>
              <a:rPr lang="en-US" sz="900" b="1" dirty="0">
                <a:solidFill>
                  <a:srgbClr val="1F2A37"/>
                </a:solidFill>
                <a:latin typeface="Calibri" pitchFamily="34" charset="0"/>
                <a:ea typeface="Calibri" pitchFamily="34" charset="-122"/>
                <a:cs typeface="Calibri" pitchFamily="34" charset="-120"/>
              </a:rPr>
              <a:t>Enter reason code</a:t>
            </a:r>
            <a:endParaRPr lang="en-US" sz="900" dirty="0"/>
          </a:p>
        </p:txBody>
      </p:sp>
      <p:sp>
        <p:nvSpPr>
          <p:cNvPr id="12" name="Shape 10"/>
          <p:cNvSpPr/>
          <p:nvPr/>
        </p:nvSpPr>
        <p:spPr>
          <a:xfrm>
            <a:off x="5303520" y="1965960"/>
            <a:ext cx="1463040" cy="457200"/>
          </a:xfrm>
          <a:prstGeom prst="roundRect">
            <a:avLst>
              <a:gd name="adj" fmla="val 14000"/>
            </a:avLst>
          </a:prstGeom>
          <a:solidFill>
            <a:srgbClr val="F4F7FB"/>
          </a:solidFill>
          <a:ln w="12700">
            <a:solidFill>
              <a:srgbClr val="C9D3E0"/>
            </a:solidFill>
            <a:prstDash val="solid"/>
          </a:ln>
        </p:spPr>
      </p:sp>
      <p:sp>
        <p:nvSpPr>
          <p:cNvPr id="13" name="Text 11"/>
          <p:cNvSpPr txBox="1"/>
          <p:nvPr/>
        </p:nvSpPr>
        <p:spPr>
          <a:xfrm>
            <a:off x="5358384" y="1965960"/>
            <a:ext cx="1353312" cy="457200"/>
          </a:xfrm>
          <a:prstGeom prst="rect">
            <a:avLst/>
          </a:prstGeom>
          <a:noFill/>
          <a:ln/>
        </p:spPr>
        <p:txBody>
          <a:bodyPr wrap="square" lIns="0" tIns="0" rIns="0" bIns="0" rtlCol="0" anchor="ctr"/>
          <a:lstStyle/>
          <a:p>
            <a:pPr algn="ctr" indent="0" marL="0">
              <a:buNone/>
            </a:pPr>
            <a:r>
              <a:rPr lang="en-US" sz="900" b="1" dirty="0">
                <a:solidFill>
                  <a:srgbClr val="1F2A37"/>
                </a:solidFill>
                <a:latin typeface="Calibri" pitchFamily="34" charset="0"/>
                <a:ea typeface="Calibri" pitchFamily="34" charset="-122"/>
                <a:cs typeface="Calibri" pitchFamily="34" charset="-120"/>
              </a:rPr>
              <a:t>Authority matrix and margin floor</a:t>
            </a:r>
            <a:endParaRPr lang="en-US" sz="900" dirty="0"/>
          </a:p>
        </p:txBody>
      </p:sp>
      <p:sp>
        <p:nvSpPr>
          <p:cNvPr id="14" name="Shape 12"/>
          <p:cNvSpPr/>
          <p:nvPr/>
        </p:nvSpPr>
        <p:spPr>
          <a:xfrm>
            <a:off x="7086600" y="1737360"/>
            <a:ext cx="1554480" cy="914400"/>
          </a:xfrm>
          <a:prstGeom prst="diamond">
            <a:avLst/>
          </a:prstGeom>
          <a:solidFill>
            <a:srgbClr val="FCEFD9"/>
          </a:solidFill>
          <a:ln w="15240">
            <a:solidFill>
              <a:srgbClr val="D98200"/>
            </a:solidFill>
            <a:prstDash val="solid"/>
          </a:ln>
        </p:spPr>
      </p:sp>
      <p:sp>
        <p:nvSpPr>
          <p:cNvPr id="15" name="Text 13"/>
          <p:cNvSpPr txBox="1"/>
          <p:nvPr/>
        </p:nvSpPr>
        <p:spPr>
          <a:xfrm>
            <a:off x="7397496" y="1737360"/>
            <a:ext cx="932688" cy="914400"/>
          </a:xfrm>
          <a:prstGeom prst="rect">
            <a:avLst/>
          </a:prstGeom>
          <a:noFill/>
          <a:ln/>
        </p:spPr>
        <p:txBody>
          <a:bodyPr wrap="square" lIns="0" tIns="0" rIns="0" bIns="0"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Approved?</a:t>
            </a:r>
            <a:endParaRPr lang="en-US" sz="800" dirty="0"/>
          </a:p>
        </p:txBody>
      </p:sp>
      <p:sp>
        <p:nvSpPr>
          <p:cNvPr id="16" name="Shape 14"/>
          <p:cNvSpPr/>
          <p:nvPr/>
        </p:nvSpPr>
        <p:spPr>
          <a:xfrm>
            <a:off x="1554480" y="2194560"/>
            <a:ext cx="274320" cy="0"/>
          </a:xfrm>
          <a:prstGeom prst="line">
            <a:avLst/>
          </a:prstGeom>
          <a:noFill/>
          <a:ln w="19050">
            <a:solidFill>
              <a:srgbClr val="1B2A4A"/>
            </a:solidFill>
            <a:prstDash val="solid"/>
            <a:tailEnd type="triangle"/>
          </a:ln>
        </p:spPr>
      </p:sp>
      <p:sp>
        <p:nvSpPr>
          <p:cNvPr id="17" name="Shape 15"/>
          <p:cNvSpPr/>
          <p:nvPr/>
        </p:nvSpPr>
        <p:spPr>
          <a:xfrm>
            <a:off x="3383280" y="2194560"/>
            <a:ext cx="365760" cy="0"/>
          </a:xfrm>
          <a:prstGeom prst="line">
            <a:avLst/>
          </a:prstGeom>
          <a:noFill/>
          <a:ln w="19050">
            <a:solidFill>
              <a:srgbClr val="1B2A4A"/>
            </a:solidFill>
            <a:prstDash val="solid"/>
            <a:tailEnd type="triangle"/>
          </a:ln>
        </p:spPr>
      </p:sp>
      <p:sp>
        <p:nvSpPr>
          <p:cNvPr id="18" name="Shape 16"/>
          <p:cNvSpPr/>
          <p:nvPr/>
        </p:nvSpPr>
        <p:spPr>
          <a:xfrm>
            <a:off x="5029200" y="2194560"/>
            <a:ext cx="274320" cy="0"/>
          </a:xfrm>
          <a:prstGeom prst="line">
            <a:avLst/>
          </a:prstGeom>
          <a:noFill/>
          <a:ln w="19050">
            <a:solidFill>
              <a:srgbClr val="1B2A4A"/>
            </a:solidFill>
            <a:prstDash val="solid"/>
            <a:tailEnd type="triangle"/>
          </a:ln>
        </p:spPr>
      </p:sp>
      <p:sp>
        <p:nvSpPr>
          <p:cNvPr id="19" name="Shape 17"/>
          <p:cNvSpPr/>
          <p:nvPr/>
        </p:nvSpPr>
        <p:spPr>
          <a:xfrm>
            <a:off x="6766560" y="2194560"/>
            <a:ext cx="320040" cy="0"/>
          </a:xfrm>
          <a:prstGeom prst="line">
            <a:avLst/>
          </a:prstGeom>
          <a:noFill/>
          <a:ln w="19050">
            <a:solidFill>
              <a:srgbClr val="1B2A4A"/>
            </a:solidFill>
            <a:prstDash val="solid"/>
            <a:tailEnd type="triangle"/>
          </a:ln>
        </p:spPr>
      </p:sp>
      <p:sp>
        <p:nvSpPr>
          <p:cNvPr id="20" name="Text 18"/>
          <p:cNvSpPr txBox="1"/>
          <p:nvPr/>
        </p:nvSpPr>
        <p:spPr>
          <a:xfrm>
            <a:off x="3429000" y="1993392"/>
            <a:ext cx="365760" cy="164592"/>
          </a:xfrm>
          <a:prstGeom prst="rect">
            <a:avLst/>
          </a:prstGeom>
          <a:noFill/>
          <a:ln/>
        </p:spPr>
        <p:txBody>
          <a:bodyPr wrap="square" lIns="0" tIns="0" rIns="0" bIns="0" rtlCol="0" anchor="ctr"/>
          <a:lstStyle/>
          <a:p>
            <a:pPr indent="0" marL="0">
              <a:buNone/>
            </a:pPr>
            <a:r>
              <a:rPr lang="en-US" sz="800" b="1" dirty="0">
                <a:solidFill>
                  <a:srgbClr val="C0101E"/>
                </a:solidFill>
                <a:latin typeface="Calibri" pitchFamily="34" charset="0"/>
                <a:ea typeface="Calibri" pitchFamily="34" charset="-122"/>
                <a:cs typeface="Calibri" pitchFamily="34" charset="-120"/>
              </a:rPr>
              <a:t>No</a:t>
            </a:r>
            <a:endParaRPr lang="en-US" sz="800" dirty="0"/>
          </a:p>
        </p:txBody>
      </p:sp>
      <p:sp>
        <p:nvSpPr>
          <p:cNvPr id="21" name="Shape 19"/>
          <p:cNvSpPr/>
          <p:nvPr/>
        </p:nvSpPr>
        <p:spPr>
          <a:xfrm flipV="1">
            <a:off x="2606040" y="1417320"/>
            <a:ext cx="0" cy="320040"/>
          </a:xfrm>
          <a:prstGeom prst="line">
            <a:avLst/>
          </a:prstGeom>
          <a:noFill/>
          <a:ln w="19050">
            <a:solidFill>
              <a:srgbClr val="1E8A4C"/>
            </a:solidFill>
            <a:prstDash val="solid"/>
            <a:tailEnd type="triangle"/>
          </a:ln>
        </p:spPr>
      </p:sp>
      <p:sp>
        <p:nvSpPr>
          <p:cNvPr id="22" name="Text 20"/>
          <p:cNvSpPr txBox="1"/>
          <p:nvPr/>
        </p:nvSpPr>
        <p:spPr>
          <a:xfrm>
            <a:off x="2670048" y="1508760"/>
            <a:ext cx="365760" cy="164592"/>
          </a:xfrm>
          <a:prstGeom prst="rect">
            <a:avLst/>
          </a:prstGeom>
          <a:noFill/>
          <a:ln/>
        </p:spPr>
        <p:txBody>
          <a:bodyPr wrap="square" lIns="0" tIns="0" rIns="0" bIns="0" rtlCol="0" anchor="ctr"/>
          <a:lstStyle/>
          <a:p>
            <a:pPr indent="0" marL="0">
              <a:buNone/>
            </a:pPr>
            <a:r>
              <a:rPr lang="en-US" sz="800" b="1" dirty="0">
                <a:solidFill>
                  <a:srgbClr val="1E8A4C"/>
                </a:solidFill>
                <a:latin typeface="Calibri" pitchFamily="34" charset="0"/>
                <a:ea typeface="Calibri" pitchFamily="34" charset="-122"/>
                <a:cs typeface="Calibri" pitchFamily="34" charset="-120"/>
              </a:rPr>
              <a:t>Yes</a:t>
            </a:r>
            <a:endParaRPr lang="en-US" sz="800" dirty="0"/>
          </a:p>
        </p:txBody>
      </p:sp>
      <p:sp>
        <p:nvSpPr>
          <p:cNvPr id="23" name="Shape 21"/>
          <p:cNvSpPr/>
          <p:nvPr/>
        </p:nvSpPr>
        <p:spPr>
          <a:xfrm>
            <a:off x="1828800" y="914400"/>
            <a:ext cx="1554480" cy="502920"/>
          </a:xfrm>
          <a:prstGeom prst="roundRect">
            <a:avLst>
              <a:gd name="adj" fmla="val 12727"/>
            </a:avLst>
          </a:prstGeom>
          <a:solidFill>
            <a:srgbClr val="DFF1E6"/>
          </a:solidFill>
          <a:ln w="12700">
            <a:solidFill>
              <a:srgbClr val="1E8A4C"/>
            </a:solidFill>
            <a:prstDash val="solid"/>
          </a:ln>
        </p:spPr>
      </p:sp>
      <p:sp>
        <p:nvSpPr>
          <p:cNvPr id="24" name="Text 22"/>
          <p:cNvSpPr txBox="1"/>
          <p:nvPr/>
        </p:nvSpPr>
        <p:spPr>
          <a:xfrm>
            <a:off x="1883664" y="914400"/>
            <a:ext cx="1444752" cy="502920"/>
          </a:xfrm>
          <a:prstGeom prst="rect">
            <a:avLst/>
          </a:prstGeom>
          <a:noFill/>
          <a:ln/>
        </p:spPr>
        <p:txBody>
          <a:bodyPr wrap="square" lIns="0" tIns="0" rIns="0" bIns="0" rtlCol="0" anchor="ctr"/>
          <a:lstStyle/>
          <a:p>
            <a:pPr algn="ctr" indent="0" marL="0">
              <a:buNone/>
            </a:pPr>
            <a:r>
              <a:rPr lang="en-US" sz="900" b="1" dirty="0">
                <a:solidFill>
                  <a:srgbClr val="1F2A37"/>
                </a:solidFill>
                <a:latin typeface="Calibri" pitchFamily="34" charset="0"/>
                <a:ea typeface="Calibri" pitchFamily="34" charset="-122"/>
                <a:cs typeface="Calibri" pitchFamily="34" charset="-120"/>
              </a:rPr>
              <a:t>Save at contract price. No approval.</a:t>
            </a:r>
            <a:endParaRPr lang="en-US" sz="900" dirty="0"/>
          </a:p>
        </p:txBody>
      </p:sp>
      <p:sp>
        <p:nvSpPr>
          <p:cNvPr id="25" name="Shape 23"/>
          <p:cNvSpPr/>
          <p:nvPr/>
        </p:nvSpPr>
        <p:spPr>
          <a:xfrm flipV="1">
            <a:off x="7863840" y="1417320"/>
            <a:ext cx="0" cy="320040"/>
          </a:xfrm>
          <a:prstGeom prst="line">
            <a:avLst/>
          </a:prstGeom>
          <a:noFill/>
          <a:ln w="19050">
            <a:solidFill>
              <a:srgbClr val="1E8A4C"/>
            </a:solidFill>
            <a:prstDash val="solid"/>
            <a:tailEnd type="triangle"/>
          </a:ln>
        </p:spPr>
      </p:sp>
      <p:sp>
        <p:nvSpPr>
          <p:cNvPr id="26" name="Text 24"/>
          <p:cNvSpPr txBox="1"/>
          <p:nvPr/>
        </p:nvSpPr>
        <p:spPr>
          <a:xfrm>
            <a:off x="7927848" y="1508760"/>
            <a:ext cx="365760" cy="164592"/>
          </a:xfrm>
          <a:prstGeom prst="rect">
            <a:avLst/>
          </a:prstGeom>
          <a:noFill/>
          <a:ln/>
        </p:spPr>
        <p:txBody>
          <a:bodyPr wrap="square" lIns="0" tIns="0" rIns="0" bIns="0" rtlCol="0" anchor="ctr"/>
          <a:lstStyle/>
          <a:p>
            <a:pPr indent="0" marL="0">
              <a:buNone/>
            </a:pPr>
            <a:r>
              <a:rPr lang="en-US" sz="800" b="1" dirty="0">
                <a:solidFill>
                  <a:srgbClr val="1E8A4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7086600" y="914400"/>
            <a:ext cx="1554480" cy="502920"/>
          </a:xfrm>
          <a:prstGeom prst="roundRect">
            <a:avLst>
              <a:gd name="adj" fmla="val 12727"/>
            </a:avLst>
          </a:prstGeom>
          <a:solidFill>
            <a:srgbClr val="DFF1E6"/>
          </a:solidFill>
          <a:ln w="12700">
            <a:solidFill>
              <a:srgbClr val="1E8A4C"/>
            </a:solidFill>
            <a:prstDash val="solid"/>
          </a:ln>
        </p:spPr>
      </p:sp>
      <p:sp>
        <p:nvSpPr>
          <p:cNvPr id="28" name="Text 26"/>
          <p:cNvSpPr txBox="1"/>
          <p:nvPr/>
        </p:nvSpPr>
        <p:spPr>
          <a:xfrm>
            <a:off x="7141464" y="914400"/>
            <a:ext cx="1444752" cy="502920"/>
          </a:xfrm>
          <a:prstGeom prst="rect">
            <a:avLst/>
          </a:prstGeom>
          <a:noFill/>
          <a:ln/>
        </p:spPr>
        <p:txBody>
          <a:bodyPr wrap="square" lIns="0" tIns="0" rIns="0" bIns="0" rtlCol="0" anchor="ctr"/>
          <a:lstStyle/>
          <a:p>
            <a:pPr algn="ctr" indent="0" marL="0">
              <a:buNone/>
            </a:pPr>
            <a:r>
              <a:rPr lang="en-US" sz="900" b="1" dirty="0">
                <a:solidFill>
                  <a:srgbClr val="1F2A37"/>
                </a:solidFill>
                <a:latin typeface="Calibri" pitchFamily="34" charset="0"/>
                <a:ea typeface="Calibri" pitchFamily="34" charset="-122"/>
                <a:cs typeface="Calibri" pitchFamily="34" charset="-120"/>
              </a:rPr>
              <a:t>Save at approved price</a:t>
            </a:r>
            <a:endParaRPr lang="en-US" sz="900" dirty="0"/>
          </a:p>
        </p:txBody>
      </p:sp>
      <p:sp>
        <p:nvSpPr>
          <p:cNvPr id="29" name="Shape 27"/>
          <p:cNvSpPr/>
          <p:nvPr/>
        </p:nvSpPr>
        <p:spPr>
          <a:xfrm>
            <a:off x="7863840" y="2651760"/>
            <a:ext cx="0" cy="411480"/>
          </a:xfrm>
          <a:prstGeom prst="line">
            <a:avLst/>
          </a:prstGeom>
          <a:noFill/>
          <a:ln w="19050">
            <a:solidFill>
              <a:srgbClr val="C0101E"/>
            </a:solidFill>
            <a:prstDash val="solid"/>
            <a:tailEnd type="triangle"/>
          </a:ln>
        </p:spPr>
      </p:sp>
      <p:sp>
        <p:nvSpPr>
          <p:cNvPr id="30" name="Text 28"/>
          <p:cNvSpPr txBox="1"/>
          <p:nvPr/>
        </p:nvSpPr>
        <p:spPr>
          <a:xfrm>
            <a:off x="7927848" y="2743200"/>
            <a:ext cx="365760" cy="164592"/>
          </a:xfrm>
          <a:prstGeom prst="rect">
            <a:avLst/>
          </a:prstGeom>
          <a:noFill/>
          <a:ln/>
        </p:spPr>
        <p:txBody>
          <a:bodyPr wrap="square" lIns="0" tIns="0" rIns="0" bIns="0" rtlCol="0" anchor="ctr"/>
          <a:lstStyle/>
          <a:p>
            <a:pPr indent="0" marL="0">
              <a:buNone/>
            </a:pPr>
            <a:r>
              <a:rPr lang="en-US" sz="800" b="1" dirty="0">
                <a:solidFill>
                  <a:srgbClr val="C0101E"/>
                </a:solidFill>
                <a:latin typeface="Calibri" pitchFamily="34" charset="0"/>
                <a:ea typeface="Calibri" pitchFamily="34" charset="-122"/>
                <a:cs typeface="Calibri" pitchFamily="34" charset="-120"/>
              </a:rPr>
              <a:t>No</a:t>
            </a:r>
            <a:endParaRPr lang="en-US" sz="800" dirty="0"/>
          </a:p>
        </p:txBody>
      </p:sp>
      <p:sp>
        <p:nvSpPr>
          <p:cNvPr id="31" name="Shape 29"/>
          <p:cNvSpPr/>
          <p:nvPr/>
        </p:nvSpPr>
        <p:spPr>
          <a:xfrm>
            <a:off x="7086600" y="3063240"/>
            <a:ext cx="1554480" cy="548640"/>
          </a:xfrm>
          <a:prstGeom prst="roundRect">
            <a:avLst>
              <a:gd name="adj" fmla="val 11667"/>
            </a:avLst>
          </a:prstGeom>
          <a:solidFill>
            <a:srgbClr val="F9E1E3"/>
          </a:solidFill>
          <a:ln w="12700">
            <a:solidFill>
              <a:srgbClr val="C0101E"/>
            </a:solidFill>
            <a:prstDash val="solid"/>
          </a:ln>
        </p:spPr>
      </p:sp>
      <p:sp>
        <p:nvSpPr>
          <p:cNvPr id="32" name="Text 30"/>
          <p:cNvSpPr txBox="1"/>
          <p:nvPr/>
        </p:nvSpPr>
        <p:spPr>
          <a:xfrm>
            <a:off x="7141464" y="3063240"/>
            <a:ext cx="1444752" cy="548640"/>
          </a:xfrm>
          <a:prstGeom prst="rect">
            <a:avLst/>
          </a:prstGeom>
          <a:noFill/>
          <a:ln/>
        </p:spPr>
        <p:txBody>
          <a:bodyPr wrap="square" lIns="0" tIns="0" rIns="0" bIns="0" rtlCol="0" anchor="ctr"/>
          <a:lstStyle/>
          <a:p>
            <a:pPr algn="ctr" indent="0" marL="0">
              <a:buNone/>
            </a:pPr>
            <a:r>
              <a:rPr lang="en-US" sz="900" b="1" dirty="0">
                <a:solidFill>
                  <a:srgbClr val="C0101E"/>
                </a:solidFill>
                <a:latin typeface="Calibri" pitchFamily="34" charset="0"/>
                <a:ea typeface="Calibri" pitchFamily="34" charset="-122"/>
                <a:cs typeface="Calibri" pitchFamily="34" charset="-120"/>
              </a:rPr>
              <a:t>Rejected: revert to resolved price</a:t>
            </a:r>
            <a:endParaRPr lang="en-US" sz="900" dirty="0"/>
          </a:p>
        </p:txBody>
      </p:sp>
      <p:sp>
        <p:nvSpPr>
          <p:cNvPr id="33" name="Shape 31"/>
          <p:cNvSpPr/>
          <p:nvPr/>
        </p:nvSpPr>
        <p:spPr>
          <a:xfrm>
            <a:off x="320040" y="3017520"/>
            <a:ext cx="3200400" cy="1508760"/>
          </a:xfrm>
          <a:prstGeom prst="roundRect">
            <a:avLst>
              <a:gd name="adj" fmla="val 4242"/>
            </a:avLst>
          </a:prstGeom>
          <a:solidFill>
            <a:srgbClr val="FFFFFF"/>
          </a:solidFill>
          <a:ln w="12700">
            <a:solidFill>
              <a:srgbClr val="C9D3E0"/>
            </a:solidFill>
            <a:prstDash val="solid"/>
          </a:ln>
        </p:spPr>
      </p:sp>
      <p:sp>
        <p:nvSpPr>
          <p:cNvPr id="34" name="Shape 32"/>
          <p:cNvSpPr/>
          <p:nvPr/>
        </p:nvSpPr>
        <p:spPr>
          <a:xfrm>
            <a:off x="320040" y="3017520"/>
            <a:ext cx="3200400" cy="310896"/>
          </a:xfrm>
          <a:prstGeom prst="roundRect">
            <a:avLst>
              <a:gd name="adj" fmla="val 20588"/>
            </a:avLst>
          </a:prstGeom>
          <a:solidFill>
            <a:srgbClr val="0B6FD6"/>
          </a:solidFill>
          <a:ln w="12700">
            <a:solidFill>
              <a:srgbClr val="0B6FD6"/>
            </a:solidFill>
            <a:prstDash val="solid"/>
          </a:ln>
        </p:spPr>
      </p:sp>
      <p:sp>
        <p:nvSpPr>
          <p:cNvPr id="35" name="Text 33"/>
          <p:cNvSpPr txBox="1"/>
          <p:nvPr/>
        </p:nvSpPr>
        <p:spPr>
          <a:xfrm>
            <a:off x="411480" y="3017520"/>
            <a:ext cx="301752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p>
        </p:txBody>
      </p:sp>
      <p:sp>
        <p:nvSpPr>
          <p:cNvPr id="36" name="Text 34"/>
          <p:cNvSpPr txBox="1"/>
          <p:nvPr/>
        </p:nvSpPr>
        <p:spPr>
          <a:xfrm>
            <a:off x="411480" y="3383280"/>
            <a:ext cx="3017520" cy="1088136"/>
          </a:xfrm>
          <a:prstGeom prst="rect">
            <a:avLst/>
          </a:prstGeom>
          <a:noFill/>
          <a:ln/>
        </p:spPr>
        <p:txBody>
          <a:bodyPr wrap="square" lIns="0" tIns="0" rIns="0" bIns="0" rtlCol="0" anchor="t"/>
          <a:lstStyle/>
          <a:p>
            <a:pPr indent="0" marL="0">
              <a:buNone/>
            </a:pPr>
            <a:r>
              <a:rPr lang="en-US" sz="900" dirty="0">
                <a:solidFill>
                  <a:srgbClr val="1F2A37"/>
                </a:solidFill>
                <a:latin typeface="Calibri" pitchFamily="34" charset="0"/>
                <a:ea typeface="Calibri" pitchFamily="34" charset="-122"/>
                <a:cs typeface="Calibri" pitchFamily="34" charset="-120"/>
              </a:rPr>
              <a:t>Contract price $100 for Item A.</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Quote entered at $90.</a:t>
            </a:r>
            <a:endParaRPr lang="en-US" sz="900" dirty="0"/>
          </a:p>
          <a:p>
            <a:pPr indent="0" marL="0">
              <a:buNone/>
            </a:pPr>
            <a:r>
              <a:rPr lang="en-US" sz="900" dirty="0">
                <a:solidFill>
                  <a:srgbClr val="1F2A37"/>
                </a:solidFill>
                <a:latin typeface="Calibri" pitchFamily="34" charset="0"/>
                <a:ea typeface="Calibri" pitchFamily="34" charset="-122"/>
                <a:cs typeface="Calibri" pitchFamily="34" charset="-120"/>
              </a:rPr>
              <a:t>The $10 reduction is a Custom Discount: it needs a reason code and follows the authority matrix. A quote at $100 saves with no approval.</a:t>
            </a:r>
            <a:endParaRPr lang="en-US" sz="900" dirty="0"/>
          </a:p>
        </p:txBody>
      </p:sp>
      <p:sp>
        <p:nvSpPr>
          <p:cNvPr id="37" name="Shape 35"/>
          <p:cNvSpPr/>
          <p:nvPr/>
        </p:nvSpPr>
        <p:spPr>
          <a:xfrm>
            <a:off x="3703320" y="3017520"/>
            <a:ext cx="3200400" cy="1508760"/>
          </a:xfrm>
          <a:prstGeom prst="roundRect">
            <a:avLst>
              <a:gd name="adj" fmla="val 4242"/>
            </a:avLst>
          </a:prstGeom>
          <a:solidFill>
            <a:srgbClr val="FFFFFF"/>
          </a:solidFill>
          <a:ln w="12700">
            <a:solidFill>
              <a:srgbClr val="C9D3E0"/>
            </a:solidFill>
            <a:prstDash val="solid"/>
          </a:ln>
        </p:spPr>
      </p:sp>
      <p:sp>
        <p:nvSpPr>
          <p:cNvPr id="38" name="Shape 36"/>
          <p:cNvSpPr/>
          <p:nvPr/>
        </p:nvSpPr>
        <p:spPr>
          <a:xfrm>
            <a:off x="3703320" y="3017520"/>
            <a:ext cx="3200400" cy="310896"/>
          </a:xfrm>
          <a:prstGeom prst="roundRect">
            <a:avLst>
              <a:gd name="adj" fmla="val 20588"/>
            </a:avLst>
          </a:prstGeom>
          <a:solidFill>
            <a:srgbClr val="0E8F8A"/>
          </a:solidFill>
          <a:ln w="12700">
            <a:solidFill>
              <a:srgbClr val="0E8F8A"/>
            </a:solidFill>
            <a:prstDash val="solid"/>
          </a:ln>
        </p:spPr>
      </p:sp>
      <p:sp>
        <p:nvSpPr>
          <p:cNvPr id="39" name="Text 37"/>
          <p:cNvSpPr txBox="1"/>
          <p:nvPr/>
        </p:nvSpPr>
        <p:spPr>
          <a:xfrm>
            <a:off x="3794760" y="3017520"/>
            <a:ext cx="301752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Rental and sales</a:t>
            </a:r>
            <a:endParaRPr lang="en-US" sz="1000" dirty="0"/>
          </a:p>
        </p:txBody>
      </p:sp>
      <p:sp>
        <p:nvSpPr>
          <p:cNvPr id="40" name="Text 38"/>
          <p:cNvSpPr txBox="1"/>
          <p:nvPr/>
        </p:nvSpPr>
        <p:spPr>
          <a:xfrm>
            <a:off x="3794760" y="3383280"/>
            <a:ext cx="3017520" cy="1088136"/>
          </a:xfrm>
          <a:prstGeom prst="rect">
            <a:avLst/>
          </a:prstGeom>
          <a:noFill/>
          <a:ln/>
        </p:spPr>
        <p:txBody>
          <a:bodyPr wrap="square" lIns="0" tIns="0" rIns="0" bIns="0" rtlCol="0" anchor="t"/>
          <a:lstStyle/>
          <a:p>
            <a:pPr indent="0" marL="0">
              <a:buNone/>
            </a:pPr>
            <a:r>
              <a:rPr lang="en-US" sz="900" dirty="0">
                <a:solidFill>
                  <a:srgbClr val="1F2A37"/>
                </a:solidFill>
                <a:latin typeface="Calibri" pitchFamily="34" charset="0"/>
                <a:ea typeface="Calibri" pitchFamily="34" charset="-122"/>
                <a:cs typeface="Calibri" pitchFamily="34" charset="-120"/>
              </a:rPr>
              <a:t>Rentals resolve by rate type (daily, monthly, 6 or 12 month) from the committed term. Sales resolve a single price. Capped billing, such as 28 of 30 days, is held on the contract and passed to billing.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Rules, expiry and notifications</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Replaces the original rules slide. Items marked * need USME confirmation.</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10</a:t>
            </a:r>
            <a:endParaRPr lang="en-US" sz="800" dirty="0"/>
          </a:p>
        </p:txBody>
      </p:sp>
      <p:sp>
        <p:nvSpPr>
          <p:cNvPr id="6" name="Shape 4"/>
          <p:cNvSpPr/>
          <p:nvPr/>
        </p:nvSpPr>
        <p:spPr>
          <a:xfrm>
            <a:off x="365760" y="1005840"/>
            <a:ext cx="2697480" cy="1645920"/>
          </a:xfrm>
          <a:prstGeom prst="roundRect">
            <a:avLst>
              <a:gd name="adj" fmla="val 3889"/>
            </a:avLst>
          </a:prstGeom>
          <a:solidFill>
            <a:srgbClr val="FFFFFF"/>
          </a:solidFill>
          <a:ln w="12700">
            <a:solidFill>
              <a:srgbClr val="C9D3E0"/>
            </a:solidFill>
            <a:prstDash val="solid"/>
          </a:ln>
        </p:spPr>
      </p:sp>
      <p:sp>
        <p:nvSpPr>
          <p:cNvPr id="7" name="Shape 5"/>
          <p:cNvSpPr/>
          <p:nvPr/>
        </p:nvSpPr>
        <p:spPr>
          <a:xfrm>
            <a:off x="365760" y="1005840"/>
            <a:ext cx="2697480" cy="310896"/>
          </a:xfrm>
          <a:prstGeom prst="roundRect">
            <a:avLst>
              <a:gd name="adj" fmla="val 20588"/>
            </a:avLst>
          </a:prstGeom>
          <a:solidFill>
            <a:srgbClr val="0B6FD6"/>
          </a:solidFill>
          <a:ln w="12700">
            <a:solidFill>
              <a:srgbClr val="0B6FD6"/>
            </a:solidFill>
            <a:prstDash val="solid"/>
          </a:ln>
        </p:spPr>
      </p:sp>
      <p:sp>
        <p:nvSpPr>
          <p:cNvPr id="8" name="Text 6"/>
          <p:cNvSpPr txBox="1"/>
          <p:nvPr/>
        </p:nvSpPr>
        <p:spPr>
          <a:xfrm>
            <a:off x="457200" y="1005840"/>
            <a:ext cx="251460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Dates</a:t>
            </a:r>
            <a:endParaRPr lang="en-US" sz="1000" dirty="0"/>
          </a:p>
        </p:txBody>
      </p:sp>
      <p:sp>
        <p:nvSpPr>
          <p:cNvPr id="9" name="Text 7"/>
          <p:cNvSpPr txBox="1"/>
          <p:nvPr/>
        </p:nvSpPr>
        <p:spPr>
          <a:xfrm>
            <a:off x="457200" y="1371600"/>
            <a:ext cx="2514600" cy="1225296"/>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A Trade Agreement Line must sit inside its contract dates. The price date must sit inside the line dates. Saving outside the range is blocked.</a:t>
            </a:r>
            <a:endParaRPr lang="en-US" sz="1100" dirty="0"/>
          </a:p>
        </p:txBody>
      </p:sp>
      <p:sp>
        <p:nvSpPr>
          <p:cNvPr id="10" name="Shape 8"/>
          <p:cNvSpPr/>
          <p:nvPr/>
        </p:nvSpPr>
        <p:spPr>
          <a:xfrm>
            <a:off x="3200400" y="1005840"/>
            <a:ext cx="2697480" cy="1645920"/>
          </a:xfrm>
          <a:prstGeom prst="roundRect">
            <a:avLst>
              <a:gd name="adj" fmla="val 3889"/>
            </a:avLst>
          </a:prstGeom>
          <a:solidFill>
            <a:srgbClr val="FFFFFF"/>
          </a:solidFill>
          <a:ln w="12700">
            <a:solidFill>
              <a:srgbClr val="C9D3E0"/>
            </a:solidFill>
            <a:prstDash val="solid"/>
          </a:ln>
        </p:spPr>
      </p:sp>
      <p:sp>
        <p:nvSpPr>
          <p:cNvPr id="11" name="Shape 9"/>
          <p:cNvSpPr/>
          <p:nvPr/>
        </p:nvSpPr>
        <p:spPr>
          <a:xfrm>
            <a:off x="3200400" y="1005840"/>
            <a:ext cx="2697480" cy="310896"/>
          </a:xfrm>
          <a:prstGeom prst="roundRect">
            <a:avLst>
              <a:gd name="adj" fmla="val 20588"/>
            </a:avLst>
          </a:prstGeom>
          <a:solidFill>
            <a:srgbClr val="0B6FD6"/>
          </a:solidFill>
          <a:ln w="12700">
            <a:solidFill>
              <a:srgbClr val="0B6FD6"/>
            </a:solidFill>
            <a:prstDash val="solid"/>
          </a:ln>
        </p:spPr>
      </p:sp>
      <p:sp>
        <p:nvSpPr>
          <p:cNvPr id="12" name="Text 10"/>
          <p:cNvSpPr txBox="1"/>
          <p:nvPr/>
        </p:nvSpPr>
        <p:spPr>
          <a:xfrm>
            <a:off x="3291840" y="1005840"/>
            <a:ext cx="251460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Precedence *</a:t>
            </a:r>
            <a:endParaRPr lang="en-US" sz="1000" dirty="0"/>
          </a:p>
        </p:txBody>
      </p:sp>
      <p:sp>
        <p:nvSpPr>
          <p:cNvPr id="13" name="Text 11"/>
          <p:cNvSpPr txBox="1"/>
          <p:nvPr/>
        </p:nvSpPr>
        <p:spPr>
          <a:xfrm>
            <a:off x="3291840" y="1371600"/>
            <a:ext cx="2514600" cy="1225296"/>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Customer contract, then GPO tier, then standard price. An alternative is "lowest price wins"; confirm with USME.</a:t>
            </a:r>
            <a:endParaRPr lang="en-US" sz="1100" dirty="0"/>
          </a:p>
        </p:txBody>
      </p:sp>
      <p:sp>
        <p:nvSpPr>
          <p:cNvPr id="14" name="Shape 12"/>
          <p:cNvSpPr/>
          <p:nvPr/>
        </p:nvSpPr>
        <p:spPr>
          <a:xfrm>
            <a:off x="6035040" y="1005840"/>
            <a:ext cx="2697480" cy="1645920"/>
          </a:xfrm>
          <a:prstGeom prst="roundRect">
            <a:avLst>
              <a:gd name="adj" fmla="val 3889"/>
            </a:avLst>
          </a:prstGeom>
          <a:solidFill>
            <a:srgbClr val="FFFFFF"/>
          </a:solidFill>
          <a:ln w="12700">
            <a:solidFill>
              <a:srgbClr val="C9D3E0"/>
            </a:solidFill>
            <a:prstDash val="solid"/>
          </a:ln>
        </p:spPr>
      </p:sp>
      <p:sp>
        <p:nvSpPr>
          <p:cNvPr id="15" name="Shape 13"/>
          <p:cNvSpPr/>
          <p:nvPr/>
        </p:nvSpPr>
        <p:spPr>
          <a:xfrm>
            <a:off x="6035040" y="1005840"/>
            <a:ext cx="2697480" cy="310896"/>
          </a:xfrm>
          <a:prstGeom prst="roundRect">
            <a:avLst>
              <a:gd name="adj" fmla="val 20588"/>
            </a:avLst>
          </a:prstGeom>
          <a:solidFill>
            <a:srgbClr val="0B6FD6"/>
          </a:solidFill>
          <a:ln w="12700">
            <a:solidFill>
              <a:srgbClr val="0B6FD6"/>
            </a:solidFill>
            <a:prstDash val="solid"/>
          </a:ln>
        </p:spPr>
      </p:sp>
      <p:sp>
        <p:nvSpPr>
          <p:cNvPr id="16" name="Text 14"/>
          <p:cNvSpPr txBox="1"/>
          <p:nvPr/>
        </p:nvSpPr>
        <p:spPr>
          <a:xfrm>
            <a:off x="6126480" y="1005840"/>
            <a:ext cx="251460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Immutability</a:t>
            </a:r>
            <a:endParaRPr lang="en-US" sz="1000" dirty="0"/>
          </a:p>
        </p:txBody>
      </p:sp>
      <p:sp>
        <p:nvSpPr>
          <p:cNvPr id="17" name="Text 15"/>
          <p:cNvSpPr txBox="1"/>
          <p:nvPr/>
        </p:nvSpPr>
        <p:spPr>
          <a:xfrm>
            <a:off x="6126480" y="1371600"/>
            <a:ext cx="2514600" cy="1225296"/>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Activated lines are not edited. Changes are Amendments or Renewals. Quotes and orders keep their price snapshot.</a:t>
            </a:r>
            <a:endParaRPr lang="en-US" sz="1100" dirty="0"/>
          </a:p>
        </p:txBody>
      </p:sp>
      <p:sp>
        <p:nvSpPr>
          <p:cNvPr id="18" name="Shape 16"/>
          <p:cNvSpPr/>
          <p:nvPr/>
        </p:nvSpPr>
        <p:spPr>
          <a:xfrm>
            <a:off x="365760" y="2788920"/>
            <a:ext cx="2697480" cy="1645920"/>
          </a:xfrm>
          <a:prstGeom prst="roundRect">
            <a:avLst>
              <a:gd name="adj" fmla="val 3889"/>
            </a:avLst>
          </a:prstGeom>
          <a:solidFill>
            <a:srgbClr val="FFFFFF"/>
          </a:solidFill>
          <a:ln w="12700">
            <a:solidFill>
              <a:srgbClr val="C9D3E0"/>
            </a:solidFill>
            <a:prstDash val="solid"/>
          </a:ln>
        </p:spPr>
      </p:sp>
      <p:sp>
        <p:nvSpPr>
          <p:cNvPr id="19" name="Shape 17"/>
          <p:cNvSpPr/>
          <p:nvPr/>
        </p:nvSpPr>
        <p:spPr>
          <a:xfrm>
            <a:off x="365760" y="2788920"/>
            <a:ext cx="2697480" cy="310896"/>
          </a:xfrm>
          <a:prstGeom prst="roundRect">
            <a:avLst>
              <a:gd name="adj" fmla="val 20588"/>
            </a:avLst>
          </a:prstGeom>
          <a:solidFill>
            <a:srgbClr val="D98200"/>
          </a:solidFill>
          <a:ln w="12700">
            <a:solidFill>
              <a:srgbClr val="D98200"/>
            </a:solidFill>
            <a:prstDash val="solid"/>
          </a:ln>
        </p:spPr>
      </p:sp>
      <p:sp>
        <p:nvSpPr>
          <p:cNvPr id="20" name="Text 18"/>
          <p:cNvSpPr txBox="1"/>
          <p:nvPr/>
        </p:nvSpPr>
        <p:spPr>
          <a:xfrm>
            <a:off x="457200" y="2788920"/>
            <a:ext cx="251460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Expiry *</a:t>
            </a:r>
            <a:endParaRPr lang="en-US" sz="1000" dirty="0"/>
          </a:p>
        </p:txBody>
      </p:sp>
      <p:sp>
        <p:nvSpPr>
          <p:cNvPr id="21" name="Text 19"/>
          <p:cNvSpPr txBox="1"/>
          <p:nvPr/>
        </p:nvSpPr>
        <p:spPr>
          <a:xfrm>
            <a:off x="457200" y="3154680"/>
            <a:ext cx="2514600" cy="1225296"/>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After the End Date no contract price is pulled. Decide: hard stop, standard price with a flag, or a grace period at current rates.</a:t>
            </a:r>
            <a:endParaRPr lang="en-US" sz="1100" dirty="0"/>
          </a:p>
        </p:txBody>
      </p:sp>
      <p:sp>
        <p:nvSpPr>
          <p:cNvPr id="22" name="Shape 20"/>
          <p:cNvSpPr/>
          <p:nvPr/>
        </p:nvSpPr>
        <p:spPr>
          <a:xfrm>
            <a:off x="3200400" y="2788920"/>
            <a:ext cx="2697480" cy="1645920"/>
          </a:xfrm>
          <a:prstGeom prst="roundRect">
            <a:avLst>
              <a:gd name="adj" fmla="val 3889"/>
            </a:avLst>
          </a:prstGeom>
          <a:solidFill>
            <a:srgbClr val="FFFFFF"/>
          </a:solidFill>
          <a:ln w="12700">
            <a:solidFill>
              <a:srgbClr val="C9D3E0"/>
            </a:solidFill>
            <a:prstDash val="solid"/>
          </a:ln>
        </p:spPr>
      </p:sp>
      <p:sp>
        <p:nvSpPr>
          <p:cNvPr id="23" name="Shape 21"/>
          <p:cNvSpPr/>
          <p:nvPr/>
        </p:nvSpPr>
        <p:spPr>
          <a:xfrm>
            <a:off x="3200400" y="2788920"/>
            <a:ext cx="2697480" cy="310896"/>
          </a:xfrm>
          <a:prstGeom prst="roundRect">
            <a:avLst>
              <a:gd name="adj" fmla="val 20588"/>
            </a:avLst>
          </a:prstGeom>
          <a:solidFill>
            <a:srgbClr val="D98200"/>
          </a:solidFill>
          <a:ln w="12700">
            <a:solidFill>
              <a:srgbClr val="D98200"/>
            </a:solidFill>
            <a:prstDash val="solid"/>
          </a:ln>
        </p:spPr>
      </p:sp>
      <p:sp>
        <p:nvSpPr>
          <p:cNvPr id="24" name="Text 22"/>
          <p:cNvSpPr txBox="1"/>
          <p:nvPr/>
        </p:nvSpPr>
        <p:spPr>
          <a:xfrm>
            <a:off x="3291840" y="2788920"/>
            <a:ext cx="251460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Alerts</a:t>
            </a:r>
            <a:endParaRPr lang="en-US" sz="1000" dirty="0"/>
          </a:p>
        </p:txBody>
      </p:sp>
      <p:sp>
        <p:nvSpPr>
          <p:cNvPr id="25" name="Text 23"/>
          <p:cNvSpPr txBox="1"/>
          <p:nvPr/>
        </p:nvSpPr>
        <p:spPr>
          <a:xfrm>
            <a:off x="3291840" y="3154680"/>
            <a:ext cx="2514600" cy="1225296"/>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Email and in-app alerts to the owner and contracts group at 90, 60 and 30 days. Timing to be confirmed.</a:t>
            </a:r>
            <a:endParaRPr lang="en-US" sz="1100" dirty="0"/>
          </a:p>
        </p:txBody>
      </p:sp>
      <p:sp>
        <p:nvSpPr>
          <p:cNvPr id="26" name="Shape 24"/>
          <p:cNvSpPr/>
          <p:nvPr/>
        </p:nvSpPr>
        <p:spPr>
          <a:xfrm>
            <a:off x="6035040" y="2788920"/>
            <a:ext cx="2697480" cy="1645920"/>
          </a:xfrm>
          <a:prstGeom prst="roundRect">
            <a:avLst>
              <a:gd name="adj" fmla="val 3889"/>
            </a:avLst>
          </a:prstGeom>
          <a:solidFill>
            <a:srgbClr val="FFFFFF"/>
          </a:solidFill>
          <a:ln w="12700">
            <a:solidFill>
              <a:srgbClr val="C9D3E0"/>
            </a:solidFill>
            <a:prstDash val="solid"/>
          </a:ln>
        </p:spPr>
      </p:sp>
      <p:sp>
        <p:nvSpPr>
          <p:cNvPr id="27" name="Shape 25"/>
          <p:cNvSpPr/>
          <p:nvPr/>
        </p:nvSpPr>
        <p:spPr>
          <a:xfrm>
            <a:off x="6035040" y="2788920"/>
            <a:ext cx="2697480" cy="310896"/>
          </a:xfrm>
          <a:prstGeom prst="roundRect">
            <a:avLst>
              <a:gd name="adj" fmla="val 20588"/>
            </a:avLst>
          </a:prstGeom>
          <a:solidFill>
            <a:srgbClr val="0E8F8A"/>
          </a:solidFill>
          <a:ln w="12700">
            <a:solidFill>
              <a:srgbClr val="0E8F8A"/>
            </a:solidFill>
            <a:prstDash val="solid"/>
          </a:ln>
        </p:spPr>
      </p:sp>
      <p:sp>
        <p:nvSpPr>
          <p:cNvPr id="28" name="Text 26"/>
          <p:cNvSpPr txBox="1"/>
          <p:nvPr/>
        </p:nvSpPr>
        <p:spPr>
          <a:xfrm>
            <a:off x="6126480" y="2788920"/>
            <a:ext cx="251460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Rental terms</a:t>
            </a:r>
            <a:endParaRPr lang="en-US" sz="1000" dirty="0"/>
          </a:p>
        </p:txBody>
      </p:sp>
      <p:sp>
        <p:nvSpPr>
          <p:cNvPr id="29" name="Text 27"/>
          <p:cNvSpPr txBox="1"/>
          <p:nvPr/>
        </p:nvSpPr>
        <p:spPr>
          <a:xfrm>
            <a:off x="6126480" y="3154680"/>
            <a:ext cx="2514600" cy="1225296"/>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Rates are term-aware. The system picks the line for the committed term, and the daily rate applies after it.</a:t>
            </a:r>
            <a:endParaRPr lang="en-US" sz="1100" dirty="0"/>
          </a:p>
        </p:txBody>
      </p:sp>
      <p:sp>
        <p:nvSpPr>
          <p:cNvPr id="30" name="Text 28"/>
          <p:cNvSpPr txBox="1"/>
          <p:nvPr/>
        </p:nvSpPr>
        <p:spPr>
          <a:xfrm>
            <a:off x="365760" y="4572000"/>
            <a:ext cx="45720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Currency is USD throughout.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Amending and renewing a contract</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Both create a new version linked to the old one. The old record is never overwritten.</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11</a:t>
            </a:r>
            <a:endParaRPr lang="en-US" sz="800" dirty="0"/>
          </a:p>
        </p:txBody>
      </p:sp>
      <p:sp>
        <p:nvSpPr>
          <p:cNvPr id="6" name="Shape 4"/>
          <p:cNvSpPr/>
          <p:nvPr/>
        </p:nvSpPr>
        <p:spPr>
          <a:xfrm>
            <a:off x="365760" y="1005840"/>
            <a:ext cx="4114800" cy="347472"/>
          </a:xfrm>
          <a:prstGeom prst="roundRect">
            <a:avLst>
              <a:gd name="adj" fmla="val 18421"/>
            </a:avLst>
          </a:prstGeom>
          <a:solidFill>
            <a:srgbClr val="0B6FD6"/>
          </a:solidFill>
          <a:ln w="12700">
            <a:solidFill>
              <a:srgbClr val="0B6FD6"/>
            </a:solidFill>
            <a:prstDash val="solid"/>
          </a:ln>
        </p:spPr>
      </p:sp>
      <p:sp>
        <p:nvSpPr>
          <p:cNvPr id="7" name="Text 5"/>
          <p:cNvSpPr txBox="1"/>
          <p:nvPr/>
        </p:nvSpPr>
        <p:spPr>
          <a:xfrm>
            <a:off x="457200" y="1005840"/>
            <a:ext cx="393192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Amendment (mid-term change)</a:t>
            </a:r>
            <a:endParaRPr lang="en-US" sz="1100" dirty="0"/>
          </a:p>
        </p:txBody>
      </p:sp>
      <p:sp>
        <p:nvSpPr>
          <p:cNvPr id="8" name="Shape 6"/>
          <p:cNvSpPr/>
          <p:nvPr/>
        </p:nvSpPr>
        <p:spPr>
          <a:xfrm>
            <a:off x="365760" y="1463040"/>
            <a:ext cx="4114800" cy="475488"/>
          </a:xfrm>
          <a:prstGeom prst="roundRect">
            <a:avLst>
              <a:gd name="adj" fmla="val 13462"/>
            </a:avLst>
          </a:prstGeom>
          <a:solidFill>
            <a:srgbClr val="F4F7FB"/>
          </a:solidFill>
          <a:ln w="12700">
            <a:solidFill>
              <a:srgbClr val="C9D3E0"/>
            </a:solidFill>
            <a:prstDash val="solid"/>
          </a:ln>
        </p:spPr>
      </p:sp>
      <p:sp>
        <p:nvSpPr>
          <p:cNvPr id="9" name="Shape 7"/>
          <p:cNvSpPr/>
          <p:nvPr/>
        </p:nvSpPr>
        <p:spPr>
          <a:xfrm>
            <a:off x="457200" y="1581912"/>
            <a:ext cx="237744" cy="237744"/>
          </a:xfrm>
          <a:prstGeom prst="ellipse">
            <a:avLst/>
          </a:prstGeom>
          <a:solidFill>
            <a:srgbClr val="0B6FD6"/>
          </a:solidFill>
          <a:ln w="12700">
            <a:solidFill>
              <a:srgbClr val="0B6FD6"/>
            </a:solidFill>
            <a:prstDash val="solid"/>
          </a:ln>
        </p:spPr>
      </p:sp>
      <p:sp>
        <p:nvSpPr>
          <p:cNvPr id="10" name="Text 8"/>
          <p:cNvSpPr txBox="1"/>
          <p:nvPr/>
        </p:nvSpPr>
        <p:spPr>
          <a:xfrm>
            <a:off x="457200" y="1581912"/>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11" name="Text 9"/>
          <p:cNvSpPr txBox="1"/>
          <p:nvPr/>
        </p:nvSpPr>
        <p:spPr>
          <a:xfrm>
            <a:off x="804672" y="1463040"/>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Request a change: new price, item, tier or end date</a:t>
            </a:r>
            <a:endParaRPr lang="en-US" sz="900" dirty="0"/>
          </a:p>
        </p:txBody>
      </p:sp>
      <p:sp>
        <p:nvSpPr>
          <p:cNvPr id="12" name="Shape 10"/>
          <p:cNvSpPr/>
          <p:nvPr/>
        </p:nvSpPr>
        <p:spPr>
          <a:xfrm>
            <a:off x="365760" y="2029968"/>
            <a:ext cx="4114800" cy="475488"/>
          </a:xfrm>
          <a:prstGeom prst="roundRect">
            <a:avLst>
              <a:gd name="adj" fmla="val 13462"/>
            </a:avLst>
          </a:prstGeom>
          <a:solidFill>
            <a:srgbClr val="F4F7FB"/>
          </a:solidFill>
          <a:ln w="12700">
            <a:solidFill>
              <a:srgbClr val="C9D3E0"/>
            </a:solidFill>
            <a:prstDash val="solid"/>
          </a:ln>
        </p:spPr>
      </p:sp>
      <p:sp>
        <p:nvSpPr>
          <p:cNvPr id="13" name="Shape 11"/>
          <p:cNvSpPr/>
          <p:nvPr/>
        </p:nvSpPr>
        <p:spPr>
          <a:xfrm>
            <a:off x="457200" y="2148840"/>
            <a:ext cx="237744" cy="237744"/>
          </a:xfrm>
          <a:prstGeom prst="ellipse">
            <a:avLst/>
          </a:prstGeom>
          <a:solidFill>
            <a:srgbClr val="0B6FD6"/>
          </a:solidFill>
          <a:ln w="12700">
            <a:solidFill>
              <a:srgbClr val="0B6FD6"/>
            </a:solidFill>
            <a:prstDash val="solid"/>
          </a:ln>
        </p:spPr>
      </p:sp>
      <p:sp>
        <p:nvSpPr>
          <p:cNvPr id="14" name="Text 12"/>
          <p:cNvSpPr txBox="1"/>
          <p:nvPr/>
        </p:nvSpPr>
        <p:spPr>
          <a:xfrm>
            <a:off x="457200" y="2148840"/>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5" name="Text 13"/>
          <p:cNvSpPr txBox="1"/>
          <p:nvPr/>
        </p:nvSpPr>
        <p:spPr>
          <a:xfrm>
            <a:off x="804672" y="2029968"/>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Clone the contract and lines as a new version, Supersedes = current</a:t>
            </a:r>
            <a:endParaRPr lang="en-US" sz="900" dirty="0"/>
          </a:p>
        </p:txBody>
      </p:sp>
      <p:sp>
        <p:nvSpPr>
          <p:cNvPr id="16" name="Shape 14"/>
          <p:cNvSpPr/>
          <p:nvPr/>
        </p:nvSpPr>
        <p:spPr>
          <a:xfrm>
            <a:off x="365760" y="2596896"/>
            <a:ext cx="4114800" cy="475488"/>
          </a:xfrm>
          <a:prstGeom prst="roundRect">
            <a:avLst>
              <a:gd name="adj" fmla="val 13462"/>
            </a:avLst>
          </a:prstGeom>
          <a:solidFill>
            <a:srgbClr val="F4F7FB"/>
          </a:solidFill>
          <a:ln w="12700">
            <a:solidFill>
              <a:srgbClr val="C9D3E0"/>
            </a:solidFill>
            <a:prstDash val="solid"/>
          </a:ln>
        </p:spPr>
      </p:sp>
      <p:sp>
        <p:nvSpPr>
          <p:cNvPr id="17" name="Shape 15"/>
          <p:cNvSpPr/>
          <p:nvPr/>
        </p:nvSpPr>
        <p:spPr>
          <a:xfrm>
            <a:off x="457200" y="2715768"/>
            <a:ext cx="237744" cy="237744"/>
          </a:xfrm>
          <a:prstGeom prst="ellipse">
            <a:avLst/>
          </a:prstGeom>
          <a:solidFill>
            <a:srgbClr val="0B6FD6"/>
          </a:solidFill>
          <a:ln w="12700">
            <a:solidFill>
              <a:srgbClr val="0B6FD6"/>
            </a:solidFill>
            <a:prstDash val="solid"/>
          </a:ln>
        </p:spPr>
      </p:sp>
      <p:sp>
        <p:nvSpPr>
          <p:cNvPr id="18" name="Text 16"/>
          <p:cNvSpPr txBox="1"/>
          <p:nvPr/>
        </p:nvSpPr>
        <p:spPr>
          <a:xfrm>
            <a:off x="457200" y="2715768"/>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19" name="Text 17"/>
          <p:cNvSpPr txBox="1"/>
          <p:nvPr/>
        </p:nvSpPr>
        <p:spPr>
          <a:xfrm>
            <a:off x="804672" y="2596896"/>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Edit the new version only, with an effective date</a:t>
            </a:r>
            <a:endParaRPr lang="en-US" sz="900" dirty="0"/>
          </a:p>
        </p:txBody>
      </p:sp>
      <p:sp>
        <p:nvSpPr>
          <p:cNvPr id="20" name="Shape 18"/>
          <p:cNvSpPr/>
          <p:nvPr/>
        </p:nvSpPr>
        <p:spPr>
          <a:xfrm>
            <a:off x="365760" y="3163824"/>
            <a:ext cx="4114800" cy="475488"/>
          </a:xfrm>
          <a:prstGeom prst="roundRect">
            <a:avLst>
              <a:gd name="adj" fmla="val 13462"/>
            </a:avLst>
          </a:prstGeom>
          <a:solidFill>
            <a:srgbClr val="F4F7FB"/>
          </a:solidFill>
          <a:ln w="12700">
            <a:solidFill>
              <a:srgbClr val="C9D3E0"/>
            </a:solidFill>
            <a:prstDash val="solid"/>
          </a:ln>
        </p:spPr>
      </p:sp>
      <p:sp>
        <p:nvSpPr>
          <p:cNvPr id="21" name="Shape 19"/>
          <p:cNvSpPr/>
          <p:nvPr/>
        </p:nvSpPr>
        <p:spPr>
          <a:xfrm>
            <a:off x="457200" y="3282696"/>
            <a:ext cx="237744" cy="237744"/>
          </a:xfrm>
          <a:prstGeom prst="ellipse">
            <a:avLst/>
          </a:prstGeom>
          <a:solidFill>
            <a:srgbClr val="0B6FD6"/>
          </a:solidFill>
          <a:ln w="12700">
            <a:solidFill>
              <a:srgbClr val="0B6FD6"/>
            </a:solidFill>
            <a:prstDash val="solid"/>
          </a:ln>
        </p:spPr>
      </p:sp>
      <p:sp>
        <p:nvSpPr>
          <p:cNvPr id="22" name="Text 20"/>
          <p:cNvSpPr txBox="1"/>
          <p:nvPr/>
        </p:nvSpPr>
        <p:spPr>
          <a:xfrm>
            <a:off x="457200" y="3282696"/>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23" name="Text 21"/>
          <p:cNvSpPr txBox="1"/>
          <p:nvPr/>
        </p:nvSpPr>
        <p:spPr>
          <a:xfrm>
            <a:off x="804672" y="3163824"/>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Approval process runs as for a new contract</a:t>
            </a:r>
            <a:endParaRPr lang="en-US" sz="900" dirty="0"/>
          </a:p>
        </p:txBody>
      </p:sp>
      <p:sp>
        <p:nvSpPr>
          <p:cNvPr id="24" name="Shape 22"/>
          <p:cNvSpPr/>
          <p:nvPr/>
        </p:nvSpPr>
        <p:spPr>
          <a:xfrm>
            <a:off x="365760" y="3730752"/>
            <a:ext cx="4114800" cy="475488"/>
          </a:xfrm>
          <a:prstGeom prst="roundRect">
            <a:avLst>
              <a:gd name="adj" fmla="val 13462"/>
            </a:avLst>
          </a:prstGeom>
          <a:solidFill>
            <a:srgbClr val="F4F7FB"/>
          </a:solidFill>
          <a:ln w="12700">
            <a:solidFill>
              <a:srgbClr val="C9D3E0"/>
            </a:solidFill>
            <a:prstDash val="solid"/>
          </a:ln>
        </p:spPr>
      </p:sp>
      <p:sp>
        <p:nvSpPr>
          <p:cNvPr id="25" name="Shape 23"/>
          <p:cNvSpPr/>
          <p:nvPr/>
        </p:nvSpPr>
        <p:spPr>
          <a:xfrm>
            <a:off x="457200" y="3849624"/>
            <a:ext cx="237744" cy="237744"/>
          </a:xfrm>
          <a:prstGeom prst="ellipse">
            <a:avLst/>
          </a:prstGeom>
          <a:solidFill>
            <a:srgbClr val="0B6FD6"/>
          </a:solidFill>
          <a:ln w="12700">
            <a:solidFill>
              <a:srgbClr val="0B6FD6"/>
            </a:solidFill>
            <a:prstDash val="solid"/>
          </a:ln>
        </p:spPr>
      </p:sp>
      <p:sp>
        <p:nvSpPr>
          <p:cNvPr id="26" name="Text 24"/>
          <p:cNvSpPr txBox="1"/>
          <p:nvPr/>
        </p:nvSpPr>
        <p:spPr>
          <a:xfrm>
            <a:off x="457200" y="3849624"/>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27" name="Text 25"/>
          <p:cNvSpPr txBox="1"/>
          <p:nvPr/>
        </p:nvSpPr>
        <p:spPr>
          <a:xfrm>
            <a:off x="804672" y="3730752"/>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On activation the old version ends the day before the effective date</a:t>
            </a:r>
            <a:endParaRPr lang="en-US" sz="900" dirty="0"/>
          </a:p>
        </p:txBody>
      </p:sp>
      <p:sp>
        <p:nvSpPr>
          <p:cNvPr id="28" name="Shape 26"/>
          <p:cNvSpPr/>
          <p:nvPr/>
        </p:nvSpPr>
        <p:spPr>
          <a:xfrm>
            <a:off x="4663440" y="1005840"/>
            <a:ext cx="4114800" cy="347472"/>
          </a:xfrm>
          <a:prstGeom prst="roundRect">
            <a:avLst>
              <a:gd name="adj" fmla="val 18421"/>
            </a:avLst>
          </a:prstGeom>
          <a:solidFill>
            <a:srgbClr val="0E8F8A"/>
          </a:solidFill>
          <a:ln w="12700">
            <a:solidFill>
              <a:srgbClr val="0E8F8A"/>
            </a:solidFill>
            <a:prstDash val="solid"/>
          </a:ln>
        </p:spPr>
      </p:sp>
      <p:sp>
        <p:nvSpPr>
          <p:cNvPr id="29" name="Text 27"/>
          <p:cNvSpPr txBox="1"/>
          <p:nvPr/>
        </p:nvSpPr>
        <p:spPr>
          <a:xfrm>
            <a:off x="4754880" y="1005840"/>
            <a:ext cx="393192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Renewal (end of term)</a:t>
            </a:r>
            <a:endParaRPr lang="en-US" sz="1100" dirty="0"/>
          </a:p>
        </p:txBody>
      </p:sp>
      <p:sp>
        <p:nvSpPr>
          <p:cNvPr id="30" name="Shape 28"/>
          <p:cNvSpPr/>
          <p:nvPr/>
        </p:nvSpPr>
        <p:spPr>
          <a:xfrm>
            <a:off x="4663440" y="1463040"/>
            <a:ext cx="4114800" cy="475488"/>
          </a:xfrm>
          <a:prstGeom prst="roundRect">
            <a:avLst>
              <a:gd name="adj" fmla="val 13462"/>
            </a:avLst>
          </a:prstGeom>
          <a:solidFill>
            <a:srgbClr val="F4F7FB"/>
          </a:solidFill>
          <a:ln w="12700">
            <a:solidFill>
              <a:srgbClr val="C9D3E0"/>
            </a:solidFill>
            <a:prstDash val="solid"/>
          </a:ln>
        </p:spPr>
      </p:sp>
      <p:sp>
        <p:nvSpPr>
          <p:cNvPr id="31" name="Shape 29"/>
          <p:cNvSpPr/>
          <p:nvPr/>
        </p:nvSpPr>
        <p:spPr>
          <a:xfrm>
            <a:off x="4754880" y="1581912"/>
            <a:ext cx="237744" cy="237744"/>
          </a:xfrm>
          <a:prstGeom prst="ellipse">
            <a:avLst/>
          </a:prstGeom>
          <a:solidFill>
            <a:srgbClr val="0E8F8A"/>
          </a:solidFill>
          <a:ln w="12700">
            <a:solidFill>
              <a:srgbClr val="0E8F8A"/>
            </a:solidFill>
            <a:prstDash val="solid"/>
          </a:ln>
        </p:spPr>
      </p:sp>
      <p:sp>
        <p:nvSpPr>
          <p:cNvPr id="32" name="Text 30"/>
          <p:cNvSpPr txBox="1"/>
          <p:nvPr/>
        </p:nvSpPr>
        <p:spPr>
          <a:xfrm>
            <a:off x="4754880" y="1581912"/>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33" name="Text 31"/>
          <p:cNvSpPr txBox="1"/>
          <p:nvPr/>
        </p:nvSpPr>
        <p:spPr>
          <a:xfrm>
            <a:off x="5102352" y="1463040"/>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Expiry alert at 90 days starts the renewal task</a:t>
            </a:r>
            <a:endParaRPr lang="en-US" sz="900" dirty="0"/>
          </a:p>
        </p:txBody>
      </p:sp>
      <p:sp>
        <p:nvSpPr>
          <p:cNvPr id="34" name="Shape 32"/>
          <p:cNvSpPr/>
          <p:nvPr/>
        </p:nvSpPr>
        <p:spPr>
          <a:xfrm>
            <a:off x="4663440" y="2029968"/>
            <a:ext cx="4114800" cy="475488"/>
          </a:xfrm>
          <a:prstGeom prst="roundRect">
            <a:avLst>
              <a:gd name="adj" fmla="val 13462"/>
            </a:avLst>
          </a:prstGeom>
          <a:solidFill>
            <a:srgbClr val="F4F7FB"/>
          </a:solidFill>
          <a:ln w="12700">
            <a:solidFill>
              <a:srgbClr val="C9D3E0"/>
            </a:solidFill>
            <a:prstDash val="solid"/>
          </a:ln>
        </p:spPr>
      </p:sp>
      <p:sp>
        <p:nvSpPr>
          <p:cNvPr id="35" name="Shape 33"/>
          <p:cNvSpPr/>
          <p:nvPr/>
        </p:nvSpPr>
        <p:spPr>
          <a:xfrm>
            <a:off x="4754880" y="2148840"/>
            <a:ext cx="237744" cy="237744"/>
          </a:xfrm>
          <a:prstGeom prst="ellipse">
            <a:avLst/>
          </a:prstGeom>
          <a:solidFill>
            <a:srgbClr val="0E8F8A"/>
          </a:solidFill>
          <a:ln w="12700">
            <a:solidFill>
              <a:srgbClr val="0E8F8A"/>
            </a:solidFill>
            <a:prstDash val="solid"/>
          </a:ln>
        </p:spPr>
      </p:sp>
      <p:sp>
        <p:nvSpPr>
          <p:cNvPr id="36" name="Text 34"/>
          <p:cNvSpPr txBox="1"/>
          <p:nvPr/>
        </p:nvSpPr>
        <p:spPr>
          <a:xfrm>
            <a:off x="4754880" y="2148840"/>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37" name="Text 35"/>
          <p:cNvSpPr txBox="1"/>
          <p:nvPr/>
        </p:nvSpPr>
        <p:spPr>
          <a:xfrm>
            <a:off x="5102352" y="2029968"/>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Clone the contract and lines with new dates, Supersedes = current</a:t>
            </a:r>
            <a:endParaRPr lang="en-US" sz="900" dirty="0"/>
          </a:p>
        </p:txBody>
      </p:sp>
      <p:sp>
        <p:nvSpPr>
          <p:cNvPr id="38" name="Shape 36"/>
          <p:cNvSpPr/>
          <p:nvPr/>
        </p:nvSpPr>
        <p:spPr>
          <a:xfrm>
            <a:off x="4663440" y="2596896"/>
            <a:ext cx="4114800" cy="475488"/>
          </a:xfrm>
          <a:prstGeom prst="roundRect">
            <a:avLst>
              <a:gd name="adj" fmla="val 13462"/>
            </a:avLst>
          </a:prstGeom>
          <a:solidFill>
            <a:srgbClr val="F4F7FB"/>
          </a:solidFill>
          <a:ln w="12700">
            <a:solidFill>
              <a:srgbClr val="C9D3E0"/>
            </a:solidFill>
            <a:prstDash val="solid"/>
          </a:ln>
        </p:spPr>
      </p:sp>
      <p:sp>
        <p:nvSpPr>
          <p:cNvPr id="39" name="Shape 37"/>
          <p:cNvSpPr/>
          <p:nvPr/>
        </p:nvSpPr>
        <p:spPr>
          <a:xfrm>
            <a:off x="4754880" y="2715768"/>
            <a:ext cx="237744" cy="237744"/>
          </a:xfrm>
          <a:prstGeom prst="ellipse">
            <a:avLst/>
          </a:prstGeom>
          <a:solidFill>
            <a:srgbClr val="0E8F8A"/>
          </a:solidFill>
          <a:ln w="12700">
            <a:solidFill>
              <a:srgbClr val="0E8F8A"/>
            </a:solidFill>
            <a:prstDash val="solid"/>
          </a:ln>
        </p:spPr>
      </p:sp>
      <p:sp>
        <p:nvSpPr>
          <p:cNvPr id="40" name="Text 38"/>
          <p:cNvSpPr txBox="1"/>
          <p:nvPr/>
        </p:nvSpPr>
        <p:spPr>
          <a:xfrm>
            <a:off x="4754880" y="2715768"/>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41" name="Text 39"/>
          <p:cNvSpPr txBox="1"/>
          <p:nvPr/>
        </p:nvSpPr>
        <p:spPr>
          <a:xfrm>
            <a:off x="5102352" y="2596896"/>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Update prices and terms from the renewal negotiation</a:t>
            </a:r>
            <a:endParaRPr lang="en-US" sz="900" dirty="0"/>
          </a:p>
        </p:txBody>
      </p:sp>
      <p:sp>
        <p:nvSpPr>
          <p:cNvPr id="42" name="Shape 40"/>
          <p:cNvSpPr/>
          <p:nvPr/>
        </p:nvSpPr>
        <p:spPr>
          <a:xfrm>
            <a:off x="4663440" y="3163824"/>
            <a:ext cx="4114800" cy="475488"/>
          </a:xfrm>
          <a:prstGeom prst="roundRect">
            <a:avLst>
              <a:gd name="adj" fmla="val 13462"/>
            </a:avLst>
          </a:prstGeom>
          <a:solidFill>
            <a:srgbClr val="F4F7FB"/>
          </a:solidFill>
          <a:ln w="12700">
            <a:solidFill>
              <a:srgbClr val="C9D3E0"/>
            </a:solidFill>
            <a:prstDash val="solid"/>
          </a:ln>
        </p:spPr>
      </p:sp>
      <p:sp>
        <p:nvSpPr>
          <p:cNvPr id="43" name="Shape 41"/>
          <p:cNvSpPr/>
          <p:nvPr/>
        </p:nvSpPr>
        <p:spPr>
          <a:xfrm>
            <a:off x="4754880" y="3282696"/>
            <a:ext cx="237744" cy="237744"/>
          </a:xfrm>
          <a:prstGeom prst="ellipse">
            <a:avLst/>
          </a:prstGeom>
          <a:solidFill>
            <a:srgbClr val="0E8F8A"/>
          </a:solidFill>
          <a:ln w="12700">
            <a:solidFill>
              <a:srgbClr val="0E8F8A"/>
            </a:solidFill>
            <a:prstDash val="solid"/>
          </a:ln>
        </p:spPr>
      </p:sp>
      <p:sp>
        <p:nvSpPr>
          <p:cNvPr id="44" name="Text 42"/>
          <p:cNvSpPr txBox="1"/>
          <p:nvPr/>
        </p:nvSpPr>
        <p:spPr>
          <a:xfrm>
            <a:off x="4754880" y="3282696"/>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45" name="Text 43"/>
          <p:cNvSpPr txBox="1"/>
          <p:nvPr/>
        </p:nvSpPr>
        <p:spPr>
          <a:xfrm>
            <a:off x="5102352" y="3163824"/>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Approval and activation, with no gap between versions</a:t>
            </a:r>
            <a:endParaRPr lang="en-US" sz="900" dirty="0"/>
          </a:p>
        </p:txBody>
      </p:sp>
      <p:sp>
        <p:nvSpPr>
          <p:cNvPr id="46" name="Shape 44"/>
          <p:cNvSpPr/>
          <p:nvPr/>
        </p:nvSpPr>
        <p:spPr>
          <a:xfrm>
            <a:off x="4663440" y="3730752"/>
            <a:ext cx="4114800" cy="475488"/>
          </a:xfrm>
          <a:prstGeom prst="roundRect">
            <a:avLst>
              <a:gd name="adj" fmla="val 13462"/>
            </a:avLst>
          </a:prstGeom>
          <a:solidFill>
            <a:srgbClr val="F4F7FB"/>
          </a:solidFill>
          <a:ln w="12700">
            <a:solidFill>
              <a:srgbClr val="C9D3E0"/>
            </a:solidFill>
            <a:prstDash val="solid"/>
          </a:ln>
        </p:spPr>
      </p:sp>
      <p:sp>
        <p:nvSpPr>
          <p:cNvPr id="47" name="Shape 45"/>
          <p:cNvSpPr/>
          <p:nvPr/>
        </p:nvSpPr>
        <p:spPr>
          <a:xfrm>
            <a:off x="4754880" y="3849624"/>
            <a:ext cx="237744" cy="237744"/>
          </a:xfrm>
          <a:prstGeom prst="ellipse">
            <a:avLst/>
          </a:prstGeom>
          <a:solidFill>
            <a:srgbClr val="0E8F8A"/>
          </a:solidFill>
          <a:ln w="12700">
            <a:solidFill>
              <a:srgbClr val="0E8F8A"/>
            </a:solidFill>
            <a:prstDash val="solid"/>
          </a:ln>
        </p:spPr>
      </p:sp>
      <p:sp>
        <p:nvSpPr>
          <p:cNvPr id="48" name="Text 46"/>
          <p:cNvSpPr txBox="1"/>
          <p:nvPr/>
        </p:nvSpPr>
        <p:spPr>
          <a:xfrm>
            <a:off x="4754880" y="3849624"/>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49" name="Text 47"/>
          <p:cNvSpPr txBox="1"/>
          <p:nvPr/>
        </p:nvSpPr>
        <p:spPr>
          <a:xfrm>
            <a:off x="5102352" y="3730752"/>
            <a:ext cx="3611880" cy="475488"/>
          </a:xfrm>
          <a:prstGeom prst="rect">
            <a:avLst/>
          </a:prstGeom>
          <a:noFill/>
          <a:ln/>
        </p:spPr>
        <p:txBody>
          <a:bodyPr wrap="square" lIns="0" tIns="0" rIns="0" bIns="0" rtlCol="0" anchor="ctr"/>
          <a:lstStyle/>
          <a:p>
            <a:pPr indent="0" marL="0">
              <a:buNone/>
            </a:pPr>
            <a:r>
              <a:rPr lang="en-US" sz="900" dirty="0">
                <a:solidFill>
                  <a:srgbClr val="1F2A37"/>
                </a:solidFill>
                <a:latin typeface="Calibri" pitchFamily="34" charset="0"/>
                <a:ea typeface="Calibri" pitchFamily="34" charset="-122"/>
                <a:cs typeface="Calibri" pitchFamily="34" charset="-120"/>
              </a:rPr>
              <a:t>Old version moves to Closed (Renewed)</a:t>
            </a:r>
            <a:endParaRPr lang="en-US" sz="900" dirty="0"/>
          </a:p>
        </p:txBody>
      </p:sp>
      <p:sp>
        <p:nvSpPr>
          <p:cNvPr id="50" name="Shape 48"/>
          <p:cNvSpPr/>
          <p:nvPr/>
        </p:nvSpPr>
        <p:spPr>
          <a:xfrm>
            <a:off x="365760" y="4389120"/>
            <a:ext cx="8412480" cy="365760"/>
          </a:xfrm>
          <a:prstGeom prst="roundRect">
            <a:avLst>
              <a:gd name="adj" fmla="val 17500"/>
            </a:avLst>
          </a:prstGeom>
          <a:solidFill>
            <a:srgbClr val="FCEFD9"/>
          </a:solidFill>
          <a:ln w="12700">
            <a:solidFill>
              <a:srgbClr val="D98200"/>
            </a:solidFill>
            <a:prstDash val="solid"/>
          </a:ln>
        </p:spPr>
      </p:sp>
      <p:sp>
        <p:nvSpPr>
          <p:cNvPr id="51" name="Text 49"/>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950" dirty="0">
                <a:solidFill>
                  <a:srgbClr val="1F2A37"/>
                </a:solidFill>
                <a:latin typeface="Calibri" pitchFamily="34" charset="0"/>
                <a:ea typeface="Calibri" pitchFamily="34" charset="-122"/>
                <a:cs typeface="Calibri" pitchFamily="34" charset="-120"/>
              </a:rPr>
              <a:t>Open: do price changes apply to rentals already on rent, or only to new orders? Proposed: new orders only, unless the contract states otherwise. *</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Who maintains pricing agreements, and where the data lives</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Salesforce holds the contract and prices; other systems receive them.</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12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4206240" cy="914400"/>
        </p:xfrm>
        <a:graphic>
          <a:graphicData uri="http://schemas.openxmlformats.org/drawingml/2006/table">
            <a:tbl>
              <a:tblPr/>
              <a:tblGrid>
                <a:gridCol w="1234440"/>
                <a:gridCol w="2971800"/>
              </a:tblGrid>
              <a:tr h="45720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Role</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Responsibility</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r>
              <a:tr h="45720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Contracts team</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Creates contracts and tiers, owns renewals and amendments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5720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Pricing team</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Loads and checks Trade Agreement lines, reviews tiers yearly</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5720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Finance and Legal</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Approve activation, margin floor, special terms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5720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CEC and Sales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Enroll members, quote, request discounts. Cannot edit prices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5720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Billing</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Reads the snapshot on the order, handles disputes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7" name="Shape 4"/>
          <p:cNvSpPr/>
          <p:nvPr/>
        </p:nvSpPr>
        <p:spPr>
          <a:xfrm>
            <a:off x="4846320" y="1005840"/>
            <a:ext cx="3931920" cy="310896"/>
          </a:xfrm>
          <a:prstGeom prst="roundRect">
            <a:avLst>
              <a:gd name="adj" fmla="val 20588"/>
            </a:avLst>
          </a:prstGeom>
          <a:solidFill>
            <a:srgbClr val="1B2A4A"/>
          </a:solidFill>
          <a:ln w="12700">
            <a:solidFill>
              <a:srgbClr val="1B2A4A"/>
            </a:solidFill>
            <a:prstDash val="solid"/>
          </a:ln>
        </p:spPr>
      </p:sp>
      <p:sp>
        <p:nvSpPr>
          <p:cNvPr id="8" name="Text 5"/>
          <p:cNvSpPr txBox="1"/>
          <p:nvPr/>
        </p:nvSpPr>
        <p:spPr>
          <a:xfrm>
            <a:off x="4937760" y="1005840"/>
            <a:ext cx="374904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Systems of record (proposed)</a:t>
            </a:r>
            <a:endParaRPr lang="en-US" sz="1000" dirty="0"/>
          </a:p>
        </p:txBody>
      </p:sp>
      <p:sp>
        <p:nvSpPr>
          <p:cNvPr id="9" name="Shape 6"/>
          <p:cNvSpPr/>
          <p:nvPr/>
        </p:nvSpPr>
        <p:spPr>
          <a:xfrm>
            <a:off x="4846320" y="1463040"/>
            <a:ext cx="3931920" cy="548640"/>
          </a:xfrm>
          <a:prstGeom prst="roundRect">
            <a:avLst>
              <a:gd name="adj" fmla="val 11667"/>
            </a:avLst>
          </a:prstGeom>
          <a:solidFill>
            <a:srgbClr val="E4EEFB"/>
          </a:solidFill>
          <a:ln w="12700">
            <a:solidFill>
              <a:srgbClr val="0B6FD6"/>
            </a:solidFill>
            <a:prstDash val="solid"/>
          </a:ln>
        </p:spPr>
      </p:sp>
      <p:sp>
        <p:nvSpPr>
          <p:cNvPr id="10" name="Text 7"/>
          <p:cNvSpPr txBox="1"/>
          <p:nvPr/>
        </p:nvSpPr>
        <p:spPr>
          <a:xfrm>
            <a:off x="4901184" y="1463040"/>
            <a:ext cx="3822192" cy="548640"/>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Salesforce</a:t>
            </a:r>
            <a:endParaRPr lang="en-US" sz="1000" dirty="0"/>
          </a:p>
          <a:p>
            <a:pPr algn="ctr" indent="0" marL="0">
              <a:buNone/>
            </a:pPr>
            <a:r>
              <a:rPr lang="en-US" sz="800" dirty="0">
                <a:solidFill>
                  <a:srgbClr val="1F2A37"/>
                </a:solidFill>
                <a:latin typeface="Calibri" pitchFamily="34" charset="0"/>
                <a:ea typeface="Calibri" pitchFamily="34" charset="-122"/>
                <a:cs typeface="Calibri" pitchFamily="34" charset="-120"/>
              </a:rPr>
              <a:t>Contract, GPO, tiers, Trade Agreements</a:t>
            </a:r>
            <a:endParaRPr lang="en-US" sz="1000" dirty="0"/>
          </a:p>
        </p:txBody>
      </p:sp>
      <p:sp>
        <p:nvSpPr>
          <p:cNvPr id="11" name="Shape 8"/>
          <p:cNvSpPr/>
          <p:nvPr/>
        </p:nvSpPr>
        <p:spPr>
          <a:xfrm>
            <a:off x="6812280" y="2011680"/>
            <a:ext cx="0" cy="320040"/>
          </a:xfrm>
          <a:prstGeom prst="line">
            <a:avLst/>
          </a:prstGeom>
          <a:noFill/>
          <a:ln w="19050">
            <a:solidFill>
              <a:srgbClr val="5B6B7B"/>
            </a:solidFill>
            <a:prstDash val="solid"/>
            <a:tailEnd type="triangle"/>
          </a:ln>
        </p:spPr>
      </p:sp>
      <p:sp>
        <p:nvSpPr>
          <p:cNvPr id="12" name="Shape 9"/>
          <p:cNvSpPr/>
          <p:nvPr/>
        </p:nvSpPr>
        <p:spPr>
          <a:xfrm>
            <a:off x="4846320" y="2331720"/>
            <a:ext cx="3931920" cy="411480"/>
          </a:xfrm>
          <a:prstGeom prst="roundRect">
            <a:avLst>
              <a:gd name="adj" fmla="val 15556"/>
            </a:avLst>
          </a:prstGeom>
          <a:solidFill>
            <a:srgbClr val="F4F7FB"/>
          </a:solidFill>
          <a:ln w="12700">
            <a:solidFill>
              <a:srgbClr val="C9D3E0"/>
            </a:solidFill>
            <a:prstDash val="solid"/>
          </a:ln>
        </p:spPr>
      </p:sp>
      <p:sp>
        <p:nvSpPr>
          <p:cNvPr id="13" name="Text 10"/>
          <p:cNvSpPr txBox="1"/>
          <p:nvPr/>
        </p:nvSpPr>
        <p:spPr>
          <a:xfrm>
            <a:off x="4901184" y="2331720"/>
            <a:ext cx="3822192" cy="411480"/>
          </a:xfrm>
          <a:prstGeom prst="rect">
            <a:avLst/>
          </a:prstGeom>
          <a:noFill/>
          <a:ln/>
        </p:spPr>
        <p:txBody>
          <a:bodyPr wrap="square" lIns="0" tIns="0" rIns="0" bIns="0" rtlCol="0" anchor="ctr"/>
          <a:lstStyle/>
          <a:p>
            <a:pPr algn="ctr" indent="0" marL="0">
              <a:buNone/>
            </a:pPr>
            <a:r>
              <a:rPr lang="en-US" sz="950" b="1" dirty="0">
                <a:solidFill>
                  <a:srgbClr val="1F2A37"/>
                </a:solidFill>
                <a:latin typeface="Calibri" pitchFamily="34" charset="0"/>
                <a:ea typeface="Calibri" pitchFamily="34" charset="-122"/>
                <a:cs typeface="Calibri" pitchFamily="34" charset="-120"/>
              </a:rPr>
              <a:t>Workato: sync and error handling</a:t>
            </a:r>
            <a:endParaRPr lang="en-US" sz="950" dirty="0"/>
          </a:p>
        </p:txBody>
      </p:sp>
      <p:sp>
        <p:nvSpPr>
          <p:cNvPr id="14" name="Shape 11"/>
          <p:cNvSpPr/>
          <p:nvPr/>
        </p:nvSpPr>
        <p:spPr>
          <a:xfrm>
            <a:off x="5852160" y="2743200"/>
            <a:ext cx="0" cy="365760"/>
          </a:xfrm>
          <a:prstGeom prst="line">
            <a:avLst/>
          </a:prstGeom>
          <a:noFill/>
          <a:ln w="19050">
            <a:solidFill>
              <a:srgbClr val="5B6B7B"/>
            </a:solidFill>
            <a:prstDash val="solid"/>
            <a:tailEnd type="triangle"/>
          </a:ln>
        </p:spPr>
      </p:sp>
      <p:sp>
        <p:nvSpPr>
          <p:cNvPr id="15" name="Shape 12"/>
          <p:cNvSpPr/>
          <p:nvPr/>
        </p:nvSpPr>
        <p:spPr>
          <a:xfrm>
            <a:off x="7772400" y="2743200"/>
            <a:ext cx="0" cy="365760"/>
          </a:xfrm>
          <a:prstGeom prst="line">
            <a:avLst/>
          </a:prstGeom>
          <a:noFill/>
          <a:ln w="19050">
            <a:solidFill>
              <a:srgbClr val="5B6B7B"/>
            </a:solidFill>
            <a:prstDash val="solid"/>
            <a:tailEnd type="triangle"/>
          </a:ln>
        </p:spPr>
      </p:sp>
      <p:sp>
        <p:nvSpPr>
          <p:cNvPr id="16" name="Shape 13"/>
          <p:cNvSpPr/>
          <p:nvPr/>
        </p:nvSpPr>
        <p:spPr>
          <a:xfrm>
            <a:off x="4846320" y="3108960"/>
            <a:ext cx="1874520" cy="548640"/>
          </a:xfrm>
          <a:prstGeom prst="roundRect">
            <a:avLst>
              <a:gd name="adj" fmla="val 11667"/>
            </a:avLst>
          </a:prstGeom>
          <a:solidFill>
            <a:srgbClr val="DDF1F0"/>
          </a:solidFill>
          <a:ln w="12700">
            <a:solidFill>
              <a:srgbClr val="0E8F8A"/>
            </a:solidFill>
            <a:prstDash val="solid"/>
          </a:ln>
        </p:spPr>
      </p:sp>
      <p:sp>
        <p:nvSpPr>
          <p:cNvPr id="17" name="Text 14"/>
          <p:cNvSpPr txBox="1"/>
          <p:nvPr/>
        </p:nvSpPr>
        <p:spPr>
          <a:xfrm>
            <a:off x="4901184" y="3108960"/>
            <a:ext cx="1764792" cy="548640"/>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Ascent</a:t>
            </a:r>
            <a:endParaRPr lang="en-US" sz="1000" dirty="0"/>
          </a:p>
          <a:p>
            <a:pPr algn="ctr" indent="0" marL="0">
              <a:buNone/>
            </a:pPr>
            <a:r>
              <a:rPr lang="en-US" sz="800" dirty="0">
                <a:solidFill>
                  <a:srgbClr val="1F2A37"/>
                </a:solidFill>
                <a:latin typeface="Calibri" pitchFamily="34" charset="0"/>
                <a:ea typeface="Calibri" pitchFamily="34" charset="-122"/>
                <a:cs typeface="Calibri" pitchFamily="34" charset="-120"/>
              </a:rPr>
              <a:t>Price book for orders</a:t>
            </a:r>
            <a:endParaRPr lang="en-US" sz="1000" dirty="0"/>
          </a:p>
        </p:txBody>
      </p:sp>
      <p:sp>
        <p:nvSpPr>
          <p:cNvPr id="18" name="Shape 15"/>
          <p:cNvSpPr/>
          <p:nvPr/>
        </p:nvSpPr>
        <p:spPr>
          <a:xfrm>
            <a:off x="6903720" y="3108960"/>
            <a:ext cx="1874520" cy="548640"/>
          </a:xfrm>
          <a:prstGeom prst="roundRect">
            <a:avLst>
              <a:gd name="adj" fmla="val 11667"/>
            </a:avLst>
          </a:prstGeom>
          <a:solidFill>
            <a:srgbClr val="DDF1F0"/>
          </a:solidFill>
          <a:ln w="12700">
            <a:solidFill>
              <a:srgbClr val="0E8F8A"/>
            </a:solidFill>
            <a:prstDash val="solid"/>
          </a:ln>
        </p:spPr>
      </p:sp>
      <p:sp>
        <p:nvSpPr>
          <p:cNvPr id="19" name="Text 16"/>
          <p:cNvSpPr txBox="1"/>
          <p:nvPr/>
        </p:nvSpPr>
        <p:spPr>
          <a:xfrm>
            <a:off x="6958584" y="3108960"/>
            <a:ext cx="1764792" cy="548640"/>
          </a:xfrm>
          <a:prstGeom prst="rect">
            <a:avLst/>
          </a:prstGeom>
          <a:noFill/>
          <a:ln/>
        </p:spPr>
        <p:txBody>
          <a:bodyPr wrap="square" lIns="0" tIns="0" rIns="0" bIns="0" rtlCol="0" anchor="ctr"/>
          <a:lstStyle/>
          <a:p>
            <a:pPr algn="ctr" indent="0" marL="0">
              <a:buNone/>
            </a:pPr>
            <a:r>
              <a:rPr lang="en-US" sz="1000" b="1" dirty="0">
                <a:solidFill>
                  <a:srgbClr val="1F2A37"/>
                </a:solidFill>
                <a:latin typeface="Calibri" pitchFamily="34" charset="0"/>
                <a:ea typeface="Calibri" pitchFamily="34" charset="-122"/>
                <a:cs typeface="Calibri" pitchFamily="34" charset="-120"/>
              </a:rPr>
              <a:t>GoTransverse</a:t>
            </a:r>
            <a:endParaRPr lang="en-US" sz="1000" dirty="0"/>
          </a:p>
          <a:p>
            <a:pPr algn="ctr" indent="0" marL="0">
              <a:buNone/>
            </a:pPr>
            <a:r>
              <a:rPr lang="en-US" sz="800" dirty="0">
                <a:solidFill>
                  <a:srgbClr val="1F2A37"/>
                </a:solidFill>
                <a:latin typeface="Calibri" pitchFamily="34" charset="0"/>
                <a:ea typeface="Calibri" pitchFamily="34" charset="-122"/>
                <a:cs typeface="Calibri" pitchFamily="34" charset="-120"/>
              </a:rPr>
              <a:t>Rate plan from the snapshot</a:t>
            </a:r>
            <a:endParaRPr lang="en-US" sz="1000" dirty="0"/>
          </a:p>
        </p:txBody>
      </p:sp>
      <p:sp>
        <p:nvSpPr>
          <p:cNvPr id="20" name="Text 17"/>
          <p:cNvSpPr txBox="1"/>
          <p:nvPr/>
        </p:nvSpPr>
        <p:spPr>
          <a:xfrm>
            <a:off x="4846320" y="3794760"/>
            <a:ext cx="3931920" cy="640080"/>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This follows the Oct 6 direction that contract prices and rules live in Salesforce, and the decision that all interfaces route through Workato.</a:t>
            </a:r>
            <a:endParaRPr lang="en-US" sz="850" dirty="0"/>
          </a:p>
        </p:txBody>
      </p:sp>
      <p:sp>
        <p:nvSpPr>
          <p:cNvPr id="21" name="Text 18"/>
          <p:cNvSpPr txBox="1"/>
          <p:nvPr/>
        </p:nvSpPr>
        <p:spPr>
          <a:xfrm>
            <a:off x="365760" y="3931920"/>
            <a:ext cx="4206240" cy="457200"/>
          </a:xfrm>
          <a:prstGeom prst="rect">
            <a:avLst/>
          </a:prstGeom>
          <a:noFill/>
          <a:ln/>
        </p:spPr>
        <p:txBody>
          <a:bodyPr wrap="square" lIns="0" tIns="0" rIns="0" bIns="0" rtlCol="0" anchor="t"/>
          <a:lstStyle/>
          <a:p>
            <a:pPr indent="0" marL="0">
              <a:buNone/>
            </a:pPr>
            <a:r>
              <a:rPr lang="en-US" sz="900" dirty="0">
                <a:solidFill>
                  <a:srgbClr val="1F2A37"/>
                </a:solidFill>
                <a:latin typeface="Calibri" pitchFamily="34" charset="0"/>
                <a:ea typeface="Calibri" pitchFamily="34" charset="-122"/>
                <a:cs typeface="Calibri" pitchFamily="34" charset="-120"/>
              </a:rPr>
              <a:t>Changes to Activated contracts always follow the amendment flow and the approval process.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Moving today's price books into contracts</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Today there are 165 price books (157 active, 8 inactive). Not all are contracts.</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13</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3474720"/>
                <a:gridCol w="2286000"/>
                <a:gridCol w="2651760"/>
              </a:tblGrid>
              <a:tr h="41148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Price book group</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Target</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Notes</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r>
              <a:tr h="41148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Standard Price Book</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Stays a price book</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Largest book. Used as the fallback price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1148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USME own tiers and rate cards (MME 1 to 5, Beds 1 to 4, Rental 1B to 3)</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Stays a price book</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Standard pricing lane, no contract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1148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GPO tier books: Vizient (two contract numbers), Premier, Intalere, VGM and similar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GPO Contract + GPO Tier + Trade Agreement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Confirm which group-named books (HPG, TPC, MSP, Partners) are GPOs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11480">
                <a:tc>
                  <a:txBody>
                    <a:bodyPr/>
                    <a:lstStyle/>
                    <a:p>
                      <a:pPr indent="0" marL="0">
                        <a:buNone/>
                      </a:pPr>
                      <a:r>
                        <a:rPr lang="en-US" sz="850" b="1" dirty="0">
                          <a:solidFill>
                            <a:srgbClr val="1F2A37"/>
                          </a:solidFill>
                          <a:latin typeface="Calibri" pitchFamily="34" charset="0"/>
                          <a:ea typeface="Calibri" pitchFamily="34" charset="-122"/>
                          <a:cs typeface="Calibri" pitchFamily="34" charset="-120"/>
                        </a:rPr>
                        <a:t>Single health system books: Penn, Northwell, DaVita and similar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Customer Contract + Trade Agreement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Need the signed agreement dates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1148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Retail, purchase and sales books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Stays a price book</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Not contract pricing</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1148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Inactive books (8)</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Archive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Migrate only if an active rental still references one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411480">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Duplicates such as "Monthly 2" and "Rental 2"</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Clean up first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Decide the surviving version before load</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7" name="Text 4"/>
          <p:cNvSpPr txBox="1"/>
          <p:nvPr/>
        </p:nvSpPr>
        <p:spPr>
          <a:xfrm>
            <a:off x="365760" y="4389120"/>
            <a:ext cx="822960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Still needed: the account to price book assignments, which show which hospitals sit under which GPO.</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Questions, with a proposed answer for each</a:t>
            </a:r>
            <a:endParaRPr lang="en-US" sz="2200" dirty="0"/>
          </a:p>
        </p:txBody>
      </p:sp>
      <p:sp>
        <p:nvSpPr>
          <p:cNvPr id="3" name="Text 1"/>
          <p:cNvSpPr txBox="1"/>
          <p:nvPr/>
        </p:nvSpPr>
        <p:spPr>
          <a:xfrm>
            <a:off x="365760" y="621792"/>
            <a:ext cx="8412480" cy="256032"/>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The six original questions plus three raised in this review. Proposed answers are for discussion.</a:t>
            </a:r>
            <a:endParaRPr lang="en-US" sz="1050" dirty="0"/>
          </a:p>
        </p:txBody>
      </p:sp>
      <p:sp>
        <p:nvSpPr>
          <p:cNvPr id="4" name="Text 2"/>
          <p:cNvSpPr txBox="1"/>
          <p:nvPr/>
        </p:nvSpPr>
        <p:spPr>
          <a:xfrm>
            <a:off x="365760" y="4846320"/>
            <a:ext cx="5486400" cy="182880"/>
          </a:xfrm>
          <a:prstGeom prst="rect">
            <a:avLst/>
          </a:prstGeom>
          <a:noFill/>
          <a:ln/>
        </p:spPr>
        <p:txBody>
          <a:bodyPr wrap="square" lIns="0" tIns="0" rIns="0" bIns="0" rtlCol="0" anchor="ctr"/>
          <a:lstStyle/>
          <a:p>
            <a:pPr indent="0" marL="0">
              <a:buNone/>
            </a:pPr>
            <a:r>
              <a:rPr lang="en-US" sz="800" dirty="0">
                <a:solidFill>
                  <a:srgbClr val="5B6B7B"/>
                </a:solidFill>
                <a:latin typeface="Calibri" pitchFamily="34" charset="0"/>
                <a:ea typeface="Calibri" pitchFamily="34" charset="-122"/>
                <a:cs typeface="Calibri" pitchFamily="34" charset="-120"/>
              </a:rPr>
              <a:t>USME  |  Contracts and Pricing Agreements</a:t>
            </a:r>
            <a:endParaRPr lang="en-US" sz="800" dirty="0"/>
          </a:p>
        </p:txBody>
      </p:sp>
      <p:sp>
        <p:nvSpPr>
          <p:cNvPr id="5" name="Text 3"/>
          <p:cNvSpPr txBox="1"/>
          <p:nvPr/>
        </p:nvSpPr>
        <p:spPr>
          <a:xfrm>
            <a:off x="8321040" y="4846320"/>
            <a:ext cx="457200" cy="182880"/>
          </a:xfrm>
          <a:prstGeom prst="rect">
            <a:avLst/>
          </a:prstGeom>
          <a:noFill/>
          <a:ln/>
        </p:spPr>
        <p:txBody>
          <a:bodyPr wrap="square" lIns="0" tIns="0" rIns="0" bIns="0" rtlCol="0" anchor="ctr"/>
          <a:lstStyle/>
          <a:p>
            <a:pPr algn="r" indent="0" marL="0">
              <a:buNone/>
            </a:pPr>
            <a:r>
              <a:rPr lang="en-US" sz="800" dirty="0">
                <a:solidFill>
                  <a:srgbClr val="5B6B7B"/>
                </a:solidFill>
                <a:latin typeface="Calibri" pitchFamily="34" charset="0"/>
                <a:ea typeface="Calibri" pitchFamily="34" charset="-122"/>
                <a:cs typeface="Calibri" pitchFamily="34" charset="-120"/>
              </a:rPr>
              <a:t>14</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960120"/>
          <a:ext cx="8412480" cy="914400"/>
        </p:xfrm>
        <a:graphic>
          <a:graphicData uri="http://schemas.openxmlformats.org/drawingml/2006/table">
            <a:tbl>
              <a:tblPr/>
              <a:tblGrid>
                <a:gridCol w="2743200"/>
                <a:gridCol w="4297680"/>
                <a:gridCol w="1371600"/>
              </a:tblGrid>
              <a:tr h="34747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Question</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Proposed answer</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Confirm with</a:t>
                      </a:r>
                      <a:endParaRPr lang="en-US" sz="90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B2A4A"/>
                    </a:solidFill>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How are GPOs linked to hospitals?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GPO Membership record (tier, member ID, dates); Account hierarchy for IDNs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Contracts, Sales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Separate contracts with customers?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Yes, as a Customer Contract where a direct agreement exists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Contracts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Rental or sales?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Both. A Contract Category field; rental is term-aware, sales is a single price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Pricing</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Which price if both GPO and customer?</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Customer contract, then GPO tier, then standard. Alternative: lowest wins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CRO, Finance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Applied only on quotes?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No. Quotes, orders and CEC intake all use the same resolution</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CEC</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Amend or renew an existing contract?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New linked version, never an overwrite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Contracts, Legal</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New: what happens after expiry?</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Standard price with a flag, or a grace period at current rates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Finance, Sales</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New: do changes apply to rentals on rent?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New orders only, unless the contract says otherwise</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Finance, Billing</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347472">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New: how often is the GPO tier reviewed?</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Annually, from spend or commitment</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F2A37"/>
                          </a:solidFill>
                          <a:latin typeface="Calibri" pitchFamily="34" charset="0"/>
                          <a:ea typeface="Calibri" pitchFamily="34" charset="-122"/>
                          <a:cs typeface="Calibri" pitchFamily="34" charset="-120"/>
                        </a:rPr>
                        <a:t>Pricing</a:t>
                      </a:r>
                      <a:endParaRPr lang="en-US" sz="850" dirty="0">
                        <a:latin typeface="Calibri" charset="0"/>
                        <a:ea typeface="Calibri" charset="0"/>
                        <a:cs typeface="Calibri" charset="0"/>
                      </a:endParaRPr>
                    </a:p>
                  </a:txBody>
                  <a:tcPr marL="64008" marR="64008" marT="27432" marB="27432" anchor="ctr">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Salesforce Contracts: USME Process Flow</dc:title>
  <dc:subject>PptxGenJS Presentation</dc:subject>
  <dc:creator>PptxGenJS</dc:creator>
  <cp:lastModifiedBy>PptxGenJS</cp:lastModifiedBy>
  <cp:revision>1</cp:revision>
  <dcterms:created xsi:type="dcterms:W3CDTF">2026-10-26T18:32:54Z</dcterms:created>
  <dcterms:modified xsi:type="dcterms:W3CDTF">2026-10-26T18:32:54Z</dcterms:modified>
</cp:coreProperties>
</file>