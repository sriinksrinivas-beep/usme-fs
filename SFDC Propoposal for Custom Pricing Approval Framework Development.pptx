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13.jpg" ContentType="image/jpe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147475650" r:id="rId2"/>
    <p:sldId id="2147475652" r:id="rId3"/>
    <p:sldId id="2147475653" r:id="rId4"/>
    <p:sldId id="2147475654" r:id="rId5"/>
    <p:sldId id="2147475655" r:id="rId6"/>
    <p:sldId id="2147475656" r:id="rId7"/>
    <p:sldId id="2147475691" r:id="rId8"/>
    <p:sldId id="214747564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FB2BCC-53CC-4F6F-B632-416838866E49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7B86F3-B3CE-4F96-9571-E8AEE94AF1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7797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D307F3-7E61-4C5F-9291-466F756A19B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09038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D307F3-7E61-4C5F-9291-466F756A19B3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95820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4F690-54B4-7D7C-D591-926DE70DB4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DFAEDC-4C6D-D359-81B9-188391EAB2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B0F6CB-C808-7689-D775-A99EDCCF9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5448F-7E91-4978-B01C-5E6F5972252D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209A9-85EB-93FC-D7B3-2D10B0CCD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CDB41-ED8D-D336-FAAA-F3DC98983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8690C-14D4-416E-9982-CFA3EB33E8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5692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6D899-D88F-29C7-E23C-18F19EED7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EB6A7-E70A-933C-429A-423151E470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8D96B-AD7B-21D6-1987-3CDC11F6B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5448F-7E91-4978-B01C-5E6F5972252D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EBD8E5-82E4-753A-C903-66A1A6F7E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412528-4EA0-6116-1510-1995058F2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8690C-14D4-416E-9982-CFA3EB33E8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29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B6FE1-2434-4A88-D466-6170EA454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27D48-C1E0-F504-5A1C-D5DF34E31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0E3A4A-9AD7-E375-1CFF-A5D85717A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5448F-7E91-4978-B01C-5E6F5972252D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E73A81-5B2E-3851-78F2-B5B67723C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A984B3-96E1-C825-4FBB-691874A16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8690C-14D4-416E-9982-CFA3EB33E8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3318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48E1D-1702-F6C2-C713-F06139731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96A81-E201-A792-8E26-E3478685AA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B88F39-F226-5B81-7B0E-EF68E20D14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E4B339-B92D-B3C6-E8C0-7CC43C83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5448F-7E91-4978-B01C-5E6F5972252D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6CCDC6-61E8-9078-5260-8BBE8799C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AC97AD-63EB-76E3-385C-52AE923E1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8690C-14D4-416E-9982-CFA3EB33E8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5933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EB943-97C9-2808-2538-065CA3A4A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866F5B-A29B-E0DE-14B2-6728A082E0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51DD40-E705-C99F-8735-804E03D75D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043931-3051-1808-A2C5-48D2373880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3AE434-FA5A-5713-208B-CBAE192D44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14E024-3023-EE02-784C-D897788BF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5448F-7E91-4978-B01C-5E6F5972252D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C14BFB-A790-BA84-161B-8E4028785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40FAC9-7F80-06D9-7997-42F72E80B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8690C-14D4-416E-9982-CFA3EB33E8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8034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DD5CD-04BF-1B1F-6729-32F8C04C0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1162D1-D897-2E09-483B-60DA6D53C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5448F-7E91-4978-B01C-5E6F5972252D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5CCDC7-77CE-2CC4-2C48-925707C13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57D0DB-E37B-28B1-7B9A-191C15D34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8690C-14D4-416E-9982-CFA3EB33E8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483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A8DAD6-3B8C-DE2D-7968-5DFA5FC7A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5448F-7E91-4978-B01C-5E6F5972252D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890535-E12A-3647-1405-32F162B91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CCA694-4122-DE7D-0D05-C2739AACA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8690C-14D4-416E-9982-CFA3EB33E8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6806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2B170-659F-CF8F-81CF-D8E110D91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BA115-852E-F63A-4723-49E294984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70692C-F43B-2326-2560-9690D3F206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7698DD-EF51-7911-9860-BAC6B19F7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5448F-7E91-4978-B01C-5E6F5972252D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8134A9-D743-2943-699D-E28756BC2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883700-DB01-A9F7-006E-F21CA879C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8690C-14D4-416E-9982-CFA3EB33E8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3260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E1BB7-94EF-D346-CE6A-D930B3AF8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ABB4EA-2B4C-BE58-1B9B-F4F5D25B00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293DBA-41ED-7435-D1C4-78E9BAC8B6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57DA84-E630-F2E3-1FB4-20D52D100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5448F-7E91-4978-B01C-5E6F5972252D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0BB5A3-3090-3B6F-33FE-54432F5D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C066DB-8798-803B-256E-0836CB73F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8690C-14D4-416E-9982-CFA3EB33E8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1858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FF48-E9D2-4891-CE4D-A08FEC52D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ABC547-B88D-C18C-6306-7B4ABD8F39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0F6584-7BE4-3A4C-15C0-CBAC0C6E6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5448F-7E91-4978-B01C-5E6F5972252D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172E44-B261-764E-3625-DF09DA6AD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684E0-DEDE-D974-27D6-B61BF3FF3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8690C-14D4-416E-9982-CFA3EB33E8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4436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764AD9-012D-F90C-A3BD-0A5B1077A2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EFDF06-3954-68F7-9D5C-F860EF88FB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A00E3C-4210-CF09-4A0A-42EBDE03F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5448F-7E91-4978-B01C-5E6F5972252D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C8F33-E321-38AD-7C36-3C335B947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3612D-CE22-27F6-659A-E6B59D3CC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8690C-14D4-416E-9982-CFA3EB33E8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2642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187075-B8A5-76A5-F9E7-ACD671EDB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95B431-9347-20E1-3883-3B9217CD0E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4B96A7-0A05-55DC-604B-129B10A417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95448F-7E91-4978-B01C-5E6F5972252D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AA20DC-9947-E366-58D2-29D6695415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A7BAD-B92B-90E4-03A7-BD34FD577D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78690C-14D4-416E-9982-CFA3EB33E8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9951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A8FA5E5-F63F-AAA4-DBB6-0C9A28B19701}"/>
              </a:ext>
            </a:extLst>
          </p:cNvPr>
          <p:cNvSpPr/>
          <p:nvPr/>
        </p:nvSpPr>
        <p:spPr>
          <a:xfrm>
            <a:off x="3048000" y="0"/>
            <a:ext cx="3693459" cy="6858000"/>
          </a:xfrm>
          <a:prstGeom prst="rect">
            <a:avLst/>
          </a:prstGeom>
          <a:solidFill>
            <a:srgbClr val="5B9B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Top view of businessman signing documents">
            <a:extLst>
              <a:ext uri="{FF2B5EF4-FFF2-40B4-BE49-F238E27FC236}">
                <a16:creationId xmlns:a16="http://schemas.microsoft.com/office/drawing/2014/main" id="{0FDCA4AC-065D-BF57-AC54-87997C1F30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5558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15B8DEC-6F08-C623-2322-180CC7D6F47E}"/>
              </a:ext>
            </a:extLst>
          </p:cNvPr>
          <p:cNvSpPr/>
          <p:nvPr/>
        </p:nvSpPr>
        <p:spPr>
          <a:xfrm>
            <a:off x="2895600" y="0"/>
            <a:ext cx="4495800" cy="6858000"/>
          </a:xfrm>
          <a:prstGeom prst="rect">
            <a:avLst/>
          </a:prstGeom>
          <a:solidFill>
            <a:srgbClr val="5B9B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91B8FA-B60A-51E3-EDF5-FD955CD997B6}"/>
              </a:ext>
            </a:extLst>
          </p:cNvPr>
          <p:cNvSpPr txBox="1"/>
          <p:nvPr/>
        </p:nvSpPr>
        <p:spPr>
          <a:xfrm>
            <a:off x="4068855" y="2182468"/>
            <a:ext cx="3139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Technical &amp; Commercial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DA6409-D6CC-3598-D8CA-9EE8CE9C25BF}"/>
              </a:ext>
            </a:extLst>
          </p:cNvPr>
          <p:cNvSpPr txBox="1"/>
          <p:nvPr/>
        </p:nvSpPr>
        <p:spPr>
          <a:xfrm>
            <a:off x="3219449" y="2438400"/>
            <a:ext cx="3846979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300" b="1" dirty="0">
                <a:solidFill>
                  <a:schemeClr val="bg1"/>
                </a:solidFill>
              </a:rPr>
              <a:t>Proposal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60C97B-D6BC-3747-EC45-F61134191D5C}"/>
              </a:ext>
            </a:extLst>
          </p:cNvPr>
          <p:cNvSpPr txBox="1"/>
          <p:nvPr/>
        </p:nvSpPr>
        <p:spPr>
          <a:xfrm>
            <a:off x="3586442" y="3458459"/>
            <a:ext cx="3119158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To build Custom Pricing &amp; Discount Authorization &amp; Approval Framework on Sales Cloud Platform</a:t>
            </a:r>
          </a:p>
          <a:p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14" name="Picture 4" descr="Note Svg Png Icon Free Download (#126426) - OnlineWebFonts.COM">
            <a:extLst>
              <a:ext uri="{FF2B5EF4-FFF2-40B4-BE49-F238E27FC236}">
                <a16:creationId xmlns:a16="http://schemas.microsoft.com/office/drawing/2014/main" id="{B167777C-E8CA-F588-58D0-BC4E8E422C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5041" y="1734368"/>
            <a:ext cx="842963" cy="842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blue and black logo&#10;&#10;AI-generated content may be incorrect.">
            <a:extLst>
              <a:ext uri="{FF2B5EF4-FFF2-40B4-BE49-F238E27FC236}">
                <a16:creationId xmlns:a16="http://schemas.microsoft.com/office/drawing/2014/main" id="{81BD21C9-A741-FF4D-66CB-1F41DDBCADD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72" y="304800"/>
            <a:ext cx="2080261" cy="720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694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031CF-DB62-9B9A-2F47-A6005270A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A8DD379-5877-59A0-EB92-8BE58E73DE30}"/>
              </a:ext>
            </a:extLst>
          </p:cNvPr>
          <p:cNvSpPr/>
          <p:nvPr/>
        </p:nvSpPr>
        <p:spPr>
          <a:xfrm>
            <a:off x="7113153" y="889684"/>
            <a:ext cx="45719" cy="53949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2" name="Picture 4" descr="Group of people working out business plan in an office">
            <a:extLst>
              <a:ext uri="{FF2B5EF4-FFF2-40B4-BE49-F238E27FC236}">
                <a16:creationId xmlns:a16="http://schemas.microsoft.com/office/drawing/2014/main" id="{C153E858-1934-C15D-717E-82C670BF7F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735" y="1786943"/>
            <a:ext cx="4978686" cy="3316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7B50D860-9398-4182-A973-9189CDFD2D80}"/>
              </a:ext>
            </a:extLst>
          </p:cNvPr>
          <p:cNvSpPr txBox="1"/>
          <p:nvPr/>
        </p:nvSpPr>
        <p:spPr>
          <a:xfrm>
            <a:off x="7433397" y="697394"/>
            <a:ext cx="216780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CONTENTS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6A9B9B5A-F489-0EB6-D17D-897D0DC13E21}"/>
              </a:ext>
            </a:extLst>
          </p:cNvPr>
          <p:cNvSpPr/>
          <p:nvPr/>
        </p:nvSpPr>
        <p:spPr>
          <a:xfrm>
            <a:off x="7113143" y="5035169"/>
            <a:ext cx="45720" cy="1249680"/>
          </a:xfrm>
          <a:custGeom>
            <a:avLst/>
            <a:gdLst/>
            <a:ahLst/>
            <a:cxnLst/>
            <a:rect l="l" t="t" r="r" b="b"/>
            <a:pathLst>
              <a:path w="45720" h="1249679">
                <a:moveTo>
                  <a:pt x="0" y="1249476"/>
                </a:moveTo>
                <a:lnTo>
                  <a:pt x="45718" y="1249476"/>
                </a:lnTo>
                <a:lnTo>
                  <a:pt x="45718" y="0"/>
                </a:lnTo>
                <a:lnTo>
                  <a:pt x="0" y="0"/>
                </a:lnTo>
                <a:lnTo>
                  <a:pt x="0" y="1249476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079197EE-8338-7E39-7D9B-048FA10E694D}"/>
              </a:ext>
            </a:extLst>
          </p:cNvPr>
          <p:cNvSpPr/>
          <p:nvPr/>
        </p:nvSpPr>
        <p:spPr>
          <a:xfrm>
            <a:off x="7113143" y="2592704"/>
            <a:ext cx="45720" cy="1985645"/>
          </a:xfrm>
          <a:custGeom>
            <a:avLst/>
            <a:gdLst/>
            <a:ahLst/>
            <a:cxnLst/>
            <a:rect l="l" t="t" r="r" b="b"/>
            <a:pathLst>
              <a:path w="45720" h="1985645">
                <a:moveTo>
                  <a:pt x="0" y="1985264"/>
                </a:moveTo>
                <a:lnTo>
                  <a:pt x="45718" y="1985264"/>
                </a:lnTo>
                <a:lnTo>
                  <a:pt x="45718" y="0"/>
                </a:lnTo>
                <a:lnTo>
                  <a:pt x="0" y="0"/>
                </a:lnTo>
                <a:lnTo>
                  <a:pt x="0" y="1985264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76DC2006-9E6B-F931-009D-8E2C5F669FEF}"/>
              </a:ext>
            </a:extLst>
          </p:cNvPr>
          <p:cNvSpPr/>
          <p:nvPr/>
        </p:nvSpPr>
        <p:spPr>
          <a:xfrm>
            <a:off x="7113143" y="1832101"/>
            <a:ext cx="45720" cy="303530"/>
          </a:xfrm>
          <a:custGeom>
            <a:avLst/>
            <a:gdLst/>
            <a:ahLst/>
            <a:cxnLst/>
            <a:rect l="l" t="t" r="r" b="b"/>
            <a:pathLst>
              <a:path w="45720" h="303530">
                <a:moveTo>
                  <a:pt x="0" y="303402"/>
                </a:moveTo>
                <a:lnTo>
                  <a:pt x="45718" y="303402"/>
                </a:lnTo>
                <a:lnTo>
                  <a:pt x="45718" y="0"/>
                </a:lnTo>
                <a:lnTo>
                  <a:pt x="0" y="0"/>
                </a:lnTo>
                <a:lnTo>
                  <a:pt x="0" y="303402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6">
            <a:extLst>
              <a:ext uri="{FF2B5EF4-FFF2-40B4-BE49-F238E27FC236}">
                <a16:creationId xmlns:a16="http://schemas.microsoft.com/office/drawing/2014/main" id="{AA7CD811-C6D6-B03F-2661-0BA43EF17F14}"/>
              </a:ext>
            </a:extLst>
          </p:cNvPr>
          <p:cNvGrpSpPr/>
          <p:nvPr/>
        </p:nvGrpSpPr>
        <p:grpSpPr>
          <a:xfrm>
            <a:off x="6907403" y="2135504"/>
            <a:ext cx="457200" cy="457200"/>
            <a:chOff x="6907403" y="2135504"/>
            <a:chExt cx="457200" cy="457200"/>
          </a:xfrm>
        </p:grpSpPr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A2267F7F-70E5-E435-E0FA-28CF6085E234}"/>
                </a:ext>
              </a:extLst>
            </p:cNvPr>
            <p:cNvSpPr/>
            <p:nvPr/>
          </p:nvSpPr>
          <p:spPr>
            <a:xfrm>
              <a:off x="6907403" y="213550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8">
              <a:extLst>
                <a:ext uri="{FF2B5EF4-FFF2-40B4-BE49-F238E27FC236}">
                  <a16:creationId xmlns:a16="http://schemas.microsoft.com/office/drawing/2014/main" id="{DB9B316E-6C2F-03F0-8DBF-647778371015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71995" y="2300096"/>
              <a:ext cx="128015" cy="128015"/>
            </a:xfrm>
            <a:prstGeom prst="rect">
              <a:avLst/>
            </a:prstGeom>
          </p:spPr>
        </p:pic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AF8E49C3-30DF-2DD2-4A1C-ED3AB32B25E9}"/>
              </a:ext>
            </a:extLst>
          </p:cNvPr>
          <p:cNvSpPr txBox="1"/>
          <p:nvPr/>
        </p:nvSpPr>
        <p:spPr>
          <a:xfrm>
            <a:off x="7513066" y="2139187"/>
            <a:ext cx="34544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25" dirty="0">
                <a:latin typeface="Calibri"/>
                <a:cs typeface="Calibri"/>
              </a:rPr>
              <a:t>02</a:t>
            </a:r>
            <a:endParaRPr sz="2500">
              <a:latin typeface="Calibri"/>
              <a:cs typeface="Calibri"/>
            </a:endParaRPr>
          </a:p>
        </p:txBody>
      </p:sp>
      <p:grpSp>
        <p:nvGrpSpPr>
          <p:cNvPr id="13" name="object 11">
            <a:extLst>
              <a:ext uri="{FF2B5EF4-FFF2-40B4-BE49-F238E27FC236}">
                <a16:creationId xmlns:a16="http://schemas.microsoft.com/office/drawing/2014/main" id="{FE6738FA-F799-B004-453F-AAF49D79689A}"/>
              </a:ext>
            </a:extLst>
          </p:cNvPr>
          <p:cNvGrpSpPr/>
          <p:nvPr/>
        </p:nvGrpSpPr>
        <p:grpSpPr>
          <a:xfrm>
            <a:off x="6912983" y="2945281"/>
            <a:ext cx="457200" cy="457200"/>
            <a:chOff x="6907403" y="4577969"/>
            <a:chExt cx="457200" cy="457200"/>
          </a:xfrm>
        </p:grpSpPr>
        <p:sp>
          <p:nvSpPr>
            <p:cNvPr id="14" name="object 12">
              <a:extLst>
                <a:ext uri="{FF2B5EF4-FFF2-40B4-BE49-F238E27FC236}">
                  <a16:creationId xmlns:a16="http://schemas.microsoft.com/office/drawing/2014/main" id="{5A490B30-09E9-AAAA-37AE-DFC0C96F6BC2}"/>
                </a:ext>
              </a:extLst>
            </p:cNvPr>
            <p:cNvSpPr/>
            <p:nvPr/>
          </p:nvSpPr>
          <p:spPr>
            <a:xfrm>
              <a:off x="6907403" y="457796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457200" y="457199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3">
              <a:extLst>
                <a:ext uri="{FF2B5EF4-FFF2-40B4-BE49-F238E27FC236}">
                  <a16:creationId xmlns:a16="http://schemas.microsoft.com/office/drawing/2014/main" id="{20751BDB-6D56-FB12-EB5C-780C041778C1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71995" y="4742561"/>
              <a:ext cx="128015" cy="128015"/>
            </a:xfrm>
            <a:prstGeom prst="rect">
              <a:avLst/>
            </a:prstGeom>
          </p:spPr>
        </p:pic>
      </p:grpSp>
      <p:sp>
        <p:nvSpPr>
          <p:cNvPr id="16" name="object 14">
            <a:extLst>
              <a:ext uri="{FF2B5EF4-FFF2-40B4-BE49-F238E27FC236}">
                <a16:creationId xmlns:a16="http://schemas.microsoft.com/office/drawing/2014/main" id="{6D38B17E-8D20-3947-0A99-C5A81660A9DA}"/>
              </a:ext>
            </a:extLst>
          </p:cNvPr>
          <p:cNvSpPr txBox="1"/>
          <p:nvPr/>
        </p:nvSpPr>
        <p:spPr>
          <a:xfrm>
            <a:off x="7534775" y="2968883"/>
            <a:ext cx="34544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25" dirty="0">
                <a:latin typeface="Calibri"/>
                <a:cs typeface="Calibri"/>
              </a:rPr>
              <a:t>03</a:t>
            </a:r>
            <a:endParaRPr sz="2500" dirty="0">
              <a:latin typeface="Calibri"/>
              <a:cs typeface="Calibri"/>
            </a:endParaRPr>
          </a:p>
        </p:txBody>
      </p:sp>
      <p:grpSp>
        <p:nvGrpSpPr>
          <p:cNvPr id="18" name="object 19">
            <a:extLst>
              <a:ext uri="{FF2B5EF4-FFF2-40B4-BE49-F238E27FC236}">
                <a16:creationId xmlns:a16="http://schemas.microsoft.com/office/drawing/2014/main" id="{081A6471-D463-35F3-9B74-4D9819BA5DE4}"/>
              </a:ext>
            </a:extLst>
          </p:cNvPr>
          <p:cNvGrpSpPr/>
          <p:nvPr/>
        </p:nvGrpSpPr>
        <p:grpSpPr>
          <a:xfrm>
            <a:off x="6907403" y="1374902"/>
            <a:ext cx="457200" cy="457200"/>
            <a:chOff x="6907403" y="1374902"/>
            <a:chExt cx="457200" cy="457200"/>
          </a:xfrm>
        </p:grpSpPr>
        <p:sp>
          <p:nvSpPr>
            <p:cNvPr id="19" name="object 20">
              <a:extLst>
                <a:ext uri="{FF2B5EF4-FFF2-40B4-BE49-F238E27FC236}">
                  <a16:creationId xmlns:a16="http://schemas.microsoft.com/office/drawing/2014/main" id="{9FD1C97C-858A-E40A-6537-AC9B318B9CE1}"/>
                </a:ext>
              </a:extLst>
            </p:cNvPr>
            <p:cNvSpPr/>
            <p:nvPr/>
          </p:nvSpPr>
          <p:spPr>
            <a:xfrm>
              <a:off x="6907403" y="1374902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1">
              <a:extLst>
                <a:ext uri="{FF2B5EF4-FFF2-40B4-BE49-F238E27FC236}">
                  <a16:creationId xmlns:a16="http://schemas.microsoft.com/office/drawing/2014/main" id="{566CD1E0-A3D6-14D0-5374-00E64F316DB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71995" y="1539494"/>
              <a:ext cx="128015" cy="128015"/>
            </a:xfrm>
            <a:prstGeom prst="rect">
              <a:avLst/>
            </a:prstGeom>
          </p:spPr>
        </p:pic>
      </p:grpSp>
      <p:sp>
        <p:nvSpPr>
          <p:cNvPr id="21" name="object 22">
            <a:extLst>
              <a:ext uri="{FF2B5EF4-FFF2-40B4-BE49-F238E27FC236}">
                <a16:creationId xmlns:a16="http://schemas.microsoft.com/office/drawing/2014/main" id="{6D9AC918-2C8A-B197-F9B5-DDFAB9234413}"/>
              </a:ext>
            </a:extLst>
          </p:cNvPr>
          <p:cNvSpPr txBox="1"/>
          <p:nvPr/>
        </p:nvSpPr>
        <p:spPr>
          <a:xfrm>
            <a:off x="7513066" y="1378711"/>
            <a:ext cx="34544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25" dirty="0">
                <a:latin typeface="Calibri"/>
                <a:cs typeface="Calibri"/>
              </a:rPr>
              <a:t>01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22" name="object 23">
            <a:extLst>
              <a:ext uri="{FF2B5EF4-FFF2-40B4-BE49-F238E27FC236}">
                <a16:creationId xmlns:a16="http://schemas.microsoft.com/office/drawing/2014/main" id="{E71EFA41-41CF-B9AB-9BD8-ADDEE4806F0A}"/>
              </a:ext>
            </a:extLst>
          </p:cNvPr>
          <p:cNvSpPr txBox="1"/>
          <p:nvPr/>
        </p:nvSpPr>
        <p:spPr>
          <a:xfrm>
            <a:off x="8119998" y="1411935"/>
            <a:ext cx="1308100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100" spc="-10" dirty="0">
                <a:latin typeface="Calibri"/>
                <a:cs typeface="Calibri"/>
              </a:rPr>
              <a:t>Scope</a:t>
            </a:r>
            <a:endParaRPr sz="2100" dirty="0">
              <a:latin typeface="Calibri"/>
              <a:cs typeface="Calibri"/>
            </a:endParaRPr>
          </a:p>
        </p:txBody>
      </p:sp>
      <p:pic>
        <p:nvPicPr>
          <p:cNvPr id="3" name="object 6">
            <a:extLst>
              <a:ext uri="{FF2B5EF4-FFF2-40B4-BE49-F238E27FC236}">
                <a16:creationId xmlns:a16="http://schemas.microsoft.com/office/drawing/2014/main" id="{371255BE-BF7A-9DDC-2C37-0E3DB2295E7B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024657" y="124414"/>
            <a:ext cx="989072" cy="345584"/>
          </a:xfrm>
          <a:prstGeom prst="rect">
            <a:avLst/>
          </a:prstGeom>
        </p:spPr>
      </p:pic>
      <p:sp>
        <p:nvSpPr>
          <p:cNvPr id="23" name="object 23">
            <a:extLst>
              <a:ext uri="{FF2B5EF4-FFF2-40B4-BE49-F238E27FC236}">
                <a16:creationId xmlns:a16="http://schemas.microsoft.com/office/drawing/2014/main" id="{DE89CD1D-761F-757F-94DE-F9445176420F}"/>
              </a:ext>
            </a:extLst>
          </p:cNvPr>
          <p:cNvSpPr txBox="1"/>
          <p:nvPr/>
        </p:nvSpPr>
        <p:spPr>
          <a:xfrm>
            <a:off x="8071114" y="2220355"/>
            <a:ext cx="2501993" cy="3359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100" spc="-10" dirty="0">
                <a:latin typeface="Calibri"/>
                <a:cs typeface="Calibri"/>
              </a:rPr>
              <a:t>Project Timelines </a:t>
            </a:r>
            <a:endParaRPr sz="2100" dirty="0">
              <a:latin typeface="Calibri"/>
              <a:cs typeface="Calibri"/>
            </a:endParaRPr>
          </a:p>
        </p:txBody>
      </p:sp>
      <p:sp>
        <p:nvSpPr>
          <p:cNvPr id="25" name="object 23">
            <a:extLst>
              <a:ext uri="{FF2B5EF4-FFF2-40B4-BE49-F238E27FC236}">
                <a16:creationId xmlns:a16="http://schemas.microsoft.com/office/drawing/2014/main" id="{63A5C0BA-8DA0-4A99-995F-599992280307}"/>
              </a:ext>
            </a:extLst>
          </p:cNvPr>
          <p:cNvSpPr txBox="1"/>
          <p:nvPr/>
        </p:nvSpPr>
        <p:spPr>
          <a:xfrm>
            <a:off x="8071113" y="2998436"/>
            <a:ext cx="2501994" cy="3359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100" spc="-10" dirty="0">
                <a:latin typeface="Calibri"/>
                <a:cs typeface="Calibri"/>
              </a:rPr>
              <a:t>Commercials</a:t>
            </a:r>
            <a:endParaRPr sz="2100" dirty="0">
              <a:latin typeface="Calibri"/>
              <a:cs typeface="Calibri"/>
            </a:endParaRPr>
          </a:p>
        </p:txBody>
      </p:sp>
      <p:grpSp>
        <p:nvGrpSpPr>
          <p:cNvPr id="26" name="object 11">
            <a:extLst>
              <a:ext uri="{FF2B5EF4-FFF2-40B4-BE49-F238E27FC236}">
                <a16:creationId xmlns:a16="http://schemas.microsoft.com/office/drawing/2014/main" id="{56AD4FF9-CDD3-9519-6DD2-0E3FE2030520}"/>
              </a:ext>
            </a:extLst>
          </p:cNvPr>
          <p:cNvGrpSpPr/>
          <p:nvPr/>
        </p:nvGrpSpPr>
        <p:grpSpPr>
          <a:xfrm>
            <a:off x="6912983" y="3883862"/>
            <a:ext cx="457200" cy="457200"/>
            <a:chOff x="6907403" y="4577969"/>
            <a:chExt cx="457200" cy="457200"/>
          </a:xfrm>
        </p:grpSpPr>
        <p:sp>
          <p:nvSpPr>
            <p:cNvPr id="27" name="object 12">
              <a:extLst>
                <a:ext uri="{FF2B5EF4-FFF2-40B4-BE49-F238E27FC236}">
                  <a16:creationId xmlns:a16="http://schemas.microsoft.com/office/drawing/2014/main" id="{9618C205-09F9-DB9E-121E-BFB2F7DE7D40}"/>
                </a:ext>
              </a:extLst>
            </p:cNvPr>
            <p:cNvSpPr/>
            <p:nvPr/>
          </p:nvSpPr>
          <p:spPr>
            <a:xfrm>
              <a:off x="6907403" y="457796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457200" y="457199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13">
              <a:extLst>
                <a:ext uri="{FF2B5EF4-FFF2-40B4-BE49-F238E27FC236}">
                  <a16:creationId xmlns:a16="http://schemas.microsoft.com/office/drawing/2014/main" id="{BAF2096D-2A35-3673-BA18-57C2AFBACC88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71995" y="4742561"/>
              <a:ext cx="128015" cy="128015"/>
            </a:xfrm>
            <a:prstGeom prst="rect">
              <a:avLst/>
            </a:prstGeom>
          </p:spPr>
        </p:pic>
      </p:grpSp>
      <p:sp>
        <p:nvSpPr>
          <p:cNvPr id="29" name="object 14">
            <a:extLst>
              <a:ext uri="{FF2B5EF4-FFF2-40B4-BE49-F238E27FC236}">
                <a16:creationId xmlns:a16="http://schemas.microsoft.com/office/drawing/2014/main" id="{938BF3D4-5845-AEFD-23DE-DFBDE540D9C9}"/>
              </a:ext>
            </a:extLst>
          </p:cNvPr>
          <p:cNvSpPr txBox="1"/>
          <p:nvPr/>
        </p:nvSpPr>
        <p:spPr>
          <a:xfrm>
            <a:off x="7534775" y="3907464"/>
            <a:ext cx="34544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25" dirty="0">
                <a:latin typeface="Calibri"/>
                <a:cs typeface="Calibri"/>
              </a:rPr>
              <a:t>0</a:t>
            </a:r>
            <a:r>
              <a:rPr lang="en-IN" sz="2500" b="1" spc="-25" dirty="0">
                <a:latin typeface="Calibri"/>
                <a:cs typeface="Calibri"/>
              </a:rPr>
              <a:t>4 </a:t>
            </a:r>
            <a:endParaRPr sz="2500" dirty="0">
              <a:latin typeface="Calibri"/>
              <a:cs typeface="Calibri"/>
            </a:endParaRPr>
          </a:p>
        </p:txBody>
      </p:sp>
      <p:sp>
        <p:nvSpPr>
          <p:cNvPr id="30" name="object 23">
            <a:extLst>
              <a:ext uri="{FF2B5EF4-FFF2-40B4-BE49-F238E27FC236}">
                <a16:creationId xmlns:a16="http://schemas.microsoft.com/office/drawing/2014/main" id="{8D167197-E398-D0A4-B890-2F47825769AA}"/>
              </a:ext>
            </a:extLst>
          </p:cNvPr>
          <p:cNvSpPr txBox="1"/>
          <p:nvPr/>
        </p:nvSpPr>
        <p:spPr>
          <a:xfrm>
            <a:off x="8119998" y="3942669"/>
            <a:ext cx="4267534" cy="11977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100" spc="-10" dirty="0">
                <a:latin typeface="Calibri"/>
                <a:cs typeface="Calibri"/>
              </a:rPr>
              <a:t>Annexure</a:t>
            </a:r>
          </a:p>
          <a:p>
            <a:pPr marL="28575" marR="5080">
              <a:lnSpc>
                <a:spcPct val="100000"/>
              </a:lnSpc>
            </a:pPr>
            <a:r>
              <a:rPr lang="en-IN" sz="1400" dirty="0">
                <a:solidFill>
                  <a:srgbClr val="404040"/>
                </a:solidFill>
                <a:cs typeface="Calibri"/>
              </a:rPr>
              <a:t>–</a:t>
            </a:r>
            <a:r>
              <a:rPr lang="en-IN" sz="1400" spc="-20" dirty="0">
                <a:solidFill>
                  <a:srgbClr val="404040"/>
                </a:solidFill>
                <a:cs typeface="Calibri"/>
              </a:rPr>
              <a:t> Solution Approach with Out of box  &amp; Customization</a:t>
            </a:r>
            <a:r>
              <a:rPr lang="en-IN" sz="1400" spc="-10" dirty="0">
                <a:solidFill>
                  <a:srgbClr val="404040"/>
                </a:solidFill>
                <a:cs typeface="Calibri"/>
              </a:rPr>
              <a:t> </a:t>
            </a:r>
          </a:p>
          <a:p>
            <a:pPr marL="28575" marR="5080">
              <a:lnSpc>
                <a:spcPct val="100000"/>
              </a:lnSpc>
            </a:pPr>
            <a:r>
              <a:rPr lang="en-IN" sz="1400" dirty="0">
                <a:solidFill>
                  <a:srgbClr val="404040"/>
                </a:solidFill>
                <a:cs typeface="Calibri"/>
              </a:rPr>
              <a:t>–</a:t>
            </a:r>
            <a:r>
              <a:rPr lang="en-IN" sz="1400" spc="-25" dirty="0">
                <a:solidFill>
                  <a:srgbClr val="404040"/>
                </a:solidFill>
                <a:cs typeface="Calibri"/>
              </a:rPr>
              <a:t> Business Flow</a:t>
            </a:r>
            <a:endParaRPr lang="en-IN" sz="1400" spc="-5" dirty="0">
              <a:solidFill>
                <a:srgbClr val="404040"/>
              </a:solidFill>
              <a:cs typeface="Calibri"/>
            </a:endParaRPr>
          </a:p>
          <a:p>
            <a:pPr marL="28575" marR="5080">
              <a:lnSpc>
                <a:spcPct val="100000"/>
              </a:lnSpc>
            </a:pPr>
            <a:r>
              <a:rPr lang="en-IN" sz="1400" dirty="0">
                <a:solidFill>
                  <a:srgbClr val="404040"/>
                </a:solidFill>
                <a:cs typeface="Calibri"/>
              </a:rPr>
              <a:t>–</a:t>
            </a:r>
            <a:r>
              <a:rPr lang="en-IN" sz="1400" spc="-15" dirty="0">
                <a:solidFill>
                  <a:srgbClr val="404040"/>
                </a:solidFill>
                <a:cs typeface="Calibri"/>
              </a:rPr>
              <a:t> </a:t>
            </a:r>
            <a:r>
              <a:rPr lang="en-IN" sz="1400" spc="-10" dirty="0">
                <a:solidFill>
                  <a:srgbClr val="404040"/>
                </a:solidFill>
                <a:cs typeface="Calibri"/>
              </a:rPr>
              <a:t>Governance</a:t>
            </a:r>
          </a:p>
          <a:p>
            <a:pPr marL="28575" marR="5080">
              <a:lnSpc>
                <a:spcPct val="100000"/>
              </a:lnSpc>
            </a:pPr>
            <a:endParaRPr sz="14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77006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88E1B10-0B83-E854-CEDD-94DC4251D2CF}"/>
              </a:ext>
            </a:extLst>
          </p:cNvPr>
          <p:cNvSpPr txBox="1"/>
          <p:nvPr/>
        </p:nvSpPr>
        <p:spPr>
          <a:xfrm>
            <a:off x="466905" y="360872"/>
            <a:ext cx="38730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Scope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128E95-7CA7-A43C-7BFB-8B58373F3C14}"/>
              </a:ext>
            </a:extLst>
          </p:cNvPr>
          <p:cNvSpPr txBox="1"/>
          <p:nvPr/>
        </p:nvSpPr>
        <p:spPr>
          <a:xfrm>
            <a:off x="575094" y="1120971"/>
            <a:ext cx="10731261" cy="2513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spcAft>
                <a:spcPts val="400"/>
              </a:spcAft>
              <a:buFont typeface="Arial" panose="020B0604020202020204" pitchFamily="34" charset="0"/>
              <a:buChar char="●"/>
            </a:pPr>
            <a:r>
              <a:rPr lang="en-IN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Salesforce data model, automation, and UI to support: Price Books, discount request &amp; reason codes, the multi-dimension Authority Matrix, tiered approval routing, Deal Desk queue/SLA handling, margin-floor enforcement, discount expiration/re-approval, and an audit/override log.</a:t>
            </a:r>
          </a:p>
          <a:p>
            <a:pPr lvl="0">
              <a:spcAft>
                <a:spcPts val="400"/>
              </a:spcAft>
            </a:pP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spcAft>
                <a:spcPts val="400"/>
              </a:spcAft>
              <a:buFont typeface="Arial" panose="020B0604020202020204" pitchFamily="34" charset="0"/>
              <a:buChar char="●"/>
            </a:pPr>
            <a:r>
              <a:rPr lang="en-IN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Strategic Value Score as an informational field set (0–20) surfaced to approvers — explicitly non-gating, per the Strategic Value Score Guide.</a:t>
            </a:r>
          </a:p>
          <a:p>
            <a:pPr lvl="0">
              <a:spcAft>
                <a:spcPts val="400"/>
              </a:spcAft>
            </a:pP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spcAft>
                <a:spcPts val="400"/>
              </a:spcAft>
              <a:buFont typeface="Arial" panose="020B0604020202020204" pitchFamily="34" charset="0"/>
              <a:buChar char="●"/>
            </a:pPr>
            <a:r>
              <a:rPr lang="en-IN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Reporting &amp; dashboards for the Pricing Council KPIs defined in the Commercial Deal Framework</a:t>
            </a:r>
          </a:p>
        </p:txBody>
      </p:sp>
    </p:spTree>
    <p:extLst>
      <p:ext uri="{BB962C8B-B14F-4D97-AF65-F5344CB8AC3E}">
        <p14:creationId xmlns:p14="http://schemas.microsoft.com/office/powerpoint/2010/main" val="1052002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39972D4-25DB-E41A-132F-A6562C0ABF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5578584"/>
              </p:ext>
            </p:extLst>
          </p:nvPr>
        </p:nvGraphicFramePr>
        <p:xfrm>
          <a:off x="486914" y="903696"/>
          <a:ext cx="11218172" cy="576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680">
                  <a:extLst>
                    <a:ext uri="{9D8B030D-6E8A-4147-A177-3AD203B41FA5}">
                      <a16:colId xmlns:a16="http://schemas.microsoft.com/office/drawing/2014/main" val="2667125008"/>
                    </a:ext>
                  </a:extLst>
                </a:gridCol>
                <a:gridCol w="2773460">
                  <a:extLst>
                    <a:ext uri="{9D8B030D-6E8A-4147-A177-3AD203B41FA5}">
                      <a16:colId xmlns:a16="http://schemas.microsoft.com/office/drawing/2014/main" val="773858772"/>
                    </a:ext>
                  </a:extLst>
                </a:gridCol>
                <a:gridCol w="4229376">
                  <a:extLst>
                    <a:ext uri="{9D8B030D-6E8A-4147-A177-3AD203B41FA5}">
                      <a16:colId xmlns:a16="http://schemas.microsoft.com/office/drawing/2014/main" val="1928663927"/>
                    </a:ext>
                  </a:extLst>
                </a:gridCol>
                <a:gridCol w="2454602">
                  <a:extLst>
                    <a:ext uri="{9D8B030D-6E8A-4147-A177-3AD203B41FA5}">
                      <a16:colId xmlns:a16="http://schemas.microsoft.com/office/drawing/2014/main" val="433450978"/>
                    </a:ext>
                  </a:extLst>
                </a:gridCol>
                <a:gridCol w="764054">
                  <a:extLst>
                    <a:ext uri="{9D8B030D-6E8A-4147-A177-3AD203B41FA5}">
                      <a16:colId xmlns:a16="http://schemas.microsoft.com/office/drawing/2014/main" val="737817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400" dirty="0"/>
                        <a:t>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Milestone Deliverable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User Stories / Detail Deliverables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SFDC Components &amp; 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087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dirty="0"/>
                        <a:t> W1 – W3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Custom Bundle Discounting Engine (No-CPQ)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1. Create 'Configure Bundle' Screen Flow/LWC on Quote record page.</a:t>
                      </a:r>
                    </a:p>
                    <a:p>
                      <a:r>
                        <a:rPr lang="en-IN" sz="1400" dirty="0"/>
                        <a:t>2. Build product selection Data Table component.</a:t>
                      </a:r>
                    </a:p>
                    <a:p>
                      <a:r>
                        <a:rPr lang="en-IN" sz="1400" dirty="0"/>
                        <a:t>3. Create </a:t>
                      </a:r>
                      <a:r>
                        <a:rPr lang="en-IN" sz="1400" dirty="0" err="1"/>
                        <a:t>Autolaunched</a:t>
                      </a:r>
                      <a:r>
                        <a:rPr lang="en-IN" sz="1400" dirty="0"/>
                        <a:t> Recalculation Flow to distribute bundle discount % proportionally to </a:t>
                      </a:r>
                      <a:r>
                        <a:rPr lang="en-IN" sz="1400" dirty="0" err="1"/>
                        <a:t>QuoteLineItems</a:t>
                      </a:r>
                      <a:r>
                        <a:rPr lang="en-IN" sz="1400" dirty="0"/>
                        <a:t>.</a:t>
                      </a:r>
                    </a:p>
                    <a:p>
                      <a:r>
                        <a:rPr lang="en-IN" sz="1400" dirty="0"/>
                        <a:t>4. Roll up total bundle net price &amp; calculate blended bundle gross margin %.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• Screen Flow Builder/LWC</a:t>
                      </a:r>
                    </a:p>
                    <a:p>
                      <a:r>
                        <a:rPr lang="en-US" sz="1400" dirty="0"/>
                        <a:t>• </a:t>
                      </a:r>
                      <a:r>
                        <a:rPr lang="en-US" sz="1400" dirty="0" err="1"/>
                        <a:t>Autolaunched</a:t>
                      </a:r>
                      <a:r>
                        <a:rPr lang="en-US" sz="1400" dirty="0"/>
                        <a:t> Flow</a:t>
                      </a:r>
                    </a:p>
                    <a:p>
                      <a:r>
                        <a:rPr lang="en-US" sz="1400" dirty="0"/>
                        <a:t>• </a:t>
                      </a:r>
                      <a:r>
                        <a:rPr lang="en-US" sz="1400" dirty="0" err="1"/>
                        <a:t>Quote_Bundle__c</a:t>
                      </a:r>
                      <a:r>
                        <a:rPr lang="en-US" sz="1400" dirty="0"/>
                        <a:t> Object</a:t>
                      </a:r>
                    </a:p>
                    <a:p>
                      <a:r>
                        <a:rPr lang="en-US" sz="1400" dirty="0"/>
                        <a:t>• Dynamic Actions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1800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dirty="0"/>
                        <a:t>W4 -  W6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Strategic Value Score Engine &amp; Reason Codes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1. Create 8 strategic driver picklist fields on Quote header (0-3 / 0-2 scales).</a:t>
                      </a:r>
                    </a:p>
                    <a:p>
                      <a:r>
                        <a:rPr lang="en-IN" sz="1400" dirty="0"/>
                        <a:t>2. Build </a:t>
                      </a:r>
                      <a:r>
                        <a:rPr lang="en-IN" sz="1400" dirty="0" err="1"/>
                        <a:t>Strategic_Value_Score__c</a:t>
                      </a:r>
                      <a:r>
                        <a:rPr lang="en-IN" sz="1400" dirty="0"/>
                        <a:t> formula field (0-20 score sum).</a:t>
                      </a:r>
                    </a:p>
                    <a:p>
                      <a:r>
                        <a:rPr lang="en-IN" sz="1400" dirty="0"/>
                        <a:t>3. Create </a:t>
                      </a:r>
                      <a:r>
                        <a:rPr lang="en-IN" sz="1400" dirty="0" err="1"/>
                        <a:t>Strategic_Value_Category__c</a:t>
                      </a:r>
                      <a:r>
                        <a:rPr lang="en-IN" sz="1400" dirty="0"/>
                        <a:t> classification formula field.</a:t>
                      </a:r>
                    </a:p>
                    <a:p>
                      <a:r>
                        <a:rPr lang="en-IN" sz="1400" dirty="0"/>
                        <a:t>4. Populate </a:t>
                      </a:r>
                      <a:r>
                        <a:rPr lang="en-IN" sz="1400" dirty="0" err="1"/>
                        <a:t>Reason_Code__c</a:t>
                      </a:r>
                      <a:r>
                        <a:rPr lang="en-IN" sz="1400" dirty="0"/>
                        <a:t> picklist taxonomy across Growth, Competitive, Retention, Commercial, Operations, and CX.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• Custom Formula Fields</a:t>
                      </a:r>
                    </a:p>
                    <a:p>
                      <a:r>
                        <a:rPr lang="en-US" sz="1400" dirty="0"/>
                        <a:t>• Picklists &amp; Global Value Sets</a:t>
                      </a:r>
                    </a:p>
                    <a:p>
                      <a:r>
                        <a:rPr lang="en-US" sz="1400" dirty="0"/>
                        <a:t>• Quote Header Layouts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604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W7 -  W11</a:t>
                      </a:r>
                    </a:p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Multi-Tier Approval Orchestration &amp; SLA Escalations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1. Build Record-Triggered Flow for 'Most Restrictive Factor Wins' tier evaluation.</a:t>
                      </a:r>
                    </a:p>
                    <a:p>
                      <a:r>
                        <a:rPr lang="en-IN" sz="1400" dirty="0"/>
                        <a:t>2. Stamp </a:t>
                      </a:r>
                      <a:r>
                        <a:rPr lang="en-IN" sz="1400" dirty="0" err="1"/>
                        <a:t>Triggered_Approval_Tier__c</a:t>
                      </a:r>
                      <a:r>
                        <a:rPr lang="en-IN" sz="1400" dirty="0"/>
                        <a:t> (Tiers 1 to 4).</a:t>
                      </a:r>
                    </a:p>
                    <a:p>
                      <a:r>
                        <a:rPr lang="en-IN" sz="1400" dirty="0"/>
                        <a:t>3. Configure 4-stage Standard Approval Process (Tier 1 Auto, Tier 2 RSD, Tier 3 Deal Desk Queue, Tier 4 Executive Queue).</a:t>
                      </a:r>
                    </a:p>
                    <a:p>
                      <a:r>
                        <a:rPr lang="en-IN" sz="1400" dirty="0"/>
                        <a:t>4. Build Schedule-Triggered Flow for SLA escalation (&gt;24/48 hr reassignment).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• Record-Triggered Flow</a:t>
                      </a:r>
                    </a:p>
                    <a:p>
                      <a:r>
                        <a:rPr lang="en-US" sz="1400" dirty="0"/>
                        <a:t>• Standard Approval Processes</a:t>
                      </a:r>
                    </a:p>
                    <a:p>
                      <a:r>
                        <a:rPr lang="en-US" sz="1400" dirty="0"/>
                        <a:t>• Schedule-Triggered Flow</a:t>
                      </a:r>
                    </a:p>
                    <a:p>
                      <a:r>
                        <a:rPr lang="en-US" sz="1400" dirty="0"/>
                        <a:t>• Approval Queues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686967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95C941D-26FA-125F-57CD-9E795FB003A3}"/>
              </a:ext>
            </a:extLst>
          </p:cNvPr>
          <p:cNvSpPr txBox="1"/>
          <p:nvPr/>
        </p:nvSpPr>
        <p:spPr>
          <a:xfrm>
            <a:off x="419819" y="327003"/>
            <a:ext cx="15355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Timelines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D0B7A2-F7EA-7470-730F-C03E10948A0C}"/>
              </a:ext>
            </a:extLst>
          </p:cNvPr>
          <p:cNvSpPr txBox="1"/>
          <p:nvPr/>
        </p:nvSpPr>
        <p:spPr>
          <a:xfrm>
            <a:off x="8361872" y="419336"/>
            <a:ext cx="3973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highlight>
                  <a:srgbClr val="FFFF00"/>
                </a:highlight>
              </a:rPr>
              <a:t>Overall Timeframe of 2 – 3 months</a:t>
            </a:r>
          </a:p>
        </p:txBody>
      </p:sp>
    </p:spTree>
    <p:extLst>
      <p:ext uri="{BB962C8B-B14F-4D97-AF65-F5344CB8AC3E}">
        <p14:creationId xmlns:p14="http://schemas.microsoft.com/office/powerpoint/2010/main" val="3844671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B33F1A3-E544-B0CB-938E-F8A8DC52BB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9421202"/>
              </p:ext>
            </p:extLst>
          </p:nvPr>
        </p:nvGraphicFramePr>
        <p:xfrm>
          <a:off x="320137" y="748421"/>
          <a:ext cx="11218172" cy="412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3350">
                  <a:extLst>
                    <a:ext uri="{9D8B030D-6E8A-4147-A177-3AD203B41FA5}">
                      <a16:colId xmlns:a16="http://schemas.microsoft.com/office/drawing/2014/main" val="2667125008"/>
                    </a:ext>
                  </a:extLst>
                </a:gridCol>
                <a:gridCol w="2646790">
                  <a:extLst>
                    <a:ext uri="{9D8B030D-6E8A-4147-A177-3AD203B41FA5}">
                      <a16:colId xmlns:a16="http://schemas.microsoft.com/office/drawing/2014/main" val="773858772"/>
                    </a:ext>
                  </a:extLst>
                </a:gridCol>
                <a:gridCol w="4229376">
                  <a:extLst>
                    <a:ext uri="{9D8B030D-6E8A-4147-A177-3AD203B41FA5}">
                      <a16:colId xmlns:a16="http://schemas.microsoft.com/office/drawing/2014/main" val="1928663927"/>
                    </a:ext>
                  </a:extLst>
                </a:gridCol>
                <a:gridCol w="2454602">
                  <a:extLst>
                    <a:ext uri="{9D8B030D-6E8A-4147-A177-3AD203B41FA5}">
                      <a16:colId xmlns:a16="http://schemas.microsoft.com/office/drawing/2014/main" val="433450978"/>
                    </a:ext>
                  </a:extLst>
                </a:gridCol>
                <a:gridCol w="764054">
                  <a:extLst>
                    <a:ext uri="{9D8B030D-6E8A-4147-A177-3AD203B41FA5}">
                      <a16:colId xmlns:a16="http://schemas.microsoft.com/office/drawing/2014/main" val="737817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400" dirty="0"/>
                        <a:t>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Milestone Deliverable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User Stories / Detail Deliverables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SFDC Components &amp; 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087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dirty="0"/>
                        <a:t> W12 – W14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Safeguards, Validation Rules &amp; UI Customization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1. Configure mandatory Reason Code validation rule on discounted quotes.</a:t>
                      </a:r>
                    </a:p>
                    <a:p>
                      <a:r>
                        <a:rPr lang="en-US" sz="1400" dirty="0"/>
                        <a:t>2. Configure Quote PDF generation block if status != Approved.</a:t>
                      </a:r>
                    </a:p>
                    <a:p>
                      <a:r>
                        <a:rPr lang="en-US" sz="1400" dirty="0"/>
                        <a:t>3. Configure mandatory Expiration Date validation rule on approved quotes.</a:t>
                      </a:r>
                    </a:p>
                    <a:p>
                      <a:r>
                        <a:rPr lang="en-US" sz="1400" dirty="0"/>
                        <a:t>4. Optimize Quote page layouts using Dynamic Forms &amp; lock records on submission.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• Validation Rules</a:t>
                      </a:r>
                    </a:p>
                    <a:p>
                      <a:r>
                        <a:rPr lang="en-US" sz="1400" dirty="0"/>
                        <a:t>• Dynamic Forms</a:t>
                      </a:r>
                    </a:p>
                    <a:p>
                      <a:r>
                        <a:rPr lang="en-US" sz="1400" dirty="0"/>
                        <a:t>• Record Locks</a:t>
                      </a:r>
                    </a:p>
                    <a:p>
                      <a:r>
                        <a:rPr lang="en-US" sz="1400" dirty="0"/>
                        <a:t>• Page Layouts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1800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dirty="0"/>
                        <a:t>W15 – W17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KPI Reports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KPI &amp; Governance Reports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Reports and Dashboards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604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dirty="0"/>
                        <a:t>W18 – W20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Data Cleanup, </a:t>
                      </a:r>
                      <a:r>
                        <a:rPr lang="en-IN" sz="1400" dirty="0" err="1"/>
                        <a:t>Catalog</a:t>
                      </a:r>
                      <a:r>
                        <a:rPr lang="en-IN" sz="1400" dirty="0"/>
                        <a:t> Sanitization &amp; Core Schema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1. Audit &amp; deactivate obsolete Product2 records and legacy </a:t>
                      </a:r>
                      <a:r>
                        <a:rPr lang="en-IN" sz="1400" dirty="0" err="1"/>
                        <a:t>pricebooks</a:t>
                      </a:r>
                      <a:r>
                        <a:rPr lang="en-IN" sz="1400" dirty="0"/>
                        <a:t>.</a:t>
                      </a:r>
                    </a:p>
                    <a:p>
                      <a:r>
                        <a:rPr lang="en-IN" sz="1400" dirty="0"/>
                        <a:t>2. Populate </a:t>
                      </a:r>
                      <a:r>
                        <a:rPr lang="en-IN" sz="1400" dirty="0" err="1"/>
                        <a:t>Unit_Cost__c</a:t>
                      </a:r>
                      <a:r>
                        <a:rPr lang="en-IN" sz="1400" dirty="0"/>
                        <a:t> across active </a:t>
                      </a:r>
                      <a:r>
                        <a:rPr lang="en-IN" sz="1400" dirty="0" err="1"/>
                        <a:t>catalog</a:t>
                      </a:r>
                      <a:r>
                        <a:rPr lang="en-IN" sz="1400" dirty="0"/>
                        <a:t> items.</a:t>
                      </a:r>
                    </a:p>
                    <a:p>
                      <a:r>
                        <a:rPr lang="en-IN" sz="1400" dirty="0"/>
                        <a:t>3. Archive stale quotes (&gt;2 yrs old).</a:t>
                      </a:r>
                    </a:p>
                    <a:p>
                      <a:r>
                        <a:rPr lang="en-IN" sz="1400" dirty="0"/>
                        <a:t>4. Create </a:t>
                      </a:r>
                      <a:r>
                        <a:rPr lang="en-IN" sz="1400" dirty="0" err="1"/>
                        <a:t>Quote_Bundle__c</a:t>
                      </a:r>
                      <a:r>
                        <a:rPr lang="en-IN" sz="1400" dirty="0"/>
                        <a:t> object and </a:t>
                      </a:r>
                      <a:r>
                        <a:rPr lang="en-IN" sz="1400" dirty="0" err="1"/>
                        <a:t>QuoteLineItem</a:t>
                      </a:r>
                      <a:r>
                        <a:rPr lang="en-IN" sz="1400" dirty="0"/>
                        <a:t> custom formula fields (</a:t>
                      </a:r>
                      <a:r>
                        <a:rPr lang="en-IN" sz="1400" dirty="0" err="1"/>
                        <a:t>Gross_Margin_Amount__c</a:t>
                      </a:r>
                      <a:r>
                        <a:rPr lang="en-IN" sz="1400" dirty="0"/>
                        <a:t>, </a:t>
                      </a:r>
                      <a:r>
                        <a:rPr lang="en-IN" sz="1400" dirty="0" err="1"/>
                        <a:t>Gross_Margin_Percent__c</a:t>
                      </a:r>
                      <a:r>
                        <a:rPr lang="en-IN" sz="1400" dirty="0"/>
                        <a:t>, </a:t>
                      </a:r>
                      <a:r>
                        <a:rPr lang="en-IN" sz="1400" dirty="0" err="1"/>
                        <a:t>Margin_Floor_Met__c</a:t>
                      </a:r>
                      <a:r>
                        <a:rPr lang="en-IN" sz="1400" dirty="0"/>
                        <a:t>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• Custom Fields &amp; Formulas</a:t>
                      </a:r>
                    </a:p>
                    <a:p>
                      <a:r>
                        <a:rPr lang="en-US" sz="1400" dirty="0"/>
                        <a:t>• Data Loader / Import Wizard</a:t>
                      </a:r>
                    </a:p>
                    <a:p>
                      <a:r>
                        <a:rPr lang="en-US" sz="1400" dirty="0"/>
                        <a:t>• Product2 &amp; Pricebook2 Setup</a:t>
                      </a:r>
                    </a:p>
                    <a:p>
                      <a:r>
                        <a:rPr lang="en-US" sz="1400" dirty="0"/>
                        <a:t>• </a:t>
                      </a:r>
                      <a:r>
                        <a:rPr lang="en-US" sz="1400" dirty="0" err="1"/>
                        <a:t>Quote_Bundle__c</a:t>
                      </a:r>
                      <a:r>
                        <a:rPr lang="en-US" sz="1400" dirty="0"/>
                        <a:t> Object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686967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F89123D-85CD-431C-532E-5980C5F84583}"/>
              </a:ext>
            </a:extLst>
          </p:cNvPr>
          <p:cNvSpPr txBox="1"/>
          <p:nvPr/>
        </p:nvSpPr>
        <p:spPr>
          <a:xfrm>
            <a:off x="414068" y="18850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Timelines for Deliverables </a:t>
            </a:r>
          </a:p>
        </p:txBody>
      </p:sp>
    </p:spTree>
    <p:extLst>
      <p:ext uri="{BB962C8B-B14F-4D97-AF65-F5344CB8AC3E}">
        <p14:creationId xmlns:p14="http://schemas.microsoft.com/office/powerpoint/2010/main" val="2391906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6">
            <a:extLst>
              <a:ext uri="{FF2B5EF4-FFF2-40B4-BE49-F238E27FC236}">
                <a16:creationId xmlns:a16="http://schemas.microsoft.com/office/drawing/2014/main" id="{03BAC9E8-0026-80C3-D17E-EBC0D93C5D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7087302"/>
              </p:ext>
            </p:extLst>
          </p:nvPr>
        </p:nvGraphicFramePr>
        <p:xfrm>
          <a:off x="471217" y="1492222"/>
          <a:ext cx="11130279" cy="29921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5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91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3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0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337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56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Meeting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198755" marB="0">
                    <a:lnB w="6350">
                      <a:solidFill>
                        <a:srgbClr val="2D75B6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89230">
                        <a:lnSpc>
                          <a:spcPct val="100000"/>
                        </a:lnSpc>
                        <a:spcBef>
                          <a:spcPts val="156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Frequency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198755" marB="0">
                    <a:lnB w="6350">
                      <a:solidFill>
                        <a:srgbClr val="2D75B6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56515" algn="ctr">
                        <a:lnSpc>
                          <a:spcPct val="100000"/>
                        </a:lnSpc>
                        <a:spcBef>
                          <a:spcPts val="156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Activities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198755" marB="0">
                    <a:lnB w="6350">
                      <a:solidFill>
                        <a:srgbClr val="2D75B6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407034">
                        <a:lnSpc>
                          <a:spcPct val="100000"/>
                        </a:lnSpc>
                        <a:spcBef>
                          <a:spcPts val="156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Participants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198755" marB="0">
                    <a:lnB w="6350">
                      <a:solidFill>
                        <a:srgbClr val="2D75B6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228090">
                        <a:lnSpc>
                          <a:spcPct val="100000"/>
                        </a:lnSpc>
                        <a:spcBef>
                          <a:spcPts val="1565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Topics</a:t>
                      </a:r>
                      <a:r>
                        <a:rPr sz="1400" b="1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covered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198755" marB="0">
                    <a:lnB w="6350">
                      <a:solidFill>
                        <a:srgbClr val="2D75B6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56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Responsibility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198755" marB="0">
                    <a:lnB w="6350">
                      <a:solidFill>
                        <a:srgbClr val="2D75B6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44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endParaRPr sz="1300" dirty="0">
                        <a:latin typeface="Times New Roman"/>
                        <a:cs typeface="Times New Roman"/>
                      </a:endParaRPr>
                    </a:p>
                    <a:p>
                      <a:pPr marL="91440" marR="353695">
                        <a:lnSpc>
                          <a:spcPct val="100000"/>
                        </a:lnSpc>
                      </a:pPr>
                      <a:r>
                        <a:rPr sz="1300" spc="-10" dirty="0">
                          <a:latin typeface="Calibri"/>
                          <a:cs typeface="Calibri"/>
                        </a:rPr>
                        <a:t>Project </a:t>
                      </a:r>
                      <a:r>
                        <a:rPr sz="1300" spc="-20" dirty="0">
                          <a:latin typeface="Calibri"/>
                          <a:cs typeface="Calibri"/>
                        </a:rPr>
                        <a:t>Progress </a:t>
                      </a:r>
                      <a:r>
                        <a:rPr sz="1300" spc="-10" dirty="0">
                          <a:latin typeface="Calibri"/>
                          <a:cs typeface="Calibri"/>
                        </a:rPr>
                        <a:t>Review</a:t>
                      </a:r>
                      <a:endParaRPr sz="13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6350">
                      <a:solidFill>
                        <a:srgbClr val="2D75B6"/>
                      </a:solidFill>
                      <a:prstDash val="solid"/>
                    </a:lnT>
                    <a:lnB w="6350">
                      <a:solidFill>
                        <a:srgbClr val="2D75B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endParaRPr sz="1300" dirty="0">
                        <a:latin typeface="Times New Roman"/>
                        <a:cs typeface="Times New Roman"/>
                      </a:endParaRPr>
                    </a:p>
                    <a:p>
                      <a:pPr marL="189230">
                        <a:lnSpc>
                          <a:spcPct val="100000"/>
                        </a:lnSpc>
                      </a:pPr>
                      <a:r>
                        <a:rPr sz="1300" spc="-10" dirty="0">
                          <a:latin typeface="Calibri"/>
                          <a:cs typeface="Calibri"/>
                        </a:rPr>
                        <a:t>Weekly</a:t>
                      </a:r>
                      <a:endParaRPr sz="13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6350">
                      <a:solidFill>
                        <a:srgbClr val="2D75B6"/>
                      </a:solidFill>
                      <a:prstDash val="solid"/>
                    </a:lnT>
                    <a:lnB w="6350">
                      <a:solidFill>
                        <a:srgbClr val="2D75B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426084" marR="338455" indent="-287020">
                        <a:lnSpc>
                          <a:spcPct val="100000"/>
                        </a:lnSpc>
                        <a:spcBef>
                          <a:spcPts val="740"/>
                        </a:spcBef>
                        <a:buClr>
                          <a:srgbClr val="00AF50"/>
                        </a:buClr>
                        <a:buFont typeface="Wingdings"/>
                        <a:buChar char=""/>
                        <a:tabLst>
                          <a:tab pos="426084" algn="l"/>
                        </a:tabLst>
                      </a:pPr>
                      <a:r>
                        <a:rPr sz="1300" dirty="0">
                          <a:latin typeface="Calibri"/>
                          <a:cs typeface="Calibri"/>
                        </a:rPr>
                        <a:t>Weekly</a:t>
                      </a:r>
                      <a:r>
                        <a:rPr sz="13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latin typeface="Calibri"/>
                          <a:cs typeface="Calibri"/>
                        </a:rPr>
                        <a:t>status</a:t>
                      </a:r>
                      <a:r>
                        <a:rPr sz="13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latin typeface="Calibri"/>
                          <a:cs typeface="Calibri"/>
                        </a:rPr>
                        <a:t>update</a:t>
                      </a:r>
                      <a:r>
                        <a:rPr sz="13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35" dirty="0">
                          <a:latin typeface="Calibri"/>
                          <a:cs typeface="Calibri"/>
                        </a:rPr>
                        <a:t>on </a:t>
                      </a:r>
                      <a:r>
                        <a:rPr sz="1300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300" spc="-10" dirty="0">
                          <a:latin typeface="Calibri"/>
                          <a:cs typeface="Calibri"/>
                        </a:rPr>
                        <a:t>project.</a:t>
                      </a:r>
                      <a:endParaRPr sz="1300" dirty="0">
                        <a:latin typeface="Calibri"/>
                        <a:cs typeface="Calibri"/>
                      </a:endParaRPr>
                    </a:p>
                    <a:p>
                      <a:pPr marL="426084" marR="449580" indent="-287020">
                        <a:lnSpc>
                          <a:spcPct val="100000"/>
                        </a:lnSpc>
                        <a:spcBef>
                          <a:spcPts val="300"/>
                        </a:spcBef>
                        <a:buClr>
                          <a:srgbClr val="00AF50"/>
                        </a:buClr>
                        <a:buFont typeface="Wingdings"/>
                        <a:buChar char=""/>
                        <a:tabLst>
                          <a:tab pos="426084" algn="l"/>
                        </a:tabLst>
                      </a:pPr>
                      <a:r>
                        <a:rPr sz="1300" dirty="0">
                          <a:latin typeface="Calibri"/>
                          <a:cs typeface="Calibri"/>
                        </a:rPr>
                        <a:t>Discuss</a:t>
                      </a:r>
                      <a:r>
                        <a:rPr sz="13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latin typeface="Calibri"/>
                          <a:cs typeface="Calibri"/>
                        </a:rPr>
                        <a:t>any</a:t>
                      </a:r>
                      <a:r>
                        <a:rPr sz="13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10" dirty="0">
                          <a:latin typeface="Calibri"/>
                          <a:cs typeface="Calibri"/>
                        </a:rPr>
                        <a:t>unresolved issues.</a:t>
                      </a:r>
                      <a:endParaRPr sz="1300" dirty="0">
                        <a:latin typeface="Calibri"/>
                        <a:cs typeface="Calibri"/>
                      </a:endParaRPr>
                    </a:p>
                    <a:p>
                      <a:pPr marL="426084" marR="349250" indent="-287020">
                        <a:lnSpc>
                          <a:spcPct val="100000"/>
                        </a:lnSpc>
                        <a:spcBef>
                          <a:spcPts val="300"/>
                        </a:spcBef>
                        <a:buClr>
                          <a:srgbClr val="00AF50"/>
                        </a:buClr>
                        <a:buFont typeface="Wingdings"/>
                        <a:buChar char=""/>
                        <a:tabLst>
                          <a:tab pos="426084" algn="l"/>
                        </a:tabLst>
                      </a:pPr>
                      <a:r>
                        <a:rPr sz="1300" dirty="0">
                          <a:latin typeface="Calibri"/>
                          <a:cs typeface="Calibri"/>
                        </a:rPr>
                        <a:t>Discuss</a:t>
                      </a:r>
                      <a:r>
                        <a:rPr sz="13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3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latin typeface="Calibri"/>
                          <a:cs typeface="Calibri"/>
                        </a:rPr>
                        <a:t>mitigate</a:t>
                      </a:r>
                      <a:r>
                        <a:rPr sz="13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25" dirty="0">
                          <a:latin typeface="Calibri"/>
                          <a:cs typeface="Calibri"/>
                        </a:rPr>
                        <a:t>any </a:t>
                      </a:r>
                      <a:r>
                        <a:rPr sz="1300" dirty="0">
                          <a:latin typeface="Calibri"/>
                          <a:cs typeface="Calibri"/>
                        </a:rPr>
                        <a:t>risks</a:t>
                      </a:r>
                      <a:r>
                        <a:rPr sz="13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3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10" dirty="0">
                          <a:latin typeface="Calibri"/>
                          <a:cs typeface="Calibri"/>
                        </a:rPr>
                        <a:t>concerns</a:t>
                      </a:r>
                      <a:endParaRPr sz="1300" dirty="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T w="6350">
                      <a:solidFill>
                        <a:srgbClr val="2D75B6"/>
                      </a:solidFill>
                      <a:prstDash val="solid"/>
                    </a:lnT>
                    <a:lnB w="6350">
                      <a:solidFill>
                        <a:srgbClr val="2D75B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endParaRPr sz="1300" dirty="0">
                        <a:latin typeface="Times New Roman"/>
                        <a:cs typeface="Times New Roman"/>
                      </a:endParaRPr>
                    </a:p>
                    <a:p>
                      <a:pPr marL="283210" indent="-182245">
                        <a:lnSpc>
                          <a:spcPct val="100000"/>
                        </a:lnSpc>
                        <a:buClr>
                          <a:srgbClr val="00AF50"/>
                        </a:buClr>
                        <a:buSzPct val="69230"/>
                        <a:buFont typeface="Segoe UI Symbol"/>
                        <a:buChar char="✓"/>
                        <a:tabLst>
                          <a:tab pos="283210" algn="l"/>
                        </a:tabLst>
                      </a:pPr>
                      <a:r>
                        <a:rPr sz="1300" spc="-10" dirty="0">
                          <a:latin typeface="Calibri"/>
                          <a:cs typeface="Calibri"/>
                        </a:rPr>
                        <a:t>Durvah</a:t>
                      </a:r>
                      <a:endParaRPr sz="1300" dirty="0">
                        <a:latin typeface="Calibri"/>
                        <a:cs typeface="Calibri"/>
                      </a:endParaRPr>
                    </a:p>
                    <a:p>
                      <a:pPr marL="281940" marR="104775" indent="-181610">
                        <a:lnSpc>
                          <a:spcPct val="100000"/>
                        </a:lnSpc>
                        <a:spcBef>
                          <a:spcPts val="409"/>
                        </a:spcBef>
                        <a:buClr>
                          <a:srgbClr val="00AF50"/>
                        </a:buClr>
                        <a:buSzPct val="69230"/>
                        <a:buFont typeface="Segoe UI Symbol"/>
                        <a:buChar char="✓"/>
                        <a:tabLst>
                          <a:tab pos="281940" algn="l"/>
                        </a:tabLst>
                      </a:pPr>
                      <a:r>
                        <a:rPr lang="en-IN" sz="1300" spc="-10" dirty="0">
                          <a:latin typeface="Calibri"/>
                          <a:cs typeface="Calibri"/>
                        </a:rPr>
                        <a:t>USME SPOC</a:t>
                      </a:r>
                      <a:r>
                        <a:rPr sz="13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latin typeface="Calibri"/>
                          <a:cs typeface="Calibri"/>
                        </a:rPr>
                        <a:t>Business</a:t>
                      </a:r>
                      <a:r>
                        <a:rPr sz="13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latin typeface="Calibri"/>
                          <a:cs typeface="Calibri"/>
                        </a:rPr>
                        <a:t>&amp;</a:t>
                      </a:r>
                      <a:r>
                        <a:rPr sz="13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latin typeface="Calibri"/>
                          <a:cs typeface="Calibri"/>
                        </a:rPr>
                        <a:t>IT</a:t>
                      </a:r>
                      <a:r>
                        <a:rPr sz="13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20" dirty="0">
                          <a:latin typeface="Calibri"/>
                          <a:cs typeface="Calibri"/>
                        </a:rPr>
                        <a:t>team</a:t>
                      </a:r>
                      <a:endParaRPr sz="13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6350">
                      <a:solidFill>
                        <a:srgbClr val="2D75B6"/>
                      </a:solidFill>
                      <a:prstDash val="solid"/>
                    </a:lnT>
                    <a:lnB w="6350">
                      <a:solidFill>
                        <a:srgbClr val="2D75B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endParaRPr sz="1300" dirty="0">
                        <a:latin typeface="Times New Roman"/>
                        <a:cs typeface="Times New Roman"/>
                      </a:endParaRPr>
                    </a:p>
                    <a:p>
                      <a:pPr marL="294005" indent="-181610">
                        <a:lnSpc>
                          <a:spcPct val="100000"/>
                        </a:lnSpc>
                        <a:buClr>
                          <a:srgbClr val="00AF50"/>
                        </a:buClr>
                        <a:buSzPct val="69230"/>
                        <a:buFont typeface="Segoe UI Symbol"/>
                        <a:buChar char="✓"/>
                        <a:tabLst>
                          <a:tab pos="294005" algn="l"/>
                        </a:tabLst>
                      </a:pPr>
                      <a:r>
                        <a:rPr sz="1300" dirty="0">
                          <a:latin typeface="Calibri"/>
                          <a:cs typeface="Calibri"/>
                        </a:rPr>
                        <a:t>Overall</a:t>
                      </a:r>
                      <a:r>
                        <a:rPr sz="13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latin typeface="Calibri"/>
                          <a:cs typeface="Calibri"/>
                        </a:rPr>
                        <a:t>status</a:t>
                      </a:r>
                      <a:r>
                        <a:rPr sz="13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3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latin typeface="Calibri"/>
                          <a:cs typeface="Calibri"/>
                        </a:rPr>
                        <a:t>project</a:t>
                      </a:r>
                      <a:r>
                        <a:rPr sz="13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latin typeface="Calibri"/>
                          <a:cs typeface="Calibri"/>
                        </a:rPr>
                        <a:t>against</a:t>
                      </a:r>
                      <a:r>
                        <a:rPr sz="13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3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20" dirty="0">
                          <a:latin typeface="Calibri"/>
                          <a:cs typeface="Calibri"/>
                        </a:rPr>
                        <a:t>plan</a:t>
                      </a:r>
                      <a:endParaRPr sz="1300" dirty="0">
                        <a:latin typeface="Calibri"/>
                        <a:cs typeface="Calibri"/>
                      </a:endParaRPr>
                    </a:p>
                    <a:p>
                      <a:pPr marL="294005" indent="-181610">
                        <a:lnSpc>
                          <a:spcPct val="100000"/>
                        </a:lnSpc>
                        <a:spcBef>
                          <a:spcPts val="409"/>
                        </a:spcBef>
                        <a:buClr>
                          <a:srgbClr val="00AF50"/>
                        </a:buClr>
                        <a:buSzPct val="69230"/>
                        <a:buFont typeface="Segoe UI Symbol"/>
                        <a:buChar char="✓"/>
                        <a:tabLst>
                          <a:tab pos="294005" algn="l"/>
                        </a:tabLst>
                      </a:pPr>
                      <a:r>
                        <a:rPr sz="1300" dirty="0">
                          <a:latin typeface="Calibri"/>
                          <a:cs typeface="Calibri"/>
                        </a:rPr>
                        <a:t>Scheduling</a:t>
                      </a:r>
                      <a:r>
                        <a:rPr sz="13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3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latin typeface="Calibri"/>
                          <a:cs typeface="Calibri"/>
                        </a:rPr>
                        <a:t>meetings</a:t>
                      </a:r>
                      <a:r>
                        <a:rPr sz="13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3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10" dirty="0">
                          <a:latin typeface="Calibri"/>
                          <a:cs typeface="Calibri"/>
                        </a:rPr>
                        <a:t>planning</a:t>
                      </a:r>
                      <a:endParaRPr sz="1300" dirty="0">
                        <a:latin typeface="Calibri"/>
                        <a:cs typeface="Calibri"/>
                      </a:endParaRPr>
                    </a:p>
                    <a:p>
                      <a:pPr marL="294005" indent="-181610">
                        <a:lnSpc>
                          <a:spcPct val="100000"/>
                        </a:lnSpc>
                        <a:spcBef>
                          <a:spcPts val="395"/>
                        </a:spcBef>
                        <a:buClr>
                          <a:srgbClr val="00AF50"/>
                        </a:buClr>
                        <a:buSzPct val="69230"/>
                        <a:buFont typeface="Segoe UI Symbol"/>
                        <a:buChar char="✓"/>
                        <a:tabLst>
                          <a:tab pos="294005" algn="l"/>
                        </a:tabLst>
                      </a:pPr>
                      <a:r>
                        <a:rPr sz="1300" dirty="0">
                          <a:latin typeface="Calibri"/>
                          <a:cs typeface="Calibri"/>
                        </a:rPr>
                        <a:t>Issues</a:t>
                      </a:r>
                      <a:r>
                        <a:rPr sz="13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3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10" dirty="0">
                          <a:latin typeface="Calibri"/>
                          <a:cs typeface="Calibri"/>
                        </a:rPr>
                        <a:t>delays</a:t>
                      </a:r>
                      <a:endParaRPr sz="1300" dirty="0">
                        <a:latin typeface="Calibri"/>
                        <a:cs typeface="Calibri"/>
                      </a:endParaRPr>
                    </a:p>
                    <a:p>
                      <a:pPr marL="294005" indent="-181610">
                        <a:lnSpc>
                          <a:spcPct val="100000"/>
                        </a:lnSpc>
                        <a:spcBef>
                          <a:spcPts val="395"/>
                        </a:spcBef>
                        <a:buClr>
                          <a:srgbClr val="00AF50"/>
                        </a:buClr>
                        <a:buSzPct val="69230"/>
                        <a:buFont typeface="Segoe UI Symbol"/>
                        <a:buChar char="✓"/>
                        <a:tabLst>
                          <a:tab pos="294005" algn="l"/>
                        </a:tabLst>
                      </a:pPr>
                      <a:r>
                        <a:rPr sz="1300" dirty="0">
                          <a:latin typeface="Calibri"/>
                          <a:cs typeface="Calibri"/>
                        </a:rPr>
                        <a:t>Manage</a:t>
                      </a:r>
                      <a:r>
                        <a:rPr sz="13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latin typeface="Calibri"/>
                          <a:cs typeface="Calibri"/>
                        </a:rPr>
                        <a:t>project</a:t>
                      </a:r>
                      <a:r>
                        <a:rPr sz="13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latin typeface="Calibri"/>
                          <a:cs typeface="Calibri"/>
                        </a:rPr>
                        <a:t>issues</a:t>
                      </a:r>
                      <a:r>
                        <a:rPr sz="13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3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20" dirty="0">
                          <a:latin typeface="Calibri"/>
                          <a:cs typeface="Calibri"/>
                        </a:rPr>
                        <a:t>risks</a:t>
                      </a:r>
                      <a:endParaRPr sz="1300" dirty="0">
                        <a:latin typeface="Calibri"/>
                        <a:cs typeface="Calibri"/>
                      </a:endParaRPr>
                    </a:p>
                  </a:txBody>
                  <a:tcPr marL="0" marR="0" marT="64135" marB="0">
                    <a:lnT w="6350">
                      <a:solidFill>
                        <a:srgbClr val="2D75B6"/>
                      </a:solidFill>
                      <a:prstDash val="solid"/>
                    </a:lnT>
                    <a:lnB w="6350">
                      <a:solidFill>
                        <a:srgbClr val="2D75B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endParaRPr sz="1300" dirty="0">
                        <a:latin typeface="Times New Roman"/>
                        <a:cs typeface="Times New Roman"/>
                      </a:endParaRPr>
                    </a:p>
                    <a:p>
                      <a:pPr marL="154940">
                        <a:lnSpc>
                          <a:spcPct val="100000"/>
                        </a:lnSpc>
                      </a:pPr>
                      <a:r>
                        <a:rPr sz="1300" spc="-10" dirty="0">
                          <a:latin typeface="Calibri"/>
                          <a:cs typeface="Calibri"/>
                        </a:rPr>
                        <a:t>Durvah</a:t>
                      </a:r>
                      <a:endParaRPr sz="13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6350">
                      <a:solidFill>
                        <a:srgbClr val="2D75B6"/>
                      </a:solidFill>
                      <a:prstDash val="solid"/>
                    </a:lnT>
                    <a:lnB w="6350">
                      <a:solidFill>
                        <a:srgbClr val="2D75B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39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300" spc="-20" dirty="0">
                          <a:latin typeface="Calibri"/>
                          <a:cs typeface="Calibri"/>
                        </a:rPr>
                        <a:t>Ad-</a:t>
                      </a:r>
                      <a:r>
                        <a:rPr sz="1300" spc="-25" dirty="0">
                          <a:latin typeface="Calibri"/>
                          <a:cs typeface="Calibri"/>
                        </a:rPr>
                        <a:t>Hoc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T="142875" marB="0">
                    <a:lnT w="6350" cap="flat" cmpd="sng" algn="ctr">
                      <a:solidFill>
                        <a:srgbClr val="2D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2D75B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endParaRPr sz="1300" dirty="0">
                        <a:latin typeface="Times New Roman"/>
                        <a:cs typeface="Times New Roman"/>
                      </a:endParaRPr>
                    </a:p>
                    <a:p>
                      <a:pPr marL="189230">
                        <a:lnSpc>
                          <a:spcPct val="100000"/>
                        </a:lnSpc>
                      </a:pPr>
                      <a:r>
                        <a:rPr sz="1300" spc="-20" dirty="0">
                          <a:latin typeface="Calibri"/>
                          <a:cs typeface="Calibri"/>
                        </a:rPr>
                        <a:t>Ad-</a:t>
                      </a:r>
                      <a:r>
                        <a:rPr sz="1300" spc="-25" dirty="0">
                          <a:latin typeface="Calibri"/>
                          <a:cs typeface="Calibri"/>
                        </a:rPr>
                        <a:t>Hoc</a:t>
                      </a:r>
                      <a:endParaRPr sz="1300" dirty="0">
                        <a:latin typeface="Calibri"/>
                        <a:cs typeface="Calibri"/>
                      </a:endParaRPr>
                    </a:p>
                  </a:txBody>
                  <a:tcPr marL="0" marR="0" marT="142875" marB="0">
                    <a:lnT w="6350" cap="flat" cmpd="sng" algn="ctr">
                      <a:solidFill>
                        <a:srgbClr val="2D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2D75B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426084" marR="93345" indent="-287020">
                        <a:lnSpc>
                          <a:spcPct val="100000"/>
                        </a:lnSpc>
                        <a:spcBef>
                          <a:spcPts val="280"/>
                        </a:spcBef>
                        <a:buClr>
                          <a:srgbClr val="00AF50"/>
                        </a:buClr>
                        <a:buFont typeface="Wingdings"/>
                        <a:buChar char=""/>
                        <a:tabLst>
                          <a:tab pos="426084" algn="l"/>
                        </a:tabLst>
                      </a:pPr>
                      <a:r>
                        <a:rPr sz="1300" dirty="0">
                          <a:latin typeface="Calibri"/>
                          <a:cs typeface="Calibri"/>
                        </a:rPr>
                        <a:t>Discussion</a:t>
                      </a:r>
                      <a:r>
                        <a:rPr sz="13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3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IN" sz="1300" spc="-20" dirty="0">
                          <a:latin typeface="Calibri"/>
                          <a:cs typeface="Calibri"/>
                        </a:rPr>
                        <a:t>USME SPOC</a:t>
                      </a:r>
                      <a:r>
                        <a:rPr sz="13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latin typeface="Calibri"/>
                          <a:cs typeface="Calibri"/>
                        </a:rPr>
                        <a:t>as</a:t>
                      </a:r>
                      <a:r>
                        <a:rPr sz="13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3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20" dirty="0">
                          <a:latin typeface="Calibri"/>
                          <a:cs typeface="Calibri"/>
                        </a:rPr>
                        <a:t>when </a:t>
                      </a:r>
                      <a:r>
                        <a:rPr sz="1300" spc="-10" dirty="0">
                          <a:latin typeface="Calibri"/>
                          <a:cs typeface="Calibri"/>
                        </a:rPr>
                        <a:t>inputs/clarifications/confirm </a:t>
                      </a:r>
                      <a:r>
                        <a:rPr sz="1300" dirty="0">
                          <a:latin typeface="Calibri"/>
                          <a:cs typeface="Calibri"/>
                        </a:rPr>
                        <a:t>ations</a:t>
                      </a:r>
                      <a:r>
                        <a:rPr sz="13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latin typeface="Calibri"/>
                          <a:cs typeface="Calibri"/>
                        </a:rPr>
                        <a:t>are</a:t>
                      </a:r>
                      <a:r>
                        <a:rPr sz="13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10" dirty="0">
                          <a:latin typeface="Calibri"/>
                          <a:cs typeface="Calibri"/>
                        </a:rPr>
                        <a:t>required.</a:t>
                      </a:r>
                      <a:endParaRPr sz="1300" dirty="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T w="6350" cap="flat" cmpd="sng" algn="ctr">
                      <a:solidFill>
                        <a:srgbClr val="2D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2D75B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1300" dirty="0">
                        <a:latin typeface="Times New Roman"/>
                        <a:cs typeface="Times New Roman"/>
                      </a:endParaRPr>
                    </a:p>
                    <a:p>
                      <a:pPr marL="282575" indent="-181610">
                        <a:lnSpc>
                          <a:spcPct val="100000"/>
                        </a:lnSpc>
                        <a:buClr>
                          <a:srgbClr val="00AF50"/>
                        </a:buClr>
                        <a:buSzPct val="69230"/>
                        <a:buFont typeface="Segoe UI Symbol"/>
                        <a:buChar char="✓"/>
                        <a:tabLst>
                          <a:tab pos="282575" algn="l"/>
                        </a:tabLst>
                      </a:pPr>
                      <a:r>
                        <a:rPr sz="1300" spc="-10" dirty="0">
                          <a:latin typeface="Calibri"/>
                          <a:cs typeface="Calibri"/>
                        </a:rPr>
                        <a:t>Durvah</a:t>
                      </a:r>
                      <a:endParaRPr sz="1300" dirty="0">
                        <a:latin typeface="Calibri"/>
                        <a:cs typeface="Calibri"/>
                      </a:endParaRPr>
                    </a:p>
                    <a:p>
                      <a:pPr marL="282575" indent="-181610">
                        <a:lnSpc>
                          <a:spcPct val="100000"/>
                        </a:lnSpc>
                        <a:spcBef>
                          <a:spcPts val="409"/>
                        </a:spcBef>
                        <a:buClr>
                          <a:srgbClr val="00AF50"/>
                        </a:buClr>
                        <a:buSzPct val="69230"/>
                        <a:buFont typeface="Segoe UI Symbol"/>
                        <a:buChar char="✓"/>
                        <a:tabLst>
                          <a:tab pos="282575" algn="l"/>
                        </a:tabLst>
                      </a:pPr>
                      <a:r>
                        <a:rPr lang="en-IN" sz="1300" dirty="0">
                          <a:latin typeface="Calibri"/>
                          <a:cs typeface="Calibri"/>
                        </a:rPr>
                        <a:t>USME SPOC</a:t>
                      </a:r>
                      <a:endParaRPr sz="1300" dirty="0">
                        <a:latin typeface="Calibri"/>
                        <a:cs typeface="Calibri"/>
                      </a:endParaRPr>
                    </a:p>
                  </a:txBody>
                  <a:tcPr marL="0" marR="0" marT="18415" marB="0">
                    <a:lnT w="6350" cap="flat" cmpd="sng" algn="ctr">
                      <a:solidFill>
                        <a:srgbClr val="2D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2D75B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6350" cap="flat" cmpd="sng" algn="ctr">
                      <a:solidFill>
                        <a:srgbClr val="2D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2D75B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endParaRPr sz="1300" dirty="0">
                        <a:latin typeface="Times New Roman"/>
                        <a:cs typeface="Times New Roman"/>
                      </a:endParaRPr>
                    </a:p>
                    <a:p>
                      <a:pPr marL="154940">
                        <a:lnSpc>
                          <a:spcPct val="100000"/>
                        </a:lnSpc>
                      </a:pPr>
                      <a:r>
                        <a:rPr sz="1300" spc="-10" dirty="0">
                          <a:latin typeface="Calibri"/>
                          <a:cs typeface="Calibri"/>
                        </a:rPr>
                        <a:t>Durvah</a:t>
                      </a:r>
                      <a:endParaRPr sz="1300" dirty="0">
                        <a:latin typeface="Calibri"/>
                        <a:cs typeface="Calibri"/>
                      </a:endParaRPr>
                    </a:p>
                  </a:txBody>
                  <a:tcPr marL="0" marR="0" marT="142875" marB="0">
                    <a:lnT w="6350" cap="flat" cmpd="sng" algn="ctr">
                      <a:solidFill>
                        <a:srgbClr val="2D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2D75B6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23D5064-34F1-0671-55E4-6BB317888B5B}"/>
              </a:ext>
            </a:extLst>
          </p:cNvPr>
          <p:cNvSpPr txBox="1"/>
          <p:nvPr/>
        </p:nvSpPr>
        <p:spPr>
          <a:xfrm>
            <a:off x="396455" y="28051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Project Governance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F1B256-C014-8E50-431D-8AF8CEED4148}"/>
              </a:ext>
            </a:extLst>
          </p:cNvPr>
          <p:cNvSpPr txBox="1"/>
          <p:nvPr/>
        </p:nvSpPr>
        <p:spPr>
          <a:xfrm>
            <a:off x="471217" y="947316"/>
            <a:ext cx="5187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Working with USME SPOC to delivery the project</a:t>
            </a:r>
          </a:p>
        </p:txBody>
      </p:sp>
    </p:spTree>
    <p:extLst>
      <p:ext uri="{BB962C8B-B14F-4D97-AF65-F5344CB8AC3E}">
        <p14:creationId xmlns:p14="http://schemas.microsoft.com/office/powerpoint/2010/main" val="3689823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079053"/>
            <a:ext cx="9257665" cy="2757826"/>
          </a:xfrm>
          <a:custGeom>
            <a:avLst/>
            <a:gdLst/>
            <a:ahLst/>
            <a:cxnLst/>
            <a:rect l="l" t="t" r="r" b="b"/>
            <a:pathLst>
              <a:path w="12192000" h="3797934">
                <a:moveTo>
                  <a:pt x="12192000" y="0"/>
                </a:moveTo>
                <a:lnTo>
                  <a:pt x="0" y="0"/>
                </a:lnTo>
                <a:lnTo>
                  <a:pt x="0" y="3797808"/>
                </a:lnTo>
                <a:lnTo>
                  <a:pt x="12192000" y="3797808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40238" y="215595"/>
            <a:ext cx="1158367" cy="43121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507326" y="4784939"/>
            <a:ext cx="1097915" cy="1097280"/>
            <a:chOff x="507326" y="3693414"/>
            <a:chExt cx="1097915" cy="1097280"/>
          </a:xfrm>
        </p:grpSpPr>
        <p:sp>
          <p:nvSpPr>
            <p:cNvPr id="6" name="object 6"/>
            <p:cNvSpPr/>
            <p:nvPr/>
          </p:nvSpPr>
          <p:spPr>
            <a:xfrm>
              <a:off x="507326" y="3693414"/>
              <a:ext cx="1097915" cy="1097280"/>
            </a:xfrm>
            <a:custGeom>
              <a:avLst/>
              <a:gdLst/>
              <a:ahLst/>
              <a:cxnLst/>
              <a:rect l="l" t="t" r="r" b="b"/>
              <a:pathLst>
                <a:path w="1097915" h="1097279">
                  <a:moveTo>
                    <a:pt x="548640" y="0"/>
                  </a:moveTo>
                  <a:lnTo>
                    <a:pt x="501300" y="2013"/>
                  </a:lnTo>
                  <a:lnTo>
                    <a:pt x="455079" y="7945"/>
                  </a:lnTo>
                  <a:lnTo>
                    <a:pt x="410141" y="17629"/>
                  </a:lnTo>
                  <a:lnTo>
                    <a:pt x="366651" y="30902"/>
                  </a:lnTo>
                  <a:lnTo>
                    <a:pt x="324773" y="47598"/>
                  </a:lnTo>
                  <a:lnTo>
                    <a:pt x="284672" y="67554"/>
                  </a:lnTo>
                  <a:lnTo>
                    <a:pt x="246513" y="90604"/>
                  </a:lnTo>
                  <a:lnTo>
                    <a:pt x="210460" y="116583"/>
                  </a:lnTo>
                  <a:lnTo>
                    <a:pt x="176679" y="145328"/>
                  </a:lnTo>
                  <a:lnTo>
                    <a:pt x="145333" y="176674"/>
                  </a:lnTo>
                  <a:lnTo>
                    <a:pt x="116587" y="210455"/>
                  </a:lnTo>
                  <a:lnTo>
                    <a:pt x="90607" y="246508"/>
                  </a:lnTo>
                  <a:lnTo>
                    <a:pt x="67556" y="284667"/>
                  </a:lnTo>
                  <a:lnTo>
                    <a:pt x="47600" y="324768"/>
                  </a:lnTo>
                  <a:lnTo>
                    <a:pt x="30903" y="366646"/>
                  </a:lnTo>
                  <a:lnTo>
                    <a:pt x="17630" y="410137"/>
                  </a:lnTo>
                  <a:lnTo>
                    <a:pt x="7945" y="455076"/>
                  </a:lnTo>
                  <a:lnTo>
                    <a:pt x="2013" y="501298"/>
                  </a:lnTo>
                  <a:lnTo>
                    <a:pt x="0" y="548640"/>
                  </a:lnTo>
                  <a:lnTo>
                    <a:pt x="2013" y="595981"/>
                  </a:lnTo>
                  <a:lnTo>
                    <a:pt x="7945" y="642203"/>
                  </a:lnTo>
                  <a:lnTo>
                    <a:pt x="17630" y="687142"/>
                  </a:lnTo>
                  <a:lnTo>
                    <a:pt x="30903" y="730633"/>
                  </a:lnTo>
                  <a:lnTo>
                    <a:pt x="47600" y="772511"/>
                  </a:lnTo>
                  <a:lnTo>
                    <a:pt x="67556" y="812612"/>
                  </a:lnTo>
                  <a:lnTo>
                    <a:pt x="90607" y="850771"/>
                  </a:lnTo>
                  <a:lnTo>
                    <a:pt x="116587" y="886824"/>
                  </a:lnTo>
                  <a:lnTo>
                    <a:pt x="145333" y="920605"/>
                  </a:lnTo>
                  <a:lnTo>
                    <a:pt x="176679" y="951951"/>
                  </a:lnTo>
                  <a:lnTo>
                    <a:pt x="210460" y="980696"/>
                  </a:lnTo>
                  <a:lnTo>
                    <a:pt x="246513" y="1006675"/>
                  </a:lnTo>
                  <a:lnTo>
                    <a:pt x="284672" y="1029725"/>
                  </a:lnTo>
                  <a:lnTo>
                    <a:pt x="324773" y="1049681"/>
                  </a:lnTo>
                  <a:lnTo>
                    <a:pt x="366651" y="1066377"/>
                  </a:lnTo>
                  <a:lnTo>
                    <a:pt x="410141" y="1079650"/>
                  </a:lnTo>
                  <a:lnTo>
                    <a:pt x="455079" y="1089334"/>
                  </a:lnTo>
                  <a:lnTo>
                    <a:pt x="501300" y="1095266"/>
                  </a:lnTo>
                  <a:lnTo>
                    <a:pt x="548640" y="1097280"/>
                  </a:lnTo>
                  <a:lnTo>
                    <a:pt x="595986" y="1095266"/>
                  </a:lnTo>
                  <a:lnTo>
                    <a:pt x="642214" y="1089334"/>
                  </a:lnTo>
                  <a:lnTo>
                    <a:pt x="687157" y="1079650"/>
                  </a:lnTo>
                  <a:lnTo>
                    <a:pt x="730652" y="1066377"/>
                  </a:lnTo>
                  <a:lnTo>
                    <a:pt x="772534" y="1049681"/>
                  </a:lnTo>
                  <a:lnTo>
                    <a:pt x="812638" y="1029725"/>
                  </a:lnTo>
                  <a:lnTo>
                    <a:pt x="850800" y="1006675"/>
                  </a:lnTo>
                  <a:lnTo>
                    <a:pt x="886855" y="980696"/>
                  </a:lnTo>
                  <a:lnTo>
                    <a:pt x="920638" y="951951"/>
                  </a:lnTo>
                  <a:lnTo>
                    <a:pt x="951985" y="920605"/>
                  </a:lnTo>
                  <a:lnTo>
                    <a:pt x="980731" y="886824"/>
                  </a:lnTo>
                  <a:lnTo>
                    <a:pt x="1006712" y="850771"/>
                  </a:lnTo>
                  <a:lnTo>
                    <a:pt x="1029762" y="812612"/>
                  </a:lnTo>
                  <a:lnTo>
                    <a:pt x="1049718" y="772511"/>
                  </a:lnTo>
                  <a:lnTo>
                    <a:pt x="1066415" y="730633"/>
                  </a:lnTo>
                  <a:lnTo>
                    <a:pt x="1079688" y="687142"/>
                  </a:lnTo>
                  <a:lnTo>
                    <a:pt x="1089372" y="642203"/>
                  </a:lnTo>
                  <a:lnTo>
                    <a:pt x="1095304" y="595981"/>
                  </a:lnTo>
                  <a:lnTo>
                    <a:pt x="1097318" y="548640"/>
                  </a:lnTo>
                  <a:lnTo>
                    <a:pt x="1095304" y="501298"/>
                  </a:lnTo>
                  <a:lnTo>
                    <a:pt x="1089372" y="455076"/>
                  </a:lnTo>
                  <a:lnTo>
                    <a:pt x="1079688" y="410137"/>
                  </a:lnTo>
                  <a:lnTo>
                    <a:pt x="1066415" y="366646"/>
                  </a:lnTo>
                  <a:lnTo>
                    <a:pt x="1049718" y="324768"/>
                  </a:lnTo>
                  <a:lnTo>
                    <a:pt x="1029762" y="284667"/>
                  </a:lnTo>
                  <a:lnTo>
                    <a:pt x="1006712" y="246508"/>
                  </a:lnTo>
                  <a:lnTo>
                    <a:pt x="980731" y="210455"/>
                  </a:lnTo>
                  <a:lnTo>
                    <a:pt x="951985" y="176674"/>
                  </a:lnTo>
                  <a:lnTo>
                    <a:pt x="920638" y="145328"/>
                  </a:lnTo>
                  <a:lnTo>
                    <a:pt x="886855" y="116583"/>
                  </a:lnTo>
                  <a:lnTo>
                    <a:pt x="850800" y="90604"/>
                  </a:lnTo>
                  <a:lnTo>
                    <a:pt x="812638" y="67554"/>
                  </a:lnTo>
                  <a:lnTo>
                    <a:pt x="772534" y="47598"/>
                  </a:lnTo>
                  <a:lnTo>
                    <a:pt x="730652" y="30902"/>
                  </a:lnTo>
                  <a:lnTo>
                    <a:pt x="687157" y="17629"/>
                  </a:lnTo>
                  <a:lnTo>
                    <a:pt x="642214" y="7945"/>
                  </a:lnTo>
                  <a:lnTo>
                    <a:pt x="595986" y="2013"/>
                  </a:lnTo>
                  <a:lnTo>
                    <a:pt x="5486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6782" y="3912870"/>
              <a:ext cx="658368" cy="65836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696215" y="4343400"/>
            <a:ext cx="7467600" cy="22801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5B9BD4"/>
                </a:solidFill>
                <a:latin typeface="Calibri"/>
                <a:cs typeface="Calibri"/>
              </a:rPr>
              <a:t>NOTE:</a:t>
            </a:r>
            <a:endParaRPr sz="1400" dirty="0">
              <a:latin typeface="Calibri"/>
              <a:cs typeface="Calibri"/>
            </a:endParaRPr>
          </a:p>
          <a:p>
            <a:pPr marL="323215" marR="5080" indent="-287020">
              <a:spcBef>
                <a:spcPts val="490"/>
              </a:spcBef>
              <a:buFont typeface="Wingdings"/>
              <a:buChar char=""/>
              <a:tabLst>
                <a:tab pos="323215" algn="l"/>
              </a:tabLst>
            </a:pPr>
            <a:r>
              <a:rPr lang="en-IN" sz="1250" dirty="0">
                <a:latin typeface="Calibri"/>
                <a:cs typeface="Calibri"/>
              </a:rPr>
              <a:t>Any requirements which are not part of the scope will be considered as CR. This will be effort estimated and charged @ INR per man-day.</a:t>
            </a:r>
          </a:p>
          <a:p>
            <a:pPr marL="323215" marR="5080" indent="-287020">
              <a:spcBef>
                <a:spcPts val="490"/>
              </a:spcBef>
              <a:buFont typeface="Wingdings"/>
              <a:buChar char=""/>
              <a:tabLst>
                <a:tab pos="323215" algn="l"/>
              </a:tabLst>
            </a:pPr>
            <a:r>
              <a:rPr lang="en-IN" sz="1250" dirty="0">
                <a:latin typeface="Calibri"/>
                <a:cs typeface="Calibri"/>
              </a:rPr>
              <a:t>OEM Build Team Charges @ USD 550 per man-day (We do not foresee any changes to core product based on the initial requirement understanding) </a:t>
            </a:r>
          </a:p>
          <a:p>
            <a:pPr marL="323215" marR="5080" indent="-287020">
              <a:spcBef>
                <a:spcPts val="490"/>
              </a:spcBef>
              <a:buFont typeface="Wingdings"/>
              <a:buChar char=""/>
              <a:tabLst>
                <a:tab pos="323215" algn="l"/>
              </a:tabLst>
            </a:pPr>
            <a:r>
              <a:rPr sz="1250" dirty="0">
                <a:latin typeface="Calibri"/>
                <a:cs typeface="Calibri"/>
              </a:rPr>
              <a:t>The above costing is inclusive of </a:t>
            </a:r>
            <a:r>
              <a:rPr lang="en-IN" sz="1250" dirty="0">
                <a:latin typeface="Calibri"/>
                <a:cs typeface="Calibri"/>
              </a:rPr>
              <a:t>the professional fees and other expenses, considering the Ather implementation location at Bangalore</a:t>
            </a:r>
            <a:r>
              <a:rPr sz="1250" dirty="0">
                <a:latin typeface="Calibri"/>
                <a:cs typeface="Calibri"/>
              </a:rPr>
              <a:t>.</a:t>
            </a:r>
          </a:p>
          <a:p>
            <a:pPr marL="323215" marR="5080" indent="-287020">
              <a:lnSpc>
                <a:spcPct val="100000"/>
              </a:lnSpc>
              <a:spcBef>
                <a:spcPts val="490"/>
              </a:spcBef>
              <a:buFont typeface="Wingdings"/>
              <a:buChar char=""/>
              <a:tabLst>
                <a:tab pos="323215" algn="l"/>
              </a:tabLst>
            </a:pPr>
            <a:r>
              <a:rPr sz="1250" dirty="0">
                <a:latin typeface="Calibri"/>
                <a:cs typeface="Calibri"/>
              </a:rPr>
              <a:t>If</a:t>
            </a:r>
            <a:r>
              <a:rPr sz="1250" spc="-40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consultants</a:t>
            </a:r>
            <a:r>
              <a:rPr sz="1250" spc="-3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are</a:t>
            </a:r>
            <a:r>
              <a:rPr sz="1250" spc="-3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required</a:t>
            </a:r>
            <a:r>
              <a:rPr sz="1250" spc="-1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to</a:t>
            </a:r>
            <a:r>
              <a:rPr sz="1250" spc="-40" dirty="0">
                <a:latin typeface="Calibri"/>
                <a:cs typeface="Calibri"/>
              </a:rPr>
              <a:t> </a:t>
            </a:r>
            <a:r>
              <a:rPr lang="en-IN" sz="1250" spc="-40" dirty="0">
                <a:latin typeface="Calibri"/>
                <a:cs typeface="Calibri"/>
              </a:rPr>
              <a:t>travel to other Ather locations,</a:t>
            </a:r>
            <a:r>
              <a:rPr sz="1250" spc="-2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then</a:t>
            </a:r>
            <a:r>
              <a:rPr sz="1250" spc="-2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the</a:t>
            </a:r>
            <a:r>
              <a:rPr sz="1250" spc="-3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expenses</a:t>
            </a:r>
            <a:r>
              <a:rPr sz="1250" spc="-2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like</a:t>
            </a:r>
            <a:r>
              <a:rPr sz="1250" spc="-3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Flight,</a:t>
            </a:r>
            <a:r>
              <a:rPr sz="1250" spc="-40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local travel,</a:t>
            </a:r>
            <a:r>
              <a:rPr sz="1250" spc="-15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accommodation,</a:t>
            </a:r>
            <a:r>
              <a:rPr sz="1250" spc="-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and</a:t>
            </a:r>
            <a:r>
              <a:rPr sz="1250" spc="-1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other</a:t>
            </a:r>
            <a:r>
              <a:rPr sz="1250" spc="-20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expenses </a:t>
            </a:r>
            <a:r>
              <a:rPr sz="1250" dirty="0">
                <a:latin typeface="Calibri"/>
                <a:cs typeface="Calibri"/>
              </a:rPr>
              <a:t>will</a:t>
            </a:r>
            <a:r>
              <a:rPr sz="1250" spc="-1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be</a:t>
            </a:r>
            <a:r>
              <a:rPr sz="1250" spc="-1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additionally</a:t>
            </a:r>
            <a:r>
              <a:rPr sz="1250" spc="-2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charged</a:t>
            </a:r>
            <a:r>
              <a:rPr sz="1250" spc="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to</a:t>
            </a:r>
            <a:r>
              <a:rPr lang="en-IN" sz="1250" dirty="0">
                <a:latin typeface="Calibri"/>
                <a:cs typeface="Calibri"/>
              </a:rPr>
              <a:t> </a:t>
            </a:r>
            <a:r>
              <a:rPr lang="en-IN" sz="1250" spc="10" dirty="0">
                <a:latin typeface="Calibri"/>
                <a:cs typeface="Calibri"/>
              </a:rPr>
              <a:t>Ather </a:t>
            </a:r>
            <a:r>
              <a:rPr sz="1250" dirty="0">
                <a:latin typeface="Calibri"/>
                <a:cs typeface="Calibri"/>
              </a:rPr>
              <a:t>at</a:t>
            </a:r>
            <a:r>
              <a:rPr sz="1250" spc="-25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actuals.</a:t>
            </a:r>
            <a:endParaRPr lang="en-IN" sz="1250" spc="-10" dirty="0">
              <a:latin typeface="Calibri"/>
              <a:cs typeface="Calibri"/>
            </a:endParaRPr>
          </a:p>
          <a:p>
            <a:pPr marL="323215" marR="5080" indent="-287020">
              <a:spcBef>
                <a:spcPts val="490"/>
              </a:spcBef>
              <a:buFont typeface="Wingdings"/>
              <a:buChar char=""/>
              <a:tabLst>
                <a:tab pos="323215" algn="l"/>
              </a:tabLst>
            </a:pPr>
            <a:r>
              <a:rPr lang="en-US" sz="1250" b="1" dirty="0">
                <a:latin typeface="Calibri"/>
                <a:cs typeface="Calibri"/>
              </a:rPr>
              <a:t>Commercial proposal prices not valid beyond 30</a:t>
            </a:r>
            <a:r>
              <a:rPr lang="en-US" sz="1250" b="1" baseline="30000" dirty="0">
                <a:latin typeface="Calibri"/>
                <a:cs typeface="Calibri"/>
              </a:rPr>
              <a:t>th</a:t>
            </a:r>
            <a:r>
              <a:rPr lang="en-US" sz="1250" b="1" dirty="0">
                <a:latin typeface="Calibri"/>
                <a:cs typeface="Calibri"/>
              </a:rPr>
              <a:t> June 2025 </a:t>
            </a: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685800" y="875185"/>
          <a:ext cx="8640444" cy="27086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7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493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Implementation</a:t>
                      </a:r>
                      <a:r>
                        <a:rPr sz="1500" b="1" spc="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Services</a:t>
                      </a:r>
                      <a:endParaRPr sz="1500" dirty="0">
                        <a:latin typeface="Calibri"/>
                        <a:cs typeface="Calibri"/>
                      </a:endParaRPr>
                    </a:p>
                  </a:txBody>
                  <a:tcPr marL="0" marR="0" marT="128270" marB="0">
                    <a:lnB w="12700">
                      <a:solidFill>
                        <a:srgbClr val="BCD6ED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524510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Amount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28270" marB="0">
                    <a:lnB w="12700">
                      <a:solidFill>
                        <a:srgbClr val="BCD6ED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74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fr-FR" sz="1400" i="1" spc="-10" dirty="0">
                        <a:solidFill>
                          <a:schemeClr val="accent1"/>
                        </a:solidFill>
                        <a:latin typeface="+mn-lt"/>
                        <a:cs typeface="Calibri"/>
                      </a:endParaRPr>
                    </a:p>
                  </a:txBody>
                  <a:tcPr marL="0" marR="0" marT="34290" marB="0" anchor="ctr">
                    <a:lnT w="12700">
                      <a:solidFill>
                        <a:srgbClr val="BCD6ED"/>
                      </a:solidFill>
                      <a:prstDash val="solid"/>
                    </a:lnT>
                    <a:lnB w="12700">
                      <a:solidFill>
                        <a:srgbClr val="BCD6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T w="12700">
                      <a:solidFill>
                        <a:srgbClr val="BCD6ED"/>
                      </a:solidFill>
                      <a:prstDash val="solid"/>
                    </a:lnT>
                    <a:lnB w="12700">
                      <a:solidFill>
                        <a:srgbClr val="BCD6E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74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IN" sz="1400" b="0" i="1" u="none" spc="-10" dirty="0">
                        <a:solidFill>
                          <a:schemeClr val="accent1"/>
                        </a:solidFill>
                        <a:uFill>
                          <a:solidFill>
                            <a:srgbClr val="000000"/>
                          </a:solidFill>
                        </a:u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0" marR="0" marT="34290" marB="0">
                    <a:lnT w="12700" cap="flat" cmpd="sng" algn="ctr">
                      <a:solidFill>
                        <a:srgbClr val="BCD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BCD6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4510">
                        <a:lnSpc>
                          <a:spcPct val="100000"/>
                        </a:lnSpc>
                        <a:tabLst>
                          <a:tab pos="1022350" algn="l"/>
                        </a:tabLst>
                      </a:pP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rgbClr val="BCD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BCD6E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999556"/>
                  </a:ext>
                </a:extLst>
              </a:tr>
              <a:tr h="44421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Grand</a:t>
                      </a:r>
                      <a:r>
                        <a:rPr sz="1600" b="1" spc="-6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Total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120650" marB="0">
                    <a:lnT w="12700" cap="flat" cmpd="sng" algn="ctr">
                      <a:solidFill>
                        <a:srgbClr val="BCD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524510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lang="en-IN"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INR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120650" marB="0">
                    <a:lnT w="12700" cap="flat" cmpd="sng" algn="ctr">
                      <a:solidFill>
                        <a:srgbClr val="BCD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5B9B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0" name="object 10"/>
          <p:cNvGrpSpPr/>
          <p:nvPr/>
        </p:nvGrpSpPr>
        <p:grpSpPr>
          <a:xfrm>
            <a:off x="9257665" y="2463800"/>
            <a:ext cx="2934335" cy="4394200"/>
            <a:chOff x="9036684" y="1917915"/>
            <a:chExt cx="2934335" cy="4394200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36684" y="1917915"/>
              <a:ext cx="2933954" cy="439381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1147678" y="5488775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822959" h="822960">
                  <a:moveTo>
                    <a:pt x="822959" y="0"/>
                  </a:moveTo>
                  <a:lnTo>
                    <a:pt x="0" y="0"/>
                  </a:lnTo>
                  <a:lnTo>
                    <a:pt x="0" y="822959"/>
                  </a:lnTo>
                  <a:lnTo>
                    <a:pt x="822959" y="822959"/>
                  </a:lnTo>
                  <a:lnTo>
                    <a:pt x="822959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324970" y="5666041"/>
              <a:ext cx="468426" cy="468426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5F0FCC4D-FE6B-8819-6061-53CA58104CD4}"/>
              </a:ext>
            </a:extLst>
          </p:cNvPr>
          <p:cNvSpPr txBox="1"/>
          <p:nvPr/>
        </p:nvSpPr>
        <p:spPr>
          <a:xfrm>
            <a:off x="616957" y="187307"/>
            <a:ext cx="59575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Implementation Commercials</a:t>
            </a: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5618C-8159-080B-85C9-A6BF9A0D0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Closeup of a cup of coffee, a notebook and pen, and a smartphone on a white desk, indoors">
            <a:extLst>
              <a:ext uri="{FF2B5EF4-FFF2-40B4-BE49-F238E27FC236}">
                <a16:creationId xmlns:a16="http://schemas.microsoft.com/office/drawing/2014/main" id="{7377E9B5-C573-C0D7-F746-019349E441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558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16BDC8B-9D44-8810-19FF-D301754BD92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0226" y="215547"/>
            <a:ext cx="1158373" cy="431219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7CC912EC-CFA0-6C5F-8292-1C3ECE4A7091}"/>
              </a:ext>
            </a:extLst>
          </p:cNvPr>
          <p:cNvGrpSpPr/>
          <p:nvPr/>
        </p:nvGrpSpPr>
        <p:grpSpPr>
          <a:xfrm>
            <a:off x="839247" y="977257"/>
            <a:ext cx="10513506" cy="2337444"/>
            <a:chOff x="3788229" y="1084121"/>
            <a:chExt cx="6320413" cy="3819475"/>
          </a:xfrm>
          <a:solidFill>
            <a:srgbClr val="5B9BD4"/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E0F9E1F-5471-4936-BCA0-5610DA2B191E}"/>
                </a:ext>
              </a:extLst>
            </p:cNvPr>
            <p:cNvSpPr/>
            <p:nvPr/>
          </p:nvSpPr>
          <p:spPr>
            <a:xfrm>
              <a:off x="3788229" y="1084121"/>
              <a:ext cx="6320413" cy="381947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9584411-A25F-14E7-AA01-E582A0564281}"/>
                </a:ext>
              </a:extLst>
            </p:cNvPr>
            <p:cNvSpPr txBox="1"/>
            <p:nvPr/>
          </p:nvSpPr>
          <p:spPr>
            <a:xfrm>
              <a:off x="4777725" y="1624271"/>
              <a:ext cx="4341421" cy="203682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500" b="1" dirty="0">
                  <a:solidFill>
                    <a:schemeClr val="bg1"/>
                  </a:solidFill>
                </a:rPr>
                <a:t>Thank You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836B6C0-7300-A3C0-6B9C-8F005796D887}"/>
              </a:ext>
            </a:extLst>
          </p:cNvPr>
          <p:cNvSpPr txBox="1"/>
          <p:nvPr/>
        </p:nvSpPr>
        <p:spPr>
          <a:xfrm>
            <a:off x="3579070" y="2592102"/>
            <a:ext cx="5033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For your valuable time and attention !!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C47F89-A3AA-D872-77FF-671F0FC94D0B}"/>
              </a:ext>
            </a:extLst>
          </p:cNvPr>
          <p:cNvSpPr txBox="1"/>
          <p:nvPr/>
        </p:nvSpPr>
        <p:spPr>
          <a:xfrm>
            <a:off x="4539735" y="6019944"/>
            <a:ext cx="3112530" cy="402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500" b="1" dirty="0">
                <a:solidFill>
                  <a:srgbClr val="5B9BD4"/>
                </a:solidFill>
              </a:rPr>
              <a:t>www.durvah.com</a:t>
            </a:r>
          </a:p>
        </p:txBody>
      </p:sp>
    </p:spTree>
    <p:extLst>
      <p:ext uri="{BB962C8B-B14F-4D97-AF65-F5344CB8AC3E}">
        <p14:creationId xmlns:p14="http://schemas.microsoft.com/office/powerpoint/2010/main" val="767135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868</Words>
  <Application>Microsoft Office PowerPoint</Application>
  <PresentationFormat>Widescreen</PresentationFormat>
  <Paragraphs>142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Calibri</vt:lpstr>
      <vt:lpstr>Calibri Light</vt:lpstr>
      <vt:lpstr>MV Boli</vt:lpstr>
      <vt:lpstr>Segoe UI 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Srinivas</dc:creator>
  <cp:lastModifiedBy>Srinivas</cp:lastModifiedBy>
  <cp:revision>1</cp:revision>
  <dcterms:created xsi:type="dcterms:W3CDTF">2026-07-23T08:31:31Z</dcterms:created>
  <dcterms:modified xsi:type="dcterms:W3CDTF">2026-07-23T10:07:10Z</dcterms:modified>
</cp:coreProperties>
</file>