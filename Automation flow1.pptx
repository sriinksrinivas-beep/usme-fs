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F6B6-6458-459D-8499-D3AA4ED32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6BDA2-E55C-449C-4236-EB98F60D8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F2875-C1D8-3ECE-F27D-6144F80E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E14D-FFC6-5B1F-424D-F06FA09F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C4F0A-0C29-35AF-5BA5-DB93FA8C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40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7B9F-79CB-49E1-E81D-686BBC8A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D0598-561C-A4F0-17EC-348BF0053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3720-AC7D-3B14-69E4-AAC0181A6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40698-3A6A-826D-E796-51B08419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B6A30-6969-722B-8F20-B6DA37F2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80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67B0-7D92-F7F5-BB9C-1522B60D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21E90-83DE-0340-137B-7FFD62F99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A08D0-5FC5-3DC6-DF94-C601CDCA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20CC-5E4F-7B43-EEFB-729332BC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E50B2-792C-294B-9FF6-9EFF280A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5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5B24-1072-C649-1431-DEB1B393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A6ED-8F60-5F4C-7632-693855870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0198F-D3EA-BB21-BCDC-929E97AAE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75321-5819-2A5B-4AE7-3BB95EC9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61034-CEB8-9B49-3932-F9DFD694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0F41C-B670-10B6-A62B-6AB8F4421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66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22E0-E414-3151-DD6B-B48AC936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3D69-EA11-716B-5EFE-26BE4F0F1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33AB1-549E-867D-101B-017E3FB53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4915D-F068-8945-7EB8-219B64AF7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69742-2B17-FF3B-CC93-2955CD465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83CFA-9B6E-C279-3FF2-2C0865CD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53B62-3182-6216-3E42-E3608BEE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619CEF-434A-FB1C-326F-79B9171D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73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EB0B-1BB2-AA9A-0BF0-A825AFCF4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62D53-2128-4719-F275-BA7BBFDE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C0C3D-982B-72A8-FADD-65B0FB93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1816D-C6D1-7698-99F9-7D939B30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54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061D8-7C2D-A613-BA5D-57615189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31040-0C68-35B7-779C-84D143B0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D7964-AD2C-CB54-17CA-9E1B6F2E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24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CEBC-72B1-87A8-8602-8AD9A05C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4922-81F3-D423-CFE5-055A070C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E3C11-04B0-3CDD-D4CA-DAD33D3CC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EE10D-59D0-9062-7F35-E8DCD89B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1142D-94B6-8394-5ED5-BAE56D0E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2300-7F16-90BE-A43B-9C6FD28A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47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2F08-BB5F-B69A-4224-DACE1FA4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8C35A-50F1-044C-62C1-97891F2DEDE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63767-02ED-9D63-9120-B9CC46E60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E0F54-5227-7F8F-0C61-0E06B27B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33D5B-AB9B-4016-6E4F-DD272B01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C40F7-39DF-696C-FFBE-52685E86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220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2D72-8939-4C4F-9E52-CEE5B095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B189A-A719-C153-399E-78B8C029B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3838D-CA29-AB0E-7ACB-88969F6EC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C40A-A5FE-E676-F632-3C169F48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B7997-AAAE-CF9C-496E-0891F589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78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9AF47-9E0C-89EF-0AEB-C066E4F47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B2421-4124-9011-CEB0-F6B5E46EA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9A943-F256-25B2-146C-C541947D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7BAB-E919-DFB4-B0C9-1AEB0953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4C1CB-18AD-C4DC-861D-5561C424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55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F16B0-5680-1434-151C-779A7208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1A4FC-3A9D-8686-E688-4D6F093D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2C95-5705-0940-68FF-DCDFFA709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6F007-8924-4D96-8E13-88C93413783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6A32-3CEB-EEA3-D6F7-C8BD7CAD9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59D5-6778-5758-7EEC-1B2200544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CE710-DA5B-4DED-A011-41816D8C2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4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2794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0B3A5B"/>
                </a:solidFill>
              </a:rPr>
              <a:t>Target: every channel lands on one Workato intake, then one Salesforce Intake</a:t>
            </a:r>
          </a:p>
        </p:txBody>
      </p:sp>
      <p:sp>
        <p:nvSpPr>
          <p:cNvPr id="11" name="Channels label"/>
          <p:cNvSpPr txBox="1"/>
          <p:nvPr/>
        </p:nvSpPr>
        <p:spPr>
          <a:xfrm>
            <a:off x="457200" y="8382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l"/>
            <a:r>
              <a:rPr lang="en-US" sz="1200" b="1" dirty="0">
                <a:solidFill>
                  <a:srgbClr val="5F6B78"/>
                </a:solidFill>
              </a:rPr>
              <a:t>Channels</a:t>
            </a:r>
          </a:p>
        </p:txBody>
      </p:sp>
      <p:sp>
        <p:nvSpPr>
          <p:cNvPr id="12" name="Workato container"/>
          <p:cNvSpPr/>
          <p:nvPr/>
        </p:nvSpPr>
        <p:spPr>
          <a:xfrm>
            <a:off x="2997200" y="1066800"/>
            <a:ext cx="3251200" cy="5130800"/>
          </a:xfrm>
          <a:prstGeom prst="roundRect">
            <a:avLst>
              <a:gd name="adj" fmla="val 3000"/>
            </a:avLst>
          </a:prstGeom>
          <a:solidFill>
            <a:srgbClr val="F3F7FA"/>
          </a:solidFill>
          <a:ln w="25400">
            <a:solidFill>
              <a:srgbClr val="1F4E6B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Workato label"/>
          <p:cNvSpPr txBox="1"/>
          <p:nvPr/>
        </p:nvSpPr>
        <p:spPr>
          <a:xfrm>
            <a:off x="2997200" y="1143000"/>
            <a:ext cx="325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B3A5B"/>
                </a:solidFill>
              </a:rPr>
              <a:t>WORKATO</a:t>
            </a:r>
          </a:p>
        </p:txBody>
      </p:sp>
      <p:sp>
        <p:nvSpPr>
          <p:cNvPr id="14" name="DaVita PO"/>
          <p:cNvSpPr/>
          <p:nvPr/>
        </p:nvSpPr>
        <p:spPr>
          <a:xfrm>
            <a:off x="457200" y="1168400"/>
            <a:ext cx="2159000" cy="812800"/>
          </a:xfrm>
          <a:prstGeom prst="roundRect">
            <a:avLst>
              <a:gd name="adj" fmla="val 8000"/>
            </a:avLst>
          </a:prstGeom>
          <a:solidFill>
            <a:srgbClr val="E3F2E6"/>
          </a:solidFill>
          <a:ln w="15875">
            <a:solidFill>
              <a:srgbClr val="3A8F5C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DaVita PO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email + PDF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(Workato, phase 1)</a:t>
            </a:r>
          </a:p>
        </p:txBody>
      </p:sp>
      <p:sp>
        <p:nvSpPr>
          <p:cNvPr id="15" name="SFTP files"/>
          <p:cNvSpPr/>
          <p:nvPr/>
        </p:nvSpPr>
        <p:spPr>
          <a:xfrm>
            <a:off x="457200" y="2108200"/>
            <a:ext cx="2159000" cy="812800"/>
          </a:xfrm>
          <a:prstGeom prst="roundRect">
            <a:avLst>
              <a:gd name="adj" fmla="val 8000"/>
            </a:avLst>
          </a:prstGeom>
          <a:solidFill>
            <a:srgbClr val="E3F2E6"/>
          </a:solidFill>
          <a:ln w="15875">
            <a:solidFill>
              <a:srgbClr val="3A8F5C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SFTP files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(Workato, phase 2)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PHI</a:t>
            </a:r>
          </a:p>
        </p:txBody>
      </p:sp>
      <p:sp>
        <p:nvSpPr>
          <p:cNvPr id="16" name="EDI"/>
          <p:cNvSpPr/>
          <p:nvPr/>
        </p:nvSpPr>
        <p:spPr>
          <a:xfrm>
            <a:off x="457200" y="3048000"/>
            <a:ext cx="2159000" cy="812800"/>
          </a:xfrm>
          <a:prstGeom prst="roundRect">
            <a:avLst>
              <a:gd name="adj" fmla="val 8000"/>
            </a:avLst>
          </a:prstGeom>
          <a:solidFill>
            <a:srgbClr val="E3F2E6"/>
          </a:solidFill>
          <a:ln w="15875">
            <a:solidFill>
              <a:srgbClr val="3A8F5C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EDI 850 / 180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no-fill 850; out 810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(Workato, phase 3)</a:t>
            </a:r>
          </a:p>
        </p:txBody>
      </p:sp>
      <p:sp>
        <p:nvSpPr>
          <p:cNvPr id="17" name="Power Automate"/>
          <p:cNvSpPr/>
          <p:nvPr/>
        </p:nvSpPr>
        <p:spPr>
          <a:xfrm>
            <a:off x="457200" y="4089400"/>
            <a:ext cx="2159000" cy="13208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5875">
            <a:solidFill>
              <a:srgbClr val="D4A72C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Stay in Power Automate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email body, fax (OCR/AI),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RPA, secure email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call the Workato endpoint</a:t>
            </a:r>
          </a:p>
        </p:txBody>
      </p:sp>
      <p:sp>
        <p:nvSpPr>
          <p:cNvPr id="18" name="Channel adapters"/>
          <p:cNvSpPr/>
          <p:nvPr/>
        </p:nvSpPr>
        <p:spPr>
          <a:xfrm>
            <a:off x="3200400" y="1898650"/>
            <a:ext cx="2844800" cy="971550"/>
          </a:xfrm>
          <a:prstGeom prst="roundRect">
            <a:avLst>
              <a:gd name="adj" fmla="val 8000"/>
            </a:avLst>
          </a:prstGeom>
          <a:solidFill>
            <a:srgbClr val="E6EFF6"/>
          </a:solidFill>
          <a:ln w="15875">
            <a:solidFill>
              <a:srgbClr val="2E7A9E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Channel adapters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email, SFTP, EDI</a:t>
            </a:r>
          </a:p>
        </p:txBody>
      </p:sp>
      <p:sp>
        <p:nvSpPr>
          <p:cNvPr id="20" name="Extract"/>
          <p:cNvSpPr/>
          <p:nvPr/>
        </p:nvSpPr>
        <p:spPr>
          <a:xfrm>
            <a:off x="3200400" y="3352800"/>
            <a:ext cx="2844800" cy="660400"/>
          </a:xfrm>
          <a:prstGeom prst="roundRect">
            <a:avLst>
              <a:gd name="adj" fmla="val 8000"/>
            </a:avLst>
          </a:prstGeom>
          <a:solidFill>
            <a:srgbClr val="E6EFF6"/>
          </a:solidFill>
          <a:ln w="15875">
            <a:solidFill>
              <a:srgbClr val="2E7A9E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Extract and canonicalize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PDF text layer, JSON</a:t>
            </a:r>
          </a:p>
        </p:txBody>
      </p:sp>
      <p:sp>
        <p:nvSpPr>
          <p:cNvPr id="21" name="Intake endpoint"/>
          <p:cNvSpPr/>
          <p:nvPr/>
        </p:nvSpPr>
        <p:spPr>
          <a:xfrm>
            <a:off x="3200400" y="4267200"/>
            <a:ext cx="2844800" cy="711200"/>
          </a:xfrm>
          <a:prstGeom prst="roundRect">
            <a:avLst>
              <a:gd name="adj" fmla="val 8000"/>
            </a:avLst>
          </a:prstGeom>
          <a:solidFill>
            <a:srgbClr val="0B3A5B"/>
          </a:solidFill>
          <a:ln w="15875">
            <a:solidFill>
              <a:srgbClr val="0B3A5B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Standard intake endpoint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(POST, one JSON contract)</a:t>
            </a:r>
          </a:p>
        </p:txBody>
      </p:sp>
      <p:sp>
        <p:nvSpPr>
          <p:cNvPr id="22" name="Workato footer"/>
          <p:cNvSpPr txBox="1"/>
          <p:nvPr/>
        </p:nvSpPr>
        <p:spPr>
          <a:xfrm>
            <a:off x="3098800" y="5689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100" i="1" dirty="0">
                <a:solidFill>
                  <a:srgbClr val="5F6B78"/>
                </a:solidFill>
              </a:rPr>
              <a:t>error handler and monitor on every recipe</a:t>
            </a:r>
          </a:p>
        </p:txBody>
      </p:sp>
      <p:sp>
        <p:nvSpPr>
          <p:cNvPr id="23" name="Salesforce Order Intake"/>
          <p:cNvSpPr/>
          <p:nvPr/>
        </p:nvSpPr>
        <p:spPr>
          <a:xfrm>
            <a:off x="6654800" y="1320800"/>
            <a:ext cx="2286000" cy="1905000"/>
          </a:xfrm>
          <a:prstGeom prst="roundRect">
            <a:avLst>
              <a:gd name="adj" fmla="val 8000"/>
            </a:avLst>
          </a:prstGeom>
          <a:solidFill>
            <a:srgbClr val="E6EFF6"/>
          </a:solidFill>
          <a:ln w="15875">
            <a:solidFill>
              <a:srgbClr val="2E7A9E"/>
            </a:solidFill>
          </a:ln>
        </p:spPr>
        <p:txBody>
          <a:bodyPr wrap="square" lIns="152400" tIns="50800" rIns="152400" bIns="508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2A36"/>
                </a:solidFill>
              </a:rPr>
              <a:t>Salesforce Order Intake upsert by source ID; resolve account, item, duplicates</a:t>
            </a:r>
          </a:p>
        </p:txBody>
      </p:sp>
      <p:sp>
        <p:nvSpPr>
          <p:cNvPr id="24" name="Ascent Rental"/>
          <p:cNvSpPr/>
          <p:nvPr/>
        </p:nvSpPr>
        <p:spPr>
          <a:xfrm>
            <a:off x="9448800" y="1320800"/>
            <a:ext cx="2286000" cy="1905000"/>
          </a:xfrm>
          <a:prstGeom prst="roundRect">
            <a:avLst>
              <a:gd name="adj" fmla="val 8000"/>
            </a:avLst>
          </a:prstGeom>
          <a:solidFill>
            <a:srgbClr val="E6EFF6"/>
          </a:solidFill>
          <a:ln w="15875">
            <a:solidFill>
              <a:srgbClr val="2E7A9E"/>
            </a:solidFill>
          </a:ln>
        </p:spPr>
        <p:txBody>
          <a:bodyPr wrap="square" lIns="152400" tIns="50800" rIns="152400" bIns="508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2A36"/>
                </a:solidFill>
              </a:rPr>
              <a:t>Ascent Rental sales order: rental, sale, pickup (or update on no-fill)</a:t>
            </a:r>
          </a:p>
        </p:txBody>
      </p:sp>
      <p:sp>
        <p:nvSpPr>
          <p:cNvPr id="25" name="CS mailbox"/>
          <p:cNvSpPr/>
          <p:nvPr/>
        </p:nvSpPr>
        <p:spPr>
          <a:xfrm>
            <a:off x="6654800" y="3683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CEAE8"/>
          </a:solidFill>
          <a:ln w="15875">
            <a:solidFill>
              <a:srgbClr val="C0462F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Customer service mailbox: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email with order detail when an order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cannot be created (manual entry).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Salesforce exception queue for replay.</a:t>
            </a:r>
          </a:p>
        </p:txBody>
      </p:sp>
      <p:sp>
        <p:nvSpPr>
          <p:cNvPr id="26" name="EDI out"/>
          <p:cNvSpPr/>
          <p:nvPr/>
        </p:nvSpPr>
        <p:spPr>
          <a:xfrm>
            <a:off x="6654800" y="5334000"/>
            <a:ext cx="5080000" cy="6858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5875">
            <a:solidFill>
              <a:srgbClr val="D4A72C"/>
            </a:solidFill>
          </a:ln>
        </p:spPr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1F2A36"/>
                </a:solidFill>
              </a:rPr>
              <a:t>Out: EDI 810 invoice (GT approved billing),</a:t>
            </a:r>
          </a:p>
          <a:p>
            <a:pPr algn="ctr"/>
            <a:r>
              <a:rPr lang="en-US" sz="1200" dirty="0">
                <a:solidFill>
                  <a:srgbClr val="1F2A36"/>
                </a:solidFill>
              </a:rPr>
              <a:t>855 if confirmed, acknowledgments</a:t>
            </a:r>
          </a:p>
        </p:txBody>
      </p:sp>
      <p:cxnSp>
        <p:nvCxnSpPr>
          <p:cNvPr id="27" name="Arrow 27"/>
          <p:cNvCxnSpPr>
            <a:cxnSpLocks/>
            <a:stCxn id="14" idx="3"/>
          </p:cNvCxnSpPr>
          <p:nvPr/>
        </p:nvCxnSpPr>
        <p:spPr>
          <a:xfrm>
            <a:off x="2616200" y="1574800"/>
            <a:ext cx="571500" cy="58420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28" name="Arrow 28"/>
          <p:cNvCxnSpPr>
            <a:cxnSpLocks/>
            <a:stCxn id="15" idx="3"/>
          </p:cNvCxnSpPr>
          <p:nvPr/>
        </p:nvCxnSpPr>
        <p:spPr>
          <a:xfrm flipV="1">
            <a:off x="2616200" y="2311400"/>
            <a:ext cx="584200" cy="20320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29" name="Arrow 29"/>
          <p:cNvCxnSpPr>
            <a:cxnSpLocks/>
            <a:stCxn id="16" idx="3"/>
          </p:cNvCxnSpPr>
          <p:nvPr/>
        </p:nvCxnSpPr>
        <p:spPr>
          <a:xfrm flipV="1">
            <a:off x="2616200" y="2546350"/>
            <a:ext cx="571500" cy="90805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30" name="Arrow 30"/>
          <p:cNvCxnSpPr>
            <a:stCxn id="17" idx="3"/>
            <a:endCxn id="21" idx="1"/>
          </p:cNvCxnSpPr>
          <p:nvPr/>
        </p:nvCxnSpPr>
        <p:spPr>
          <a:xfrm flipV="1">
            <a:off x="2616200" y="4622800"/>
            <a:ext cx="584200" cy="127000"/>
          </a:xfrm>
          <a:prstGeom prst="straightConnector1">
            <a:avLst/>
          </a:prstGeom>
          <a:ln w="15875">
            <a:solidFill>
              <a:srgbClr val="D4A72C"/>
            </a:solidFill>
            <a:prstDash val="dash"/>
            <a:tailEnd type="triangle" w="med" len="med"/>
          </a:ln>
        </p:spPr>
      </p:cxnSp>
      <p:cxnSp>
        <p:nvCxnSpPr>
          <p:cNvPr id="32" name="Arrow 32"/>
          <p:cNvCxnSpPr>
            <a:cxnSpLocks/>
            <a:stCxn id="18" idx="2"/>
            <a:endCxn id="20" idx="0"/>
          </p:cNvCxnSpPr>
          <p:nvPr/>
        </p:nvCxnSpPr>
        <p:spPr>
          <a:xfrm>
            <a:off x="4622800" y="2870200"/>
            <a:ext cx="0" cy="48260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33" name="Arrow 33"/>
          <p:cNvCxnSpPr>
            <a:stCxn id="20" idx="2"/>
            <a:endCxn id="21" idx="0"/>
          </p:cNvCxnSpPr>
          <p:nvPr/>
        </p:nvCxnSpPr>
        <p:spPr>
          <a:xfrm>
            <a:off x="4622800" y="4013200"/>
            <a:ext cx="0" cy="25400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34" name="Arrow 34"/>
          <p:cNvCxnSpPr>
            <a:stCxn id="21" idx="3"/>
            <a:endCxn id="23" idx="1"/>
          </p:cNvCxnSpPr>
          <p:nvPr/>
        </p:nvCxnSpPr>
        <p:spPr>
          <a:xfrm flipV="1">
            <a:off x="6045200" y="2273300"/>
            <a:ext cx="609600" cy="234950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35" name="Arrow 35"/>
          <p:cNvCxnSpPr>
            <a:stCxn id="23" idx="3"/>
            <a:endCxn id="24" idx="1"/>
          </p:cNvCxnSpPr>
          <p:nvPr/>
        </p:nvCxnSpPr>
        <p:spPr>
          <a:xfrm>
            <a:off x="8940800" y="2273300"/>
            <a:ext cx="508000" cy="0"/>
          </a:xfrm>
          <a:prstGeom prst="straightConnector1">
            <a:avLst/>
          </a:prstGeom>
          <a:ln w="15875">
            <a:solidFill>
              <a:srgbClr val="6B7B8C"/>
            </a:solidFill>
            <a:tailEnd type="triangle" w="med" len="med"/>
          </a:ln>
        </p:spPr>
      </p:cxnSp>
      <p:cxnSp>
        <p:nvCxnSpPr>
          <p:cNvPr id="36" name="Arrow 36"/>
          <p:cNvCxnSpPr>
            <a:stCxn id="23" idx="2"/>
          </p:cNvCxnSpPr>
          <p:nvPr/>
        </p:nvCxnSpPr>
        <p:spPr>
          <a:xfrm>
            <a:off x="7797800" y="3225800"/>
            <a:ext cx="0" cy="457200"/>
          </a:xfrm>
          <a:prstGeom prst="straightConnector1">
            <a:avLst/>
          </a:prstGeom>
          <a:ln w="15875">
            <a:solidFill>
              <a:srgbClr val="C0462F"/>
            </a:solidFill>
            <a:prstDash val="dash"/>
            <a:tailEnd type="triangle" w="med" len="med"/>
          </a:ln>
        </p:spPr>
      </p:cxnSp>
      <p:cxnSp>
        <p:nvCxnSpPr>
          <p:cNvPr id="37" name="Arrow 37"/>
          <p:cNvCxnSpPr>
            <a:endCxn id="25" idx="1"/>
          </p:cNvCxnSpPr>
          <p:nvPr/>
        </p:nvCxnSpPr>
        <p:spPr>
          <a:xfrm>
            <a:off x="6248400" y="4318000"/>
            <a:ext cx="406400" cy="0"/>
          </a:xfrm>
          <a:prstGeom prst="straightConnector1">
            <a:avLst/>
          </a:prstGeom>
          <a:ln w="15875">
            <a:solidFill>
              <a:srgbClr val="C0462F"/>
            </a:solidFill>
            <a:prstDash val="dash"/>
            <a:tailEnd type="triangle" w="med" len="med"/>
          </a:ln>
        </p:spPr>
      </p:cxnSp>
      <p:cxnSp>
        <p:nvCxnSpPr>
          <p:cNvPr id="38" name="Arrow 38"/>
          <p:cNvCxnSpPr>
            <a:endCxn id="26" idx="1"/>
          </p:cNvCxnSpPr>
          <p:nvPr/>
        </p:nvCxnSpPr>
        <p:spPr>
          <a:xfrm>
            <a:off x="6248400" y="5676900"/>
            <a:ext cx="406400" cy="0"/>
          </a:xfrm>
          <a:prstGeom prst="straightConnector1">
            <a:avLst/>
          </a:prstGeom>
          <a:ln w="15875">
            <a:solidFill>
              <a:srgbClr val="D4A72C"/>
            </a:solidFill>
            <a:prstDash val="dash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9801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A96F99-59D3-449A-92B0-77D72CD11F7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cffd66d-2832-45e0-8dae-822c3c0489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173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</dc:creator>
  <cp:lastModifiedBy>Srinivas</cp:lastModifiedBy>
  <cp:revision>1</cp:revision>
  <dcterms:created xsi:type="dcterms:W3CDTF">2026-10-28T16:46:22Z</dcterms:created>
  <dcterms:modified xsi:type="dcterms:W3CDTF">2026-10-29T06:57:00Z</dcterms:modified>
</cp:coreProperties>
</file>