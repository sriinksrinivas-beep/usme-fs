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639F06-7BB5-4F27-9D87-D5A17088DF62}" v="1" dt="2026-10-25T13:26:29.1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nivas" userId="0dfdf577-abd2-4267-93fe-1b178774e272" providerId="ADAL" clId="{26E41FBD-A856-477A-B280-770F18103933}"/>
    <pc:docChg chg="undo custSel modSld">
      <pc:chgData name="Srinivas" userId="0dfdf577-abd2-4267-93fe-1b178774e272" providerId="ADAL" clId="{26E41FBD-A856-477A-B280-770F18103933}" dt="2026-10-26T02:42:54.759" v="268" actId="20577"/>
      <pc:docMkLst>
        <pc:docMk/>
      </pc:docMkLst>
      <pc:sldChg chg="modSp mod">
        <pc:chgData name="Srinivas" userId="0dfdf577-abd2-4267-93fe-1b178774e272" providerId="ADAL" clId="{26E41FBD-A856-477A-B280-770F18103933}" dt="2026-10-25T13:29:08.821" v="194" actId="20577"/>
        <pc:sldMkLst>
          <pc:docMk/>
          <pc:sldMk cId="0" sldId="256"/>
        </pc:sldMkLst>
        <pc:spChg chg="mod">
          <ac:chgData name="Srinivas" userId="0dfdf577-abd2-4267-93fe-1b178774e272" providerId="ADAL" clId="{26E41FBD-A856-477A-B280-770F18103933}" dt="2026-10-25T13:28:46.340" v="153" actId="6549"/>
          <ac:spMkLst>
            <pc:docMk/>
            <pc:sldMk cId="0" sldId="256"/>
            <ac:spMk id="26" creationId="{00000000-0000-0000-0000-000000000000}"/>
          </ac:spMkLst>
        </pc:spChg>
        <pc:spChg chg="mod">
          <ac:chgData name="Srinivas" userId="0dfdf577-abd2-4267-93fe-1b178774e272" providerId="ADAL" clId="{26E41FBD-A856-477A-B280-770F18103933}" dt="2026-10-25T13:29:08.821" v="194" actId="20577"/>
          <ac:spMkLst>
            <pc:docMk/>
            <pc:sldMk cId="0" sldId="256"/>
            <ac:spMk id="28" creationId="{00000000-0000-0000-0000-000000000000}"/>
          </ac:spMkLst>
        </pc:spChg>
      </pc:sldChg>
      <pc:sldChg chg="delSp modSp mod">
        <pc:chgData name="Srinivas" userId="0dfdf577-abd2-4267-93fe-1b178774e272" providerId="ADAL" clId="{26E41FBD-A856-477A-B280-770F18103933}" dt="2026-10-26T02:42:54.759" v="268" actId="20577"/>
        <pc:sldMkLst>
          <pc:docMk/>
          <pc:sldMk cId="0" sldId="258"/>
        </pc:sldMkLst>
        <pc:spChg chg="mod">
          <ac:chgData name="Srinivas" userId="0dfdf577-abd2-4267-93fe-1b178774e272" providerId="ADAL" clId="{26E41FBD-A856-477A-B280-770F18103933}" dt="2026-10-26T02:42:54.759" v="268" actId="20577"/>
          <ac:spMkLst>
            <pc:docMk/>
            <pc:sldMk cId="0" sldId="258"/>
            <ac:spMk id="18" creationId="{00000000-0000-0000-0000-000000000000}"/>
          </ac:spMkLst>
        </pc:spChg>
        <pc:spChg chg="mod">
          <ac:chgData name="Srinivas" userId="0dfdf577-abd2-4267-93fe-1b178774e272" providerId="ADAL" clId="{26E41FBD-A856-477A-B280-770F18103933}" dt="2026-10-25T13:27:15.735" v="149" actId="2057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Srinivas" userId="0dfdf577-abd2-4267-93fe-1b178774e272" providerId="ADAL" clId="{26E41FBD-A856-477A-B280-770F18103933}" dt="2026-10-25T13:27:33.575" v="152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Srinivas" userId="0dfdf577-abd2-4267-93fe-1b178774e272" providerId="ADAL" clId="{26E41FBD-A856-477A-B280-770F18103933}" dt="2026-10-25T13:27:33.575" v="152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Srinivas" userId="0dfdf577-abd2-4267-93fe-1b178774e272" providerId="ADAL" clId="{26E41FBD-A856-477A-B280-770F18103933}" dt="2026-10-25T13:27:33.575" v="152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Srinivas" userId="0dfdf577-abd2-4267-93fe-1b178774e272" providerId="ADAL" clId="{26E41FBD-A856-477A-B280-770F18103933}" dt="2026-10-25T13:27:33.575" v="152" actId="1076"/>
          <ac:spMkLst>
            <pc:docMk/>
            <pc:sldMk cId="0" sldId="258"/>
            <ac:spMk id="24" creationId="{00000000-0000-0000-0000-000000000000}"/>
          </ac:spMkLst>
        </pc:spChg>
        <pc:spChg chg="del">
          <ac:chgData name="Srinivas" userId="0dfdf577-abd2-4267-93fe-1b178774e272" providerId="ADAL" clId="{26E41FBD-A856-477A-B280-770F18103933}" dt="2026-10-25T13:25:19.089" v="0" actId="478"/>
          <ac:spMkLst>
            <pc:docMk/>
            <pc:sldMk cId="0" sldId="258"/>
            <ac:spMk id="25" creationId="{00000000-0000-0000-0000-000000000000}"/>
          </ac:spMkLst>
        </pc:spChg>
        <pc:spChg chg="del">
          <ac:chgData name="Srinivas" userId="0dfdf577-abd2-4267-93fe-1b178774e272" providerId="ADAL" clId="{26E41FBD-A856-477A-B280-770F18103933}" dt="2026-10-25T13:25:22.320" v="1" actId="478"/>
          <ac:spMkLst>
            <pc:docMk/>
            <pc:sldMk cId="0" sldId="258"/>
            <ac:spMk id="2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2615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Experience Centre: Data Model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becomes an Intake in Salesforce; the order records in Ascent are created from it when the branch completes the work.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840480" cy="3749040"/>
          </a:xfrm>
          <a:prstGeom prst="roundRect">
            <a:avLst>
              <a:gd name="adj" fmla="val 292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0" y="960120"/>
            <a:ext cx="3657600" cy="3749040"/>
          </a:xfrm>
          <a:prstGeom prst="roundRect">
            <a:avLst>
              <a:gd name="adj" fmla="val 3000"/>
            </a:avLst>
          </a:prstGeom>
          <a:solidFill>
            <a:srgbClr val="FBF0DB"/>
          </a:solidFill>
          <a:ln w="12700">
            <a:solidFill>
              <a:srgbClr val="FBF0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0058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 (CEC intake)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257800" y="1005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98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ASCENT RENTAL  (orders)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2801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/ Rental / RMA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536192"/>
            <a:ext cx="3566160" cy="566928"/>
          </a:xfrm>
          <a:prstGeom prst="roundRect">
            <a:avLst>
              <a:gd name="adj" fmla="val 12903"/>
            </a:avLst>
          </a:prstGeom>
          <a:solidFill>
            <a:srgbClr val="14283D"/>
          </a:solidFill>
          <a:ln w="12700">
            <a:solidFill>
              <a:srgbClr val="1428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563624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Header  (usme_Intake__c)</a:t>
            </a:r>
            <a:endParaRPr lang="en-US" sz="1100" dirty="0"/>
          </a:p>
          <a:p>
            <a:pPr marL="0" indent="0">
              <a:buNone/>
            </a:pPr>
            <a:r>
              <a:rPr lang="en-US" sz="85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Caller, account, address, equipment type MME or BTS, PO, branch, CSR, status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340864"/>
            <a:ext cx="3566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36829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Lines  (usme_Intake_Item__c)</a:t>
            </a:r>
            <a:endParaRPr lang="en-US" sz="1100" dirty="0"/>
          </a:p>
          <a:p>
            <a:pPr marL="0" indent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software, quantity, ordered / fulfilled / delivered, billing start, item status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0" y="2103120"/>
            <a:ext cx="0" cy="237744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377440" y="21122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many, master-detail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069080" y="1819656"/>
            <a:ext cx="1188720" cy="0"/>
          </a:xfrm>
          <a:prstGeom prst="line">
            <a:avLst/>
          </a:prstGeom>
          <a:noFill/>
          <a:ln w="19050">
            <a:solidFill>
              <a:srgbClr val="D98E1F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4114800" y="13533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8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delivery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D98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069080" y="2624328"/>
            <a:ext cx="1188720" cy="0"/>
          </a:xfrm>
          <a:prstGeom prst="line">
            <a:avLst/>
          </a:prstGeom>
          <a:noFill/>
          <a:ln w="19050">
            <a:solidFill>
              <a:srgbClr val="D98E1F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4114800" y="24048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8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257800" y="1536192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49240" y="156362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Ascent Sales Order</a:t>
            </a:r>
            <a:endParaRPr lang="en-US" sz="1100" dirty="0"/>
          </a:p>
          <a:p>
            <a:pPr marL="0" indent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header, customer, branch, PO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57800" y="2340864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49240" y="236829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Ascent Sales Order Line</a:t>
            </a:r>
            <a:endParaRPr lang="en-US" sz="1100" dirty="0"/>
          </a:p>
          <a:p>
            <a:pPr marL="0" indent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item and accessory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49440" y="2103120"/>
            <a:ext cx="0" cy="237744"/>
          </a:xfrm>
          <a:prstGeom prst="line">
            <a:avLst/>
          </a:prstGeom>
          <a:noFill/>
          <a:ln w="19050">
            <a:solidFill>
              <a:srgbClr val="D98E1F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502920" y="29718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&amp; other services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227832"/>
            <a:ext cx="3566160" cy="566928"/>
          </a:xfrm>
          <a:prstGeom prst="roundRect">
            <a:avLst>
              <a:gd name="adj" fmla="val 12903"/>
            </a:avLst>
          </a:prstGeom>
          <a:solidFill>
            <a:srgbClr val="14283D"/>
          </a:solidFill>
          <a:ln w="12700">
            <a:solidFill>
              <a:srgbClr val="1428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3255264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Header  (usme_Intake__c)</a:t>
            </a:r>
            <a:endParaRPr lang="en-US" sz="1100" dirty="0"/>
          </a:p>
          <a:p>
            <a:pPr marL="0" indent="0">
              <a:buNone/>
            </a:pPr>
            <a:r>
              <a:rPr lang="en-US" sz="85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Caller, account, address, equipment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032504"/>
            <a:ext cx="3566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405993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Lines  (usme_Intake_Item__c)</a:t>
            </a:r>
            <a:endParaRPr lang="en-US" sz="1100" dirty="0"/>
          </a:p>
          <a:p>
            <a:pPr marL="0" indent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equipment in rental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0" y="3794760"/>
            <a:ext cx="0" cy="237744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2377440" y="380390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many, master-detail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069080" y="3511296"/>
            <a:ext cx="1188720" cy="0"/>
          </a:xfrm>
          <a:prstGeom prst="line">
            <a:avLst/>
          </a:prstGeom>
          <a:noFill/>
          <a:ln w="19050">
            <a:solidFill>
              <a:srgbClr val="D98E1F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4114800" y="30449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8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pickup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069080" y="4315968"/>
            <a:ext cx="1188720" cy="0"/>
          </a:xfrm>
          <a:prstGeom prst="line">
            <a:avLst/>
          </a:prstGeom>
          <a:noFill/>
          <a:ln w="19050">
            <a:solidFill>
              <a:srgbClr val="D98E1F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4114800" y="40965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8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257800" y="3227832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49240" y="325526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Ascent Work Order</a:t>
            </a:r>
            <a:endParaRPr lang="en-US" sz="1100" dirty="0"/>
          </a:p>
          <a:p>
            <a:pPr marL="0" indent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header, branch, schedule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257800" y="4032504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49240" y="405993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Ascent Work Order Line</a:t>
            </a:r>
            <a:endParaRPr lang="en-US" sz="1100" dirty="0"/>
          </a:p>
          <a:p>
            <a:pPr marL="0" indent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item collected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949440" y="3794760"/>
            <a:ext cx="0" cy="237744"/>
          </a:xfrm>
          <a:prstGeom prst="line">
            <a:avLst/>
          </a:prstGeom>
          <a:noFill/>
          <a:ln w="19050">
            <a:solidFill>
              <a:srgbClr val="D98E1F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36576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USME  |  Customer Experience Centre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832104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Log Intake: Process Flow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customer phone call to the Ascent order, with the controls that apply at each step.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33272"/>
            <a:ext cx="8412480" cy="813816"/>
          </a:xfrm>
          <a:prstGeom prst="roundRect">
            <a:avLst>
              <a:gd name="adj" fmla="val 5618"/>
            </a:avLst>
          </a:prstGeom>
          <a:solidFill>
            <a:srgbClr val="F4F7FA"/>
          </a:solidFill>
          <a:ln w="12700">
            <a:solidFill>
              <a:srgbClr val="C5D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33272"/>
            <a:ext cx="868680" cy="813816"/>
          </a:xfrm>
          <a:prstGeom prst="roundRect">
            <a:avLst>
              <a:gd name="adj" fmla="val 5618"/>
            </a:avLst>
          </a:prstGeom>
          <a:solidFill>
            <a:srgbClr val="14283D"/>
          </a:solidFill>
          <a:ln w="12700">
            <a:solidFill>
              <a:srgbClr val="1428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033272"/>
            <a:ext cx="868680" cy="813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901952"/>
            <a:ext cx="8412480" cy="813816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C5D2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901952"/>
            <a:ext cx="868680" cy="813816"/>
          </a:xfrm>
          <a:prstGeom prst="roundRect">
            <a:avLst>
              <a:gd name="adj" fmla="val 5618"/>
            </a:avLst>
          </a:prstGeom>
          <a:solidFill>
            <a:srgbClr val="14283D"/>
          </a:solidFill>
          <a:ln w="12700">
            <a:solidFill>
              <a:srgbClr val="1428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" y="1901952"/>
            <a:ext cx="868680" cy="813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 agent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770632"/>
            <a:ext cx="8412480" cy="813816"/>
          </a:xfrm>
          <a:prstGeom prst="roundRect">
            <a:avLst>
              <a:gd name="adj" fmla="val 5618"/>
            </a:avLst>
          </a:prstGeom>
          <a:solidFill>
            <a:srgbClr val="F4F7FA"/>
          </a:solidFill>
          <a:ln w="12700">
            <a:solidFill>
              <a:srgbClr val="C5D2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770632"/>
            <a:ext cx="868680" cy="813816"/>
          </a:xfrm>
          <a:prstGeom prst="roundRect">
            <a:avLst>
              <a:gd name="adj" fmla="val 5618"/>
            </a:avLst>
          </a:prstGeom>
          <a:solidFill>
            <a:srgbClr val="14283D"/>
          </a:solidFill>
          <a:ln w="12700">
            <a:solidFill>
              <a:srgbClr val="1428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" y="2770632"/>
            <a:ext cx="868680" cy="813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CSR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639312"/>
            <a:ext cx="8412480" cy="813816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C5D2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639312"/>
            <a:ext cx="868680" cy="813816"/>
          </a:xfrm>
          <a:prstGeom prst="roundRect">
            <a:avLst>
              <a:gd name="adj" fmla="val 5618"/>
            </a:avLst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5760" y="3639312"/>
            <a:ext cx="868680" cy="813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417320" y="114300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44168" y="1069848"/>
            <a:ext cx="219456" cy="21945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44168" y="10698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11430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phones the CEC to request equipment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417320" y="201168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44168" y="1938528"/>
            <a:ext cx="219456" cy="21945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344168" y="19385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20116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to Salesforce, find the account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834640" y="201168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61488" y="1938528"/>
            <a:ext cx="219456" cy="21945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61488" y="19385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2880360" y="20116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Intake with caller, items and dates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834640" y="288036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61488" y="2807208"/>
            <a:ext cx="219456" cy="21945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61488" y="2807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2880360" y="28803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set from service area, CSR assigned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43400" y="2811780"/>
            <a:ext cx="1280160" cy="731520"/>
          </a:xfrm>
          <a:prstGeom prst="diamond">
            <a:avLst/>
          </a:prstGeom>
          <a:solidFill>
            <a:srgbClr val="FBF0DB"/>
          </a:solidFill>
          <a:ln w="15240">
            <a:solidFill>
              <a:srgbClr val="D98E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80560" y="28117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or Pickup?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011680" y="1737360"/>
            <a:ext cx="0" cy="27432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606040" y="2308860"/>
            <a:ext cx="22860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429000" y="2606040"/>
            <a:ext cx="0" cy="27432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023360" y="3177540"/>
            <a:ext cx="32004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983480" y="3543300"/>
            <a:ext cx="0" cy="41148"/>
          </a:xfrm>
          <a:prstGeom prst="line">
            <a:avLst/>
          </a:prstGeom>
          <a:noFill/>
          <a:ln w="19050">
            <a:solidFill>
              <a:srgbClr val="D98E1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77640" y="3584448"/>
            <a:ext cx="2011680" cy="0"/>
          </a:xfrm>
          <a:prstGeom prst="line">
            <a:avLst/>
          </a:prstGeom>
          <a:noFill/>
          <a:ln w="19050">
            <a:solidFill>
              <a:srgbClr val="D98E1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977640" y="3584448"/>
            <a:ext cx="0" cy="164592"/>
          </a:xfrm>
          <a:prstGeom prst="line">
            <a:avLst/>
          </a:prstGeom>
          <a:noFill/>
          <a:ln w="19050">
            <a:solidFill>
              <a:srgbClr val="D98E1F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989320" y="3584448"/>
            <a:ext cx="0" cy="164592"/>
          </a:xfrm>
          <a:prstGeom prst="line">
            <a:avLst/>
          </a:prstGeom>
          <a:noFill/>
          <a:ln w="19050">
            <a:solidFill>
              <a:srgbClr val="D98E1F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108960" y="374904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FBF0DB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154680" y="3749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 Sales Order and Lines created once delivery is completed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120640" y="374904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FBF0DB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166360" y="3749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Pickup: Work Order and Lines created, active at once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4041648" y="35935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8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6053328" y="35935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8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6903720" y="10972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can be a hospital contact or a partner; the call is logged against the account.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6903720" y="19659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must be Active, otherwise only a referral is sent. Duplicate call-offs are blocked. BTS asks for patient details.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6903720" y="28346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Fulfilling branch comes from the service area. Caller and branch are notified. Status moves Pending to Active.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6903720" y="37033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and work orders stay linked back to the Intake for status, billing start and reporting.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36576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USME  |  Customer Experience Centre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832104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Lifecycle and Business Rules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status means for the CEC and the branch, and the rules the intake enforces.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BF0DB"/>
          </a:solidFill>
          <a:ln w="12700">
            <a:solidFill>
              <a:srgbClr val="D98E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5488" y="105156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branch confirmation. CEC and branch can edit.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52928" y="1508760"/>
            <a:ext cx="329184" cy="0"/>
          </a:xfrm>
          <a:prstGeom prst="line">
            <a:avLst/>
          </a:prstGeom>
          <a:noFill/>
          <a:ln w="19050">
            <a:solidFill>
              <a:srgbClr val="14283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00400" y="105156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DCEFF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10128" y="105156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assigned. Only cancel, quantity and substitution change.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87568" y="1508760"/>
            <a:ext cx="329184" cy="0"/>
          </a:xfrm>
          <a:prstGeom prst="line">
            <a:avLst/>
          </a:prstGeom>
          <a:noFill/>
          <a:ln w="19050">
            <a:solidFill>
              <a:srgbClr val="14283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35040" y="105156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DDF0E4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44768" y="105156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/ Completed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confirmed. Order created, billing starts.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210312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8E3E0"/>
          </a:solidFill>
          <a:ln w="12700">
            <a:solidFill>
              <a:srgbClr val="B544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0" y="2103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5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 </a:t>
            </a: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Pending or Active, with a reason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965960"/>
            <a:ext cx="0" cy="137160"/>
          </a:xfrm>
          <a:prstGeom prst="line">
            <a:avLst/>
          </a:prstGeom>
          <a:noFill/>
          <a:ln w="19050">
            <a:solidFill>
              <a:srgbClr val="B5443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5760" y="269748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2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" y="2724912"/>
            <a:ext cx="24780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gate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only for Active accounts. Prospects get a referral to the salesperson or customer updates team.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269748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2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10128" y="2724912"/>
            <a:ext cx="24780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MME and BTS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captures patient, unit and room. Patient data stays in Salesforce, Patients information is tokenized in the </a:t>
            </a:r>
            <a:r>
              <a:rPr lang="en-US" sz="900" dirty="0" err="1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salesorder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69748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2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44768" y="2724912"/>
            <a:ext cx="24780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</a:t>
            </a:r>
          </a:p>
          <a:p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same Model information for delivery cannot be created from any channel.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serial already on an open pickup cannot be called off again, from any channel.</a:t>
            </a:r>
          </a:p>
        </p:txBody>
      </p:sp>
      <p:sp>
        <p:nvSpPr>
          <p:cNvPr id="21" name="Shape 19"/>
          <p:cNvSpPr/>
          <p:nvPr/>
        </p:nvSpPr>
        <p:spPr>
          <a:xfrm>
            <a:off x="1376172" y="3761776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2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85900" y="3789208"/>
            <a:ext cx="24780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and CSR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Fulfilling branch is derived from the service area; branch users assign the CSR.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10812" y="3761776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2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20540" y="3789208"/>
            <a:ext cx="24780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to the caller and the branch list; text to the branch in daytime, on-call after hours.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USME  |  Customer Experience Centre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570</Words>
  <Application>Microsoft Office PowerPoint</Application>
  <PresentationFormat>On-screen Show (16:9)</PresentationFormat>
  <Paragraphs>81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CEC Data Model and Process Flow</dc:title>
  <dc:subject>PptxGenJS Presentation</dc:subject>
  <dc:creator>PptxGenJS</dc:creator>
  <cp:lastModifiedBy>Srinivas</cp:lastModifiedBy>
  <cp:revision>1</cp:revision>
  <dcterms:created xsi:type="dcterms:W3CDTF">2026-10-25T13:21:24Z</dcterms:created>
  <dcterms:modified xsi:type="dcterms:W3CDTF">2026-10-26T02:43:05Z</dcterms:modified>
</cp:coreProperties>
</file>